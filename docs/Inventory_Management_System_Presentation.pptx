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98" autoAdjust="0"/>
    <p:restoredTop sz="94610"/>
  </p:normalViewPr>
  <p:slideViewPr>
    <p:cSldViewPr snapToGrid="0" snapToObjects="1">
      <p:cViewPr>
        <p:scale>
          <a:sx n="80" d="100"/>
          <a:sy n="80" d="100"/>
        </p:scale>
        <p:origin x="835" y="3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7687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Image prompt for Slide 4: Create a clean black-and-white UML use case diagram for an Inventory Management System. One stick actor labeled Shopkeeper on the left. A system boundary rectangle labeled Inventory Management System. Inside it place 8 ellipses: Add Product, View Products, Update Product, Delete Product, Search Product, Sell Product, Restock Product, Check Low Stock Alert. Connect the actor to all use cases. Style should be simple, academic, and suitable for a second-semester OOP presentation.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Image prompt for Slide 5: Design a simple UML class diagram for a Java Swing MySQL Inventory Management System. Include Product parent class with attributes productId, productName, price, quantity, category and methods getters, setters, getStockStatus(), toString(). GroceryProduct extends Product and adds expiryDate. ElectronicProduct extends Product and adds warrantyMonths. StockOperations is an interface with addProduct, viewAllProducts, updateProduct, deleteProduct, searchById, searchByName, reduceStock, restock, getLowStockProducts. InventoryManager implements StockOperations. Also show InventoryGUI, DBConnection, ProductException, Main and products database table. Use clean boxes, empty triangle inheritance arrows, dashed implements arrow, solid associations.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Image prompt for Slide 6: Create a UML sequence diagram for Add Product in a Java Swing Inventory Management System. Lifelines: User, InventoryGUI, InventoryManager, DBConnection, Database. Messages: User clicks Add button, GUI calls addProduct(product), Manager calls getConnection(), DBConnection returns connection, Manager executes SQL INSERT, Database confirms, Manager returns success, GUI shows success message. Use clean vertical dashed lifelines and horizontal arrows with labels.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Image prompt for Slide 10: Create a realistic Java Swing warning dialog screenshot. Title: Low Stock Alert. Message: Sale completed. LOW STOCK ALERT: [ProductName] has only [X] unit(s) left. Include a yellow/red warning icon and OK button. Style should look like a simple Windows Java Swing dialog for an academic presentation.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Image prompt for Slide 11: Generate a clean code screenshot showing reduceStock() method from InventoryManager.java. Code should include parameter validation, searchById(), stock availability check, SQL UPDATE query, try-with-resources, executeUpdate(), updated product fetch, LOW_STOCK_THRESHOLD = 5 check, and throwing ProductException with a low stock alert message. Use readable monospace syntax highlighting.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Live Demo Script (No extra slide):
1. Run Main.java in the IDE.
2. Show the main Inventory Management System window.
3. Add a sample product, e.g., Milk Pack, price 250, quantity 7, category Grocery, expiry date.
4. Click View All Products and show that the product appears in the table.
5. Search the product by ID or name.
6. Use Sell Product and reduce quantity below 5.
7. Show the Low Stock Alert popup.
8. Use Restock Product to increase quantity again.
9. View all products again and show the updated quantity.
10. End by explaining that GUI calls InventoryManager, and InventoryManager updates MySQL through DBConnection.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_BLUE">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E3A5F"/>
          </a:solidFill>
          <a:ln w="12700">
            <a:solidFill>
              <a:srgbClr val="1E3A5F"/>
            </a:solidFill>
            <a:prstDash val="solid"/>
          </a:ln>
        </p:spPr>
        <p:txBody>
          <a:bodyPr/>
          <a:lstStyle/>
          <a:p>
            <a:endParaRPr lang="en-CA"/>
          </a:p>
        </p:txBody>
      </p:sp>
      <p:sp>
        <p:nvSpPr>
          <p:cNvPr id="3" name="Shape 1"/>
          <p:cNvSpPr/>
          <p:nvPr/>
        </p:nvSpPr>
        <p:spPr>
          <a:xfrm>
            <a:off x="0" y="6656832"/>
            <a:ext cx="12191695" cy="201168"/>
          </a:xfrm>
          <a:prstGeom prst="rect">
            <a:avLst/>
          </a:prstGeom>
          <a:solidFill>
            <a:srgbClr val="E3EAF3"/>
          </a:solidFill>
          <a:ln w="12700">
            <a:solidFill>
              <a:srgbClr val="E3EAF3"/>
            </a:solidFill>
            <a:prstDash val="solid"/>
          </a:ln>
        </p:spPr>
        <p:txBody>
          <a:bodyPr/>
          <a:lstStyle/>
          <a:p>
            <a:endParaRPr lang="en-CA"/>
          </a:p>
        </p:txBody>
      </p:sp>
      <p:sp>
        <p:nvSpPr>
          <p:cNvPr id="25" name="Slide Number Placeholder 0"/>
          <p:cNvSpPr>
            <a:spLocks noGrp="1"/>
          </p:cNvSpPr>
          <p:nvPr>
            <p:ph type="sldNum" sz="quarter" idx="4294967295"/>
          </p:nvPr>
        </p:nvSpPr>
        <p:spPr>
          <a:xfrm>
            <a:off x="11475720" y="664768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64768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6FB"/>
        </a:solidFill>
        <a:effectLst/>
      </p:bgPr>
    </p:bg>
    <p:spTree>
      <p:nvGrpSpPr>
        <p:cNvPr id="1" name=""/>
        <p:cNvGrpSpPr/>
        <p:nvPr/>
      </p:nvGrpSpPr>
      <p:grpSpPr>
        <a:xfrm>
          <a:off x="0" y="0"/>
          <a:ext cx="0" cy="0"/>
          <a:chOff x="0" y="0"/>
          <a:chExt cx="0" cy="0"/>
        </a:xfrm>
      </p:grpSpPr>
      <p:sp>
        <p:nvSpPr>
          <p:cNvPr id="4" name="Shape 2"/>
          <p:cNvSpPr/>
          <p:nvPr/>
        </p:nvSpPr>
        <p:spPr>
          <a:xfrm>
            <a:off x="0" y="0"/>
            <a:ext cx="2743200" cy="6858000"/>
          </a:xfrm>
          <a:prstGeom prst="rect">
            <a:avLst/>
          </a:prstGeom>
          <a:solidFill>
            <a:srgbClr val="1E3A5F"/>
          </a:solidFill>
          <a:ln w="12700">
            <a:solidFill>
              <a:srgbClr val="1E3A5F"/>
            </a:solidFill>
            <a:prstDash val="solid"/>
          </a:ln>
        </p:spPr>
        <p:txBody>
          <a:bodyPr/>
          <a:lstStyle/>
          <a:p>
            <a:endParaRPr lang="en-CA"/>
          </a:p>
        </p:txBody>
      </p:sp>
      <p:sp>
        <p:nvSpPr>
          <p:cNvPr id="5" name="Shape 3"/>
          <p:cNvSpPr/>
          <p:nvPr/>
        </p:nvSpPr>
        <p:spPr>
          <a:xfrm>
            <a:off x="201168" y="201168"/>
            <a:ext cx="2340864" cy="6455664"/>
          </a:xfrm>
          <a:prstGeom prst="rect">
            <a:avLst/>
          </a:prstGeom>
          <a:solidFill>
            <a:srgbClr val="244B73"/>
          </a:solidFill>
          <a:ln w="12700">
            <a:solidFill>
              <a:srgbClr val="244B73"/>
            </a:solidFill>
            <a:prstDash val="solid"/>
          </a:ln>
        </p:spPr>
        <p:txBody>
          <a:bodyPr/>
          <a:lstStyle/>
          <a:p>
            <a:endParaRPr lang="en-CA"/>
          </a:p>
        </p:txBody>
      </p:sp>
      <p:sp>
        <p:nvSpPr>
          <p:cNvPr id="6" name="Text 4"/>
          <p:cNvSpPr/>
          <p:nvPr/>
        </p:nvSpPr>
        <p:spPr>
          <a:xfrm>
            <a:off x="502920" y="914400"/>
            <a:ext cx="1737360" cy="731520"/>
          </a:xfrm>
          <a:prstGeom prst="rect">
            <a:avLst/>
          </a:prstGeom>
          <a:noFill/>
          <a:ln/>
        </p:spPr>
        <p:txBody>
          <a:bodyPr wrap="square" lIns="0" tIns="0" rIns="0" bIns="0" rtlCol="0" anchor="ctr"/>
          <a:lstStyle/>
          <a:p>
            <a:pPr marL="0" indent="0" algn="ctr">
              <a:buNone/>
            </a:pPr>
            <a:r>
              <a:rPr lang="en-US" sz="2300" b="1" dirty="0">
                <a:solidFill>
                  <a:srgbClr val="FFFFFF"/>
                </a:solidFill>
                <a:latin typeface="Aptos Display" pitchFamily="34" charset="0"/>
                <a:ea typeface="Aptos Display" pitchFamily="34" charset="-122"/>
                <a:cs typeface="Aptos Display" pitchFamily="34" charset="-120"/>
              </a:rPr>
              <a:t>OOP</a:t>
            </a:r>
            <a:endParaRPr lang="en-US" sz="2300" dirty="0"/>
          </a:p>
          <a:p>
            <a:pPr marL="0" indent="0" algn="ctr">
              <a:buNone/>
            </a:pPr>
            <a:r>
              <a:rPr lang="en-US" sz="2300" b="1" dirty="0">
                <a:solidFill>
                  <a:srgbClr val="FFFFFF"/>
                </a:solidFill>
                <a:latin typeface="Aptos Display" pitchFamily="34" charset="0"/>
                <a:ea typeface="Aptos Display" pitchFamily="34" charset="-122"/>
                <a:cs typeface="Aptos Display" pitchFamily="34" charset="-120"/>
              </a:rPr>
              <a:t>PROJECT</a:t>
            </a:r>
            <a:endParaRPr lang="en-US" sz="2300" dirty="0"/>
          </a:p>
        </p:txBody>
      </p:sp>
      <p:sp>
        <p:nvSpPr>
          <p:cNvPr id="7" name="Text 5"/>
          <p:cNvSpPr/>
          <p:nvPr/>
        </p:nvSpPr>
        <p:spPr>
          <a:xfrm>
            <a:off x="310896" y="1920240"/>
            <a:ext cx="2148840" cy="182880"/>
          </a:xfrm>
          <a:prstGeom prst="rect">
            <a:avLst/>
          </a:prstGeom>
          <a:noFill/>
          <a:ln/>
        </p:spPr>
        <p:txBody>
          <a:bodyPr wrap="square" lIns="0" tIns="0" rIns="0" bIns="0" rtlCol="0" anchor="ctr"/>
          <a:lstStyle/>
          <a:p>
            <a:pPr marL="0" indent="0" algn="ctr">
              <a:buNone/>
            </a:pPr>
            <a:r>
              <a:rPr lang="en-US" sz="1400" dirty="0">
                <a:solidFill>
                  <a:srgbClr val="DDEBFA"/>
                </a:solidFill>
                <a:latin typeface="Aptos" pitchFamily="34" charset="0"/>
                <a:ea typeface="Aptos" pitchFamily="34" charset="-122"/>
                <a:cs typeface="Aptos" pitchFamily="34" charset="-120"/>
              </a:rPr>
              <a:t>Java  •  Swing  •  MySQL</a:t>
            </a:r>
            <a:endParaRPr lang="en-US" sz="1400" dirty="0"/>
          </a:p>
        </p:txBody>
      </p:sp>
      <p:sp>
        <p:nvSpPr>
          <p:cNvPr id="8" name="Shape 6"/>
          <p:cNvSpPr/>
          <p:nvPr/>
        </p:nvSpPr>
        <p:spPr>
          <a:xfrm>
            <a:off x="640080" y="2743200"/>
            <a:ext cx="1444752" cy="1444752"/>
          </a:xfrm>
          <a:prstGeom prst="roundRect">
            <a:avLst>
              <a:gd name="adj" fmla="val 7595"/>
            </a:avLst>
          </a:prstGeom>
          <a:solidFill>
            <a:schemeClr val="bg2">
              <a:lumMod val="25000"/>
              <a:alpha val="92000"/>
            </a:schemeClr>
          </a:solidFill>
          <a:ln w="12700">
            <a:solidFill>
              <a:srgbClr val="91B6D8"/>
            </a:solidFill>
            <a:prstDash val="solid"/>
          </a:ln>
        </p:spPr>
        <p:txBody>
          <a:bodyPr/>
          <a:lstStyle/>
          <a:p>
            <a:endParaRPr lang="en-CA"/>
          </a:p>
        </p:txBody>
      </p:sp>
      <p:sp>
        <p:nvSpPr>
          <p:cNvPr id="9" name="Text 7"/>
          <p:cNvSpPr/>
          <p:nvPr/>
        </p:nvSpPr>
        <p:spPr>
          <a:xfrm>
            <a:off x="868680" y="3172968"/>
            <a:ext cx="1005840" cy="320040"/>
          </a:xfrm>
          <a:prstGeom prst="rect">
            <a:avLst/>
          </a:prstGeom>
          <a:noFill/>
          <a:ln/>
        </p:spPr>
        <p:txBody>
          <a:bodyPr wrap="square" lIns="0" tIns="0" rIns="0" bIns="0" rtlCol="0" anchor="ctr"/>
          <a:lstStyle/>
          <a:p>
            <a:pPr marL="0" indent="0" algn="ctr">
              <a:buNone/>
            </a:pPr>
            <a:r>
              <a:rPr lang="en-US" sz="3200" b="1" dirty="0">
                <a:solidFill>
                  <a:srgbClr val="FFFFFF"/>
                </a:solidFill>
                <a:latin typeface="Aptos Display" pitchFamily="34" charset="0"/>
                <a:ea typeface="Aptos Display" pitchFamily="34" charset="-122"/>
                <a:cs typeface="Aptos Display" pitchFamily="34" charset="-120"/>
              </a:rPr>
              <a:t>IMS</a:t>
            </a:r>
            <a:endParaRPr lang="en-US" sz="3200" dirty="0"/>
          </a:p>
        </p:txBody>
      </p:sp>
      <p:sp>
        <p:nvSpPr>
          <p:cNvPr id="11" name="Text 9"/>
          <p:cNvSpPr/>
          <p:nvPr/>
        </p:nvSpPr>
        <p:spPr>
          <a:xfrm>
            <a:off x="3200400" y="1051560"/>
            <a:ext cx="8138160" cy="502920"/>
          </a:xfrm>
          <a:prstGeom prst="rect">
            <a:avLst/>
          </a:prstGeom>
          <a:noFill/>
          <a:ln/>
        </p:spPr>
        <p:txBody>
          <a:bodyPr wrap="square" lIns="0" tIns="0" rIns="0" bIns="0" rtlCol="0" anchor="ctr"/>
          <a:lstStyle/>
          <a:p>
            <a:pPr marL="0" indent="0">
              <a:buNone/>
            </a:pPr>
            <a:r>
              <a:rPr lang="en-US" sz="3400" b="1" dirty="0">
                <a:solidFill>
                  <a:srgbClr val="1E3A5F"/>
                </a:solidFill>
                <a:latin typeface="Aptos Display" pitchFamily="34" charset="0"/>
                <a:ea typeface="Aptos Display" pitchFamily="34" charset="-122"/>
                <a:cs typeface="Aptos Display" pitchFamily="34" charset="-120"/>
              </a:rPr>
              <a:t>Inventory Management System</a:t>
            </a:r>
            <a:endParaRPr lang="en-US" sz="3400" dirty="0"/>
          </a:p>
        </p:txBody>
      </p:sp>
      <p:sp>
        <p:nvSpPr>
          <p:cNvPr id="12" name="Text 10"/>
          <p:cNvSpPr/>
          <p:nvPr/>
        </p:nvSpPr>
        <p:spPr>
          <a:xfrm>
            <a:off x="3246120" y="1700784"/>
            <a:ext cx="8567928" cy="274320"/>
          </a:xfrm>
          <a:prstGeom prst="rect">
            <a:avLst/>
          </a:prstGeom>
          <a:noFill/>
          <a:ln/>
        </p:spPr>
        <p:txBody>
          <a:bodyPr wrap="square" lIns="0" tIns="0" rIns="0" bIns="0" rtlCol="0" anchor="ctr"/>
          <a:lstStyle/>
          <a:p>
            <a:pPr marL="0" indent="0">
              <a:buNone/>
            </a:pPr>
            <a:r>
              <a:rPr lang="en-US" sz="1600" dirty="0">
                <a:solidFill>
                  <a:srgbClr val="374151"/>
                </a:solidFill>
                <a:latin typeface="Aptos" pitchFamily="34" charset="0"/>
                <a:ea typeface="Aptos" pitchFamily="34" charset="-122"/>
                <a:cs typeface="Aptos" pitchFamily="34" charset="-120"/>
              </a:rPr>
              <a:t>A Java Swing desktop application for managing shop products, stock, sales and low-stock alerts.</a:t>
            </a:r>
            <a:endParaRPr lang="en-US" sz="1600" dirty="0"/>
          </a:p>
        </p:txBody>
      </p:sp>
      <p:sp>
        <p:nvSpPr>
          <p:cNvPr id="13" name="Shape 11"/>
          <p:cNvSpPr/>
          <p:nvPr/>
        </p:nvSpPr>
        <p:spPr>
          <a:xfrm>
            <a:off x="3246120" y="2148840"/>
            <a:ext cx="7680960" cy="0"/>
          </a:xfrm>
          <a:prstGeom prst="line">
            <a:avLst/>
          </a:prstGeom>
          <a:noFill/>
          <a:ln w="15240">
            <a:solidFill>
              <a:srgbClr val="CBD5E1"/>
            </a:solidFill>
            <a:prstDash val="solid"/>
          </a:ln>
        </p:spPr>
        <p:txBody>
          <a:bodyPr/>
          <a:lstStyle/>
          <a:p>
            <a:endParaRPr lang="en-CA"/>
          </a:p>
        </p:txBody>
      </p:sp>
      <p:sp>
        <p:nvSpPr>
          <p:cNvPr id="20" name="Shape 18"/>
          <p:cNvSpPr/>
          <p:nvPr/>
        </p:nvSpPr>
        <p:spPr>
          <a:xfrm>
            <a:off x="3246119" y="4206239"/>
            <a:ext cx="8468085" cy="1325853"/>
          </a:xfrm>
          <a:prstGeom prst="roundRect">
            <a:avLst>
              <a:gd name="adj" fmla="val 8421"/>
            </a:avLst>
          </a:prstGeom>
          <a:solidFill>
            <a:srgbClr val="EFF6FF"/>
          </a:solidFill>
          <a:ln w="12700">
            <a:solidFill>
              <a:srgbClr val="BFDBFE"/>
            </a:solidFill>
            <a:prstDash val="solid"/>
          </a:ln>
        </p:spPr>
        <p:txBody>
          <a:bodyPr/>
          <a:lstStyle/>
          <a:p>
            <a:endParaRPr lang="en-CA"/>
          </a:p>
        </p:txBody>
      </p:sp>
      <p:sp>
        <p:nvSpPr>
          <p:cNvPr id="21" name="Text 19"/>
          <p:cNvSpPr/>
          <p:nvPr/>
        </p:nvSpPr>
        <p:spPr>
          <a:xfrm>
            <a:off x="3429000" y="4370832"/>
            <a:ext cx="2178922" cy="558254"/>
          </a:xfrm>
          <a:prstGeom prst="rect">
            <a:avLst/>
          </a:prstGeom>
          <a:noFill/>
          <a:ln/>
        </p:spPr>
        <p:txBody>
          <a:bodyPr wrap="square" lIns="0" tIns="0" rIns="0" bIns="0" rtlCol="0" anchor="ctr"/>
          <a:lstStyle/>
          <a:p>
            <a:pPr marL="0" indent="0">
              <a:buNone/>
            </a:pPr>
            <a:r>
              <a:rPr lang="en-US" b="1" dirty="0">
                <a:solidFill>
                  <a:srgbClr val="1E3A5F"/>
                </a:solidFill>
                <a:latin typeface="Aptos Display" pitchFamily="34" charset="0"/>
                <a:ea typeface="Aptos Display" pitchFamily="34" charset="-122"/>
                <a:cs typeface="Aptos Display" pitchFamily="34" charset="-120"/>
              </a:rPr>
              <a:t>Technologies Used</a:t>
            </a:r>
            <a:endParaRPr lang="en-US" dirty="0"/>
          </a:p>
        </p:txBody>
      </p:sp>
      <p:sp>
        <p:nvSpPr>
          <p:cNvPr id="22" name="Shape 20"/>
          <p:cNvSpPr/>
          <p:nvPr/>
        </p:nvSpPr>
        <p:spPr>
          <a:xfrm>
            <a:off x="5486400" y="4370832"/>
            <a:ext cx="660280" cy="558254"/>
          </a:xfrm>
          <a:prstGeom prst="roundRect">
            <a:avLst>
              <a:gd name="adj" fmla="val 30769"/>
            </a:avLst>
          </a:prstGeom>
          <a:solidFill>
            <a:srgbClr val="DDEBFA"/>
          </a:solidFill>
          <a:ln w="12700">
            <a:solidFill>
              <a:srgbClr val="DDEBFA"/>
            </a:solidFill>
            <a:prstDash val="solid"/>
          </a:ln>
        </p:spPr>
        <p:txBody>
          <a:bodyPr/>
          <a:lstStyle/>
          <a:p>
            <a:endParaRPr lang="en-CA"/>
          </a:p>
        </p:txBody>
      </p:sp>
      <p:sp>
        <p:nvSpPr>
          <p:cNvPr id="23" name="Text 21"/>
          <p:cNvSpPr/>
          <p:nvPr/>
        </p:nvSpPr>
        <p:spPr>
          <a:xfrm>
            <a:off x="5541264" y="4421124"/>
            <a:ext cx="547564" cy="397756"/>
          </a:xfrm>
          <a:prstGeom prst="rect">
            <a:avLst/>
          </a:prstGeom>
          <a:noFill/>
          <a:ln/>
        </p:spPr>
        <p:txBody>
          <a:bodyPr wrap="square" lIns="0" tIns="0" rIns="0" bIns="0" rtlCol="0" anchor="ctr"/>
          <a:lstStyle/>
          <a:p>
            <a:pPr marL="0" indent="0" algn="ctr">
              <a:buNone/>
            </a:pPr>
            <a:r>
              <a:rPr lang="en-US" sz="1400" b="1" dirty="0">
                <a:solidFill>
                  <a:srgbClr val="2B5C8A"/>
                </a:solidFill>
                <a:latin typeface="Aptos" pitchFamily="34" charset="0"/>
                <a:ea typeface="Aptos" pitchFamily="34" charset="-122"/>
                <a:cs typeface="Aptos" pitchFamily="34" charset="-120"/>
              </a:rPr>
              <a:t>Java</a:t>
            </a:r>
            <a:endParaRPr lang="en-US" sz="1400" dirty="0"/>
          </a:p>
        </p:txBody>
      </p:sp>
      <p:sp>
        <p:nvSpPr>
          <p:cNvPr id="24" name="Shape 22"/>
          <p:cNvSpPr/>
          <p:nvPr/>
        </p:nvSpPr>
        <p:spPr>
          <a:xfrm>
            <a:off x="6243031" y="4389120"/>
            <a:ext cx="1097732" cy="558254"/>
          </a:xfrm>
          <a:prstGeom prst="roundRect">
            <a:avLst>
              <a:gd name="adj" fmla="val 30769"/>
            </a:avLst>
          </a:prstGeom>
          <a:solidFill>
            <a:srgbClr val="DDEBFA"/>
          </a:solidFill>
          <a:ln w="12700">
            <a:solidFill>
              <a:srgbClr val="DDEBFA"/>
            </a:solidFill>
            <a:prstDash val="solid"/>
          </a:ln>
        </p:spPr>
        <p:txBody>
          <a:bodyPr/>
          <a:lstStyle/>
          <a:p>
            <a:endParaRPr lang="en-CA"/>
          </a:p>
        </p:txBody>
      </p:sp>
      <p:sp>
        <p:nvSpPr>
          <p:cNvPr id="25" name="Text 23"/>
          <p:cNvSpPr/>
          <p:nvPr/>
        </p:nvSpPr>
        <p:spPr>
          <a:xfrm>
            <a:off x="6359470" y="4395978"/>
            <a:ext cx="919021" cy="481494"/>
          </a:xfrm>
          <a:prstGeom prst="rect">
            <a:avLst/>
          </a:prstGeom>
          <a:noFill/>
          <a:ln/>
        </p:spPr>
        <p:txBody>
          <a:bodyPr wrap="square" lIns="0" tIns="0" rIns="0" bIns="0" rtlCol="0" anchor="ctr"/>
          <a:lstStyle/>
          <a:p>
            <a:pPr marL="0" indent="0" algn="ctr">
              <a:buNone/>
            </a:pPr>
            <a:r>
              <a:rPr lang="en-US" sz="1400" b="1" dirty="0">
                <a:solidFill>
                  <a:srgbClr val="2B5C8A"/>
                </a:solidFill>
                <a:latin typeface="Aptos" pitchFamily="34" charset="0"/>
                <a:ea typeface="Aptos" pitchFamily="34" charset="-122"/>
                <a:cs typeface="Aptos" pitchFamily="34" charset="-120"/>
              </a:rPr>
              <a:t>Swing GUI</a:t>
            </a:r>
            <a:endParaRPr lang="en-US" sz="1400" dirty="0"/>
          </a:p>
        </p:txBody>
      </p:sp>
      <p:sp>
        <p:nvSpPr>
          <p:cNvPr id="26" name="Shape 24"/>
          <p:cNvSpPr/>
          <p:nvPr/>
        </p:nvSpPr>
        <p:spPr>
          <a:xfrm>
            <a:off x="7437301" y="4389120"/>
            <a:ext cx="811933" cy="558254"/>
          </a:xfrm>
          <a:prstGeom prst="roundRect">
            <a:avLst>
              <a:gd name="adj" fmla="val 30769"/>
            </a:avLst>
          </a:prstGeom>
          <a:solidFill>
            <a:srgbClr val="DDEBFA"/>
          </a:solidFill>
          <a:ln w="12700">
            <a:solidFill>
              <a:srgbClr val="DDEBFA"/>
            </a:solidFill>
            <a:prstDash val="solid"/>
          </a:ln>
        </p:spPr>
        <p:txBody>
          <a:bodyPr/>
          <a:lstStyle/>
          <a:p>
            <a:endParaRPr lang="en-CA"/>
          </a:p>
        </p:txBody>
      </p:sp>
      <p:sp>
        <p:nvSpPr>
          <p:cNvPr id="27" name="Text 25"/>
          <p:cNvSpPr/>
          <p:nvPr/>
        </p:nvSpPr>
        <p:spPr>
          <a:xfrm>
            <a:off x="7493355" y="4421124"/>
            <a:ext cx="702763" cy="474516"/>
          </a:xfrm>
          <a:prstGeom prst="rect">
            <a:avLst/>
          </a:prstGeom>
          <a:noFill/>
          <a:ln/>
        </p:spPr>
        <p:txBody>
          <a:bodyPr wrap="square" lIns="0" tIns="0" rIns="0" bIns="0" rtlCol="0" anchor="ctr"/>
          <a:lstStyle/>
          <a:p>
            <a:pPr marL="0" indent="0" algn="ctr">
              <a:buNone/>
            </a:pPr>
            <a:r>
              <a:rPr lang="en-US" sz="1400" b="1" dirty="0">
                <a:solidFill>
                  <a:srgbClr val="2B5C8A"/>
                </a:solidFill>
                <a:latin typeface="Aptos" pitchFamily="34" charset="0"/>
                <a:ea typeface="Aptos" pitchFamily="34" charset="-122"/>
                <a:cs typeface="Aptos" pitchFamily="34" charset="-120"/>
              </a:rPr>
              <a:t>MySQL</a:t>
            </a:r>
            <a:endParaRPr lang="en-US" sz="1400" dirty="0"/>
          </a:p>
        </p:txBody>
      </p:sp>
      <p:sp>
        <p:nvSpPr>
          <p:cNvPr id="28" name="Shape 26"/>
          <p:cNvSpPr/>
          <p:nvPr/>
        </p:nvSpPr>
        <p:spPr>
          <a:xfrm>
            <a:off x="8389654" y="4399479"/>
            <a:ext cx="740482" cy="558254"/>
          </a:xfrm>
          <a:prstGeom prst="roundRect">
            <a:avLst>
              <a:gd name="adj" fmla="val 30769"/>
            </a:avLst>
          </a:prstGeom>
          <a:solidFill>
            <a:srgbClr val="DDEBFA"/>
          </a:solidFill>
          <a:ln w="12700">
            <a:solidFill>
              <a:srgbClr val="DDEBFA"/>
            </a:solidFill>
            <a:prstDash val="solid"/>
          </a:ln>
        </p:spPr>
        <p:txBody>
          <a:bodyPr/>
          <a:lstStyle/>
          <a:p>
            <a:endParaRPr lang="en-CA"/>
          </a:p>
        </p:txBody>
      </p:sp>
      <p:sp>
        <p:nvSpPr>
          <p:cNvPr id="29" name="Text 27"/>
          <p:cNvSpPr/>
          <p:nvPr/>
        </p:nvSpPr>
        <p:spPr>
          <a:xfrm>
            <a:off x="8451099" y="4439412"/>
            <a:ext cx="597084" cy="404734"/>
          </a:xfrm>
          <a:prstGeom prst="rect">
            <a:avLst/>
          </a:prstGeom>
          <a:noFill/>
          <a:ln/>
        </p:spPr>
        <p:txBody>
          <a:bodyPr wrap="square" lIns="0" tIns="0" rIns="0" bIns="0" rtlCol="0" anchor="ctr"/>
          <a:lstStyle/>
          <a:p>
            <a:pPr marL="0" indent="0" algn="ctr">
              <a:buNone/>
            </a:pPr>
            <a:r>
              <a:rPr lang="en-US" sz="1400" b="1" dirty="0">
                <a:solidFill>
                  <a:srgbClr val="2B5C8A"/>
                </a:solidFill>
                <a:latin typeface="Aptos" pitchFamily="34" charset="0"/>
                <a:ea typeface="Aptos" pitchFamily="34" charset="-122"/>
                <a:cs typeface="Aptos" pitchFamily="34" charset="-120"/>
              </a:rPr>
              <a:t>JDBC</a:t>
            </a:r>
            <a:endParaRPr lang="en-US" sz="1400" dirty="0"/>
          </a:p>
        </p:txBody>
      </p:sp>
      <p:sp>
        <p:nvSpPr>
          <p:cNvPr id="30" name="Shape 28"/>
          <p:cNvSpPr/>
          <p:nvPr/>
        </p:nvSpPr>
        <p:spPr>
          <a:xfrm>
            <a:off x="9234212" y="4395195"/>
            <a:ext cx="1495533" cy="558254"/>
          </a:xfrm>
          <a:prstGeom prst="roundRect">
            <a:avLst>
              <a:gd name="adj" fmla="val 30769"/>
            </a:avLst>
          </a:prstGeom>
          <a:solidFill>
            <a:srgbClr val="DDEBFA"/>
          </a:solidFill>
          <a:ln w="12700">
            <a:solidFill>
              <a:srgbClr val="DDEBFA"/>
            </a:solidFill>
            <a:prstDash val="solid"/>
          </a:ln>
        </p:spPr>
        <p:txBody>
          <a:bodyPr/>
          <a:lstStyle/>
          <a:p>
            <a:endParaRPr lang="en-CA"/>
          </a:p>
        </p:txBody>
      </p:sp>
      <p:sp>
        <p:nvSpPr>
          <p:cNvPr id="31" name="Text 29"/>
          <p:cNvSpPr/>
          <p:nvPr/>
        </p:nvSpPr>
        <p:spPr>
          <a:xfrm>
            <a:off x="9308139" y="4399479"/>
            <a:ext cx="1312082" cy="558254"/>
          </a:xfrm>
          <a:prstGeom prst="rect">
            <a:avLst/>
          </a:prstGeom>
          <a:noFill/>
          <a:ln/>
        </p:spPr>
        <p:txBody>
          <a:bodyPr wrap="square" lIns="0" tIns="0" rIns="0" bIns="0" rtlCol="0" anchor="ctr"/>
          <a:lstStyle/>
          <a:p>
            <a:pPr marL="0" indent="0" algn="ctr">
              <a:buNone/>
            </a:pPr>
            <a:r>
              <a:rPr lang="en-US" sz="1400" b="1" dirty="0">
                <a:solidFill>
                  <a:srgbClr val="2B5C8A"/>
                </a:solidFill>
                <a:latin typeface="Aptos" pitchFamily="34" charset="0"/>
                <a:ea typeface="Aptos" pitchFamily="34" charset="-122"/>
                <a:cs typeface="Aptos" pitchFamily="34" charset="-120"/>
              </a:rPr>
              <a:t>OOP Concepts</a:t>
            </a:r>
            <a:endParaRPr lang="en-US" sz="1400" dirty="0"/>
          </a:p>
        </p:txBody>
      </p:sp>
      <p:sp>
        <p:nvSpPr>
          <p:cNvPr id="32" name="Text 30"/>
          <p:cNvSpPr/>
          <p:nvPr/>
        </p:nvSpPr>
        <p:spPr>
          <a:xfrm>
            <a:off x="3429000" y="4736591"/>
            <a:ext cx="5645390" cy="209345"/>
          </a:xfrm>
          <a:prstGeom prst="rect">
            <a:avLst/>
          </a:prstGeom>
          <a:noFill/>
          <a:ln/>
        </p:spPr>
        <p:txBody>
          <a:bodyPr wrap="square" lIns="0" tIns="0" rIns="0" bIns="0" rtlCol="0" anchor="ctr"/>
          <a:lstStyle/>
          <a:p>
            <a:pPr marL="0" indent="0">
              <a:buNone/>
            </a:pPr>
            <a:endParaRPr lang="en-US" sz="850" dirty="0"/>
          </a:p>
        </p:txBody>
      </p:sp>
      <p:sp>
        <p:nvSpPr>
          <p:cNvPr id="33" name="Slide Number Placeholder 0"/>
          <p:cNvSpPr>
            <a:spLocks noGrp="1"/>
          </p:cNvSpPr>
          <p:nvPr>
            <p:ph type="sldNum" sz="quarter" idx="4294967295"/>
          </p:nvPr>
        </p:nvSpPr>
        <p:spPr>
          <a:xfrm>
            <a:off x="11475720" y="664768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3" name="Text 1"/>
          <p:cNvSpPr/>
          <p:nvPr/>
        </p:nvSpPr>
        <p:spPr>
          <a:xfrm>
            <a:off x="11494008" y="6656832"/>
            <a:ext cx="320040" cy="128016"/>
          </a:xfrm>
          <a:prstGeom prst="rect">
            <a:avLst/>
          </a:prstGeom>
          <a:noFill/>
          <a:ln/>
        </p:spPr>
        <p:txBody>
          <a:bodyPr wrap="square" rtlCol="0" anchor="ctr"/>
          <a:lstStyle/>
          <a:p>
            <a:pPr marL="0" indent="0" algn="r">
              <a:buNone/>
            </a:pPr>
            <a:endParaRPr lang="en-US" sz="750" dirty="0"/>
          </a:p>
        </p:txBody>
      </p:sp>
      <p:sp>
        <p:nvSpPr>
          <p:cNvPr id="4" name="Text 2"/>
          <p:cNvSpPr/>
          <p:nvPr/>
        </p:nvSpPr>
        <p:spPr>
          <a:xfrm>
            <a:off x="502920" y="384048"/>
            <a:ext cx="10789920" cy="320040"/>
          </a:xfrm>
          <a:prstGeom prst="rect">
            <a:avLst/>
          </a:prstGeom>
          <a:noFill/>
          <a:ln/>
        </p:spPr>
        <p:txBody>
          <a:bodyPr wrap="square" lIns="0" tIns="0" rIns="0" bIns="0" rtlCol="0" anchor="ctr"/>
          <a:lstStyle/>
          <a:p>
            <a:pPr marL="0" indent="0">
              <a:buNone/>
            </a:pPr>
            <a:r>
              <a:rPr lang="en-US" sz="2500" b="1" dirty="0">
                <a:solidFill>
                  <a:srgbClr val="1E3A5F"/>
                </a:solidFill>
                <a:latin typeface="Aptos Display" pitchFamily="34" charset="0"/>
                <a:ea typeface="Aptos Display" pitchFamily="34" charset="-122"/>
                <a:cs typeface="Aptos Display" pitchFamily="34" charset="-120"/>
              </a:rPr>
              <a:t>Agenda</a:t>
            </a:r>
            <a:endParaRPr lang="en-US" sz="2500" dirty="0"/>
          </a:p>
        </p:txBody>
      </p:sp>
      <p:sp>
        <p:nvSpPr>
          <p:cNvPr id="5" name="Text 3"/>
          <p:cNvSpPr/>
          <p:nvPr/>
        </p:nvSpPr>
        <p:spPr>
          <a:xfrm>
            <a:off x="502920" y="832269"/>
            <a:ext cx="1527048" cy="320040"/>
          </a:xfrm>
          <a:prstGeom prst="rect">
            <a:avLst/>
          </a:prstGeom>
          <a:noFill/>
          <a:ln/>
        </p:spPr>
        <p:txBody>
          <a:bodyPr wrap="square" lIns="0" tIns="0" rIns="0" bIns="0" rtlCol="0" anchor="ctr"/>
          <a:lstStyle/>
          <a:p>
            <a:pPr marL="0" indent="0">
              <a:buNone/>
            </a:pPr>
            <a:r>
              <a:rPr lang="en-US" sz="1200" dirty="0">
                <a:solidFill>
                  <a:srgbClr val="667085"/>
                </a:solidFill>
                <a:latin typeface="Aptos" pitchFamily="34" charset="0"/>
                <a:ea typeface="Aptos" pitchFamily="34" charset="-122"/>
                <a:cs typeface="Aptos" pitchFamily="34" charset="-120"/>
              </a:rPr>
              <a:t>Presentation flow</a:t>
            </a:r>
            <a:endParaRPr lang="en-US" sz="1200" dirty="0"/>
          </a:p>
        </p:txBody>
      </p:sp>
      <p:sp>
        <p:nvSpPr>
          <p:cNvPr id="6" name="Shape 4"/>
          <p:cNvSpPr/>
          <p:nvPr/>
        </p:nvSpPr>
        <p:spPr>
          <a:xfrm>
            <a:off x="518160" y="1145883"/>
            <a:ext cx="11155680" cy="0"/>
          </a:xfrm>
          <a:prstGeom prst="line">
            <a:avLst/>
          </a:prstGeom>
          <a:noFill/>
          <a:ln w="12700">
            <a:solidFill>
              <a:srgbClr val="CBD5E1"/>
            </a:solidFill>
            <a:prstDash val="solid"/>
          </a:ln>
        </p:spPr>
        <p:txBody>
          <a:bodyPr/>
          <a:lstStyle/>
          <a:p>
            <a:endParaRPr lang="en-CA"/>
          </a:p>
        </p:txBody>
      </p:sp>
      <p:sp>
        <p:nvSpPr>
          <p:cNvPr id="7" name="Shape 5"/>
          <p:cNvSpPr/>
          <p:nvPr/>
        </p:nvSpPr>
        <p:spPr>
          <a:xfrm>
            <a:off x="685800" y="1691640"/>
            <a:ext cx="2057400" cy="2606040"/>
          </a:xfrm>
          <a:prstGeom prst="roundRect">
            <a:avLst>
              <a:gd name="adj" fmla="val 3556"/>
            </a:avLst>
          </a:prstGeom>
          <a:solidFill>
            <a:srgbClr val="FFFFFF"/>
          </a:solidFill>
          <a:ln w="12700">
            <a:solidFill>
              <a:srgbClr val="C9D6E6"/>
            </a:solidFill>
            <a:prstDash val="solid"/>
          </a:ln>
        </p:spPr>
        <p:txBody>
          <a:bodyPr/>
          <a:lstStyle/>
          <a:p>
            <a:endParaRPr lang="en-CA"/>
          </a:p>
        </p:txBody>
      </p:sp>
      <p:sp>
        <p:nvSpPr>
          <p:cNvPr id="8" name="Shape 6"/>
          <p:cNvSpPr/>
          <p:nvPr/>
        </p:nvSpPr>
        <p:spPr>
          <a:xfrm>
            <a:off x="1371600" y="1920240"/>
            <a:ext cx="658368" cy="658368"/>
          </a:xfrm>
          <a:prstGeom prst="ellipse">
            <a:avLst/>
          </a:prstGeom>
          <a:solidFill>
            <a:srgbClr val="2B5C8A"/>
          </a:solidFill>
          <a:ln w="12700">
            <a:solidFill>
              <a:srgbClr val="2B5C8A"/>
            </a:solidFill>
            <a:prstDash val="solid"/>
          </a:ln>
        </p:spPr>
        <p:txBody>
          <a:bodyPr/>
          <a:lstStyle/>
          <a:p>
            <a:endParaRPr lang="en-CA"/>
          </a:p>
        </p:txBody>
      </p:sp>
      <p:sp>
        <p:nvSpPr>
          <p:cNvPr id="9" name="Text 7"/>
          <p:cNvSpPr/>
          <p:nvPr/>
        </p:nvSpPr>
        <p:spPr>
          <a:xfrm>
            <a:off x="1371600" y="2093976"/>
            <a:ext cx="658368" cy="146304"/>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0" name="Text 8"/>
          <p:cNvSpPr/>
          <p:nvPr/>
        </p:nvSpPr>
        <p:spPr>
          <a:xfrm>
            <a:off x="795528" y="2743200"/>
            <a:ext cx="1837944" cy="219456"/>
          </a:xfrm>
          <a:prstGeom prst="rect">
            <a:avLst/>
          </a:prstGeom>
          <a:noFill/>
          <a:ln/>
        </p:spPr>
        <p:txBody>
          <a:bodyPr wrap="square" lIns="0" tIns="0" rIns="0" bIns="0" rtlCol="0" anchor="ctr"/>
          <a:lstStyle/>
          <a:p>
            <a:pPr marL="0" indent="0" algn="ctr">
              <a:buNone/>
            </a:pPr>
            <a:r>
              <a:rPr lang="en-US" sz="1600" b="1" dirty="0">
                <a:solidFill>
                  <a:srgbClr val="1E3A5F"/>
                </a:solidFill>
                <a:latin typeface="Aptos Display" pitchFamily="34" charset="0"/>
                <a:ea typeface="Aptos Display" pitchFamily="34" charset="-122"/>
                <a:cs typeface="Aptos Display" pitchFamily="34" charset="-120"/>
              </a:rPr>
              <a:t>Problem</a:t>
            </a:r>
            <a:endParaRPr lang="en-US" sz="1500" dirty="0"/>
          </a:p>
        </p:txBody>
      </p:sp>
      <p:sp>
        <p:nvSpPr>
          <p:cNvPr id="11" name="Text 9"/>
          <p:cNvSpPr/>
          <p:nvPr/>
        </p:nvSpPr>
        <p:spPr>
          <a:xfrm>
            <a:off x="868680" y="3246120"/>
            <a:ext cx="1764792" cy="768096"/>
          </a:xfrm>
          <a:prstGeom prst="rect">
            <a:avLst/>
          </a:prstGeom>
          <a:noFill/>
          <a:ln/>
        </p:spPr>
        <p:txBody>
          <a:bodyPr wrap="square" lIns="254" tIns="254" rIns="254" bIns="254" rtlCol="0" anchor="ctr">
            <a:normAutofit/>
          </a:bodyPr>
          <a:lstStyle/>
          <a:p>
            <a:pPr marL="0" indent="0" algn="ctr">
              <a:buNone/>
            </a:pPr>
            <a:r>
              <a:rPr lang="en-US" sz="1200" dirty="0">
                <a:solidFill>
                  <a:srgbClr val="374151"/>
                </a:solidFill>
                <a:latin typeface="Aptos" pitchFamily="34" charset="0"/>
                <a:ea typeface="Aptos" pitchFamily="34" charset="-122"/>
                <a:cs typeface="Aptos" pitchFamily="34" charset="-120"/>
              </a:rPr>
              <a:t>Manual stock records are slow, repeated and unreliable.</a:t>
            </a:r>
            <a:endParaRPr lang="en-US" sz="1200" dirty="0"/>
          </a:p>
        </p:txBody>
      </p:sp>
      <p:sp>
        <p:nvSpPr>
          <p:cNvPr id="12" name="Shape 10"/>
          <p:cNvSpPr/>
          <p:nvPr/>
        </p:nvSpPr>
        <p:spPr>
          <a:xfrm>
            <a:off x="2770632" y="2971800"/>
            <a:ext cx="338328" cy="0"/>
          </a:xfrm>
          <a:prstGeom prst="line">
            <a:avLst/>
          </a:prstGeom>
          <a:noFill/>
          <a:ln w="16510">
            <a:solidFill>
              <a:srgbClr val="94A3B8"/>
            </a:solidFill>
            <a:prstDash val="solid"/>
            <a:headEnd type="none"/>
            <a:tailEnd type="triangle"/>
          </a:ln>
        </p:spPr>
        <p:txBody>
          <a:bodyPr/>
          <a:lstStyle/>
          <a:p>
            <a:endParaRPr lang="en-CA"/>
          </a:p>
        </p:txBody>
      </p:sp>
      <p:sp>
        <p:nvSpPr>
          <p:cNvPr id="13" name="Shape 11"/>
          <p:cNvSpPr/>
          <p:nvPr/>
        </p:nvSpPr>
        <p:spPr>
          <a:xfrm>
            <a:off x="2926080" y="1691640"/>
            <a:ext cx="2057400" cy="2606040"/>
          </a:xfrm>
          <a:prstGeom prst="roundRect">
            <a:avLst>
              <a:gd name="adj" fmla="val 3556"/>
            </a:avLst>
          </a:prstGeom>
          <a:solidFill>
            <a:srgbClr val="EFF6FF"/>
          </a:solidFill>
          <a:ln w="12700">
            <a:solidFill>
              <a:srgbClr val="C9D6E6"/>
            </a:solidFill>
            <a:prstDash val="solid"/>
          </a:ln>
        </p:spPr>
        <p:txBody>
          <a:bodyPr/>
          <a:lstStyle/>
          <a:p>
            <a:endParaRPr lang="en-CA"/>
          </a:p>
        </p:txBody>
      </p:sp>
      <p:sp>
        <p:nvSpPr>
          <p:cNvPr id="14" name="Shape 12"/>
          <p:cNvSpPr/>
          <p:nvPr/>
        </p:nvSpPr>
        <p:spPr>
          <a:xfrm>
            <a:off x="3611880" y="1920240"/>
            <a:ext cx="658368" cy="658368"/>
          </a:xfrm>
          <a:prstGeom prst="ellipse">
            <a:avLst/>
          </a:prstGeom>
          <a:solidFill>
            <a:srgbClr val="2B5C8A"/>
          </a:solidFill>
          <a:ln w="12700">
            <a:solidFill>
              <a:srgbClr val="2B5C8A"/>
            </a:solidFill>
            <a:prstDash val="solid"/>
          </a:ln>
        </p:spPr>
        <p:txBody>
          <a:bodyPr/>
          <a:lstStyle/>
          <a:p>
            <a:endParaRPr lang="en-CA"/>
          </a:p>
        </p:txBody>
      </p:sp>
      <p:sp>
        <p:nvSpPr>
          <p:cNvPr id="15" name="Text 13"/>
          <p:cNvSpPr/>
          <p:nvPr/>
        </p:nvSpPr>
        <p:spPr>
          <a:xfrm>
            <a:off x="3611880" y="2093976"/>
            <a:ext cx="658368" cy="146304"/>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6" name="Text 14"/>
          <p:cNvSpPr/>
          <p:nvPr/>
        </p:nvSpPr>
        <p:spPr>
          <a:xfrm>
            <a:off x="3035808" y="2743200"/>
            <a:ext cx="1837944" cy="219456"/>
          </a:xfrm>
          <a:prstGeom prst="rect">
            <a:avLst/>
          </a:prstGeom>
          <a:noFill/>
          <a:ln/>
        </p:spPr>
        <p:txBody>
          <a:bodyPr wrap="square" lIns="0" tIns="0" rIns="0" bIns="0" rtlCol="0" anchor="ctr"/>
          <a:lstStyle/>
          <a:p>
            <a:pPr marL="0" indent="0" algn="ctr">
              <a:buNone/>
            </a:pPr>
            <a:r>
              <a:rPr lang="en-US" sz="1600" b="1" dirty="0">
                <a:solidFill>
                  <a:srgbClr val="1E3A5F"/>
                </a:solidFill>
                <a:latin typeface="Aptos Display" pitchFamily="34" charset="0"/>
                <a:ea typeface="Aptos Display" pitchFamily="34" charset="-122"/>
                <a:cs typeface="Aptos Display" pitchFamily="34" charset="-120"/>
              </a:rPr>
              <a:t>Solution</a:t>
            </a:r>
            <a:endParaRPr lang="en-US" sz="1500" dirty="0"/>
          </a:p>
        </p:txBody>
      </p:sp>
      <p:sp>
        <p:nvSpPr>
          <p:cNvPr id="17" name="Text 15"/>
          <p:cNvSpPr/>
          <p:nvPr/>
        </p:nvSpPr>
        <p:spPr>
          <a:xfrm>
            <a:off x="3108960" y="3246120"/>
            <a:ext cx="1764792" cy="768096"/>
          </a:xfrm>
          <a:prstGeom prst="rect">
            <a:avLst/>
          </a:prstGeom>
          <a:noFill/>
          <a:ln/>
        </p:spPr>
        <p:txBody>
          <a:bodyPr wrap="square" lIns="254" tIns="254" rIns="254" bIns="254" rtlCol="0" anchor="ctr">
            <a:normAutofit/>
          </a:bodyPr>
          <a:lstStyle/>
          <a:p>
            <a:pPr marL="0" indent="0" algn="ctr">
              <a:buNone/>
            </a:pPr>
            <a:r>
              <a:rPr lang="en-US" sz="1200" dirty="0">
                <a:solidFill>
                  <a:srgbClr val="374151"/>
                </a:solidFill>
                <a:latin typeface="Aptos" pitchFamily="34" charset="0"/>
                <a:ea typeface="Aptos" pitchFamily="34" charset="-122"/>
                <a:cs typeface="Aptos" pitchFamily="34" charset="-120"/>
              </a:rPr>
              <a:t>Desktop inventory system for products and stock operations.</a:t>
            </a:r>
            <a:endParaRPr lang="en-US" sz="1200" dirty="0"/>
          </a:p>
        </p:txBody>
      </p:sp>
      <p:sp>
        <p:nvSpPr>
          <p:cNvPr id="18" name="Shape 16"/>
          <p:cNvSpPr/>
          <p:nvPr/>
        </p:nvSpPr>
        <p:spPr>
          <a:xfrm>
            <a:off x="5010912" y="2971800"/>
            <a:ext cx="338328" cy="0"/>
          </a:xfrm>
          <a:prstGeom prst="line">
            <a:avLst/>
          </a:prstGeom>
          <a:noFill/>
          <a:ln w="16510">
            <a:solidFill>
              <a:srgbClr val="94A3B8"/>
            </a:solidFill>
            <a:prstDash val="solid"/>
            <a:headEnd type="none"/>
            <a:tailEnd type="triangle"/>
          </a:ln>
        </p:spPr>
        <p:txBody>
          <a:bodyPr/>
          <a:lstStyle/>
          <a:p>
            <a:endParaRPr lang="en-CA"/>
          </a:p>
        </p:txBody>
      </p:sp>
      <p:sp>
        <p:nvSpPr>
          <p:cNvPr id="19" name="Shape 17"/>
          <p:cNvSpPr/>
          <p:nvPr/>
        </p:nvSpPr>
        <p:spPr>
          <a:xfrm>
            <a:off x="5166360" y="1691640"/>
            <a:ext cx="2057400" cy="2606040"/>
          </a:xfrm>
          <a:prstGeom prst="roundRect">
            <a:avLst>
              <a:gd name="adj" fmla="val 3556"/>
            </a:avLst>
          </a:prstGeom>
          <a:solidFill>
            <a:srgbClr val="FFFFFF"/>
          </a:solidFill>
          <a:ln w="12700">
            <a:solidFill>
              <a:srgbClr val="C9D6E6"/>
            </a:solidFill>
            <a:prstDash val="solid"/>
          </a:ln>
        </p:spPr>
        <p:txBody>
          <a:bodyPr/>
          <a:lstStyle/>
          <a:p>
            <a:endParaRPr lang="en-CA" dirty="0"/>
          </a:p>
        </p:txBody>
      </p:sp>
      <p:sp>
        <p:nvSpPr>
          <p:cNvPr id="20" name="Shape 18"/>
          <p:cNvSpPr/>
          <p:nvPr/>
        </p:nvSpPr>
        <p:spPr>
          <a:xfrm>
            <a:off x="5852160" y="1920240"/>
            <a:ext cx="658368" cy="658368"/>
          </a:xfrm>
          <a:prstGeom prst="ellipse">
            <a:avLst/>
          </a:prstGeom>
          <a:solidFill>
            <a:srgbClr val="2B5C8A"/>
          </a:solidFill>
          <a:ln w="12700">
            <a:solidFill>
              <a:srgbClr val="2B5C8A"/>
            </a:solidFill>
            <a:prstDash val="solid"/>
          </a:ln>
        </p:spPr>
        <p:txBody>
          <a:bodyPr/>
          <a:lstStyle/>
          <a:p>
            <a:endParaRPr lang="en-CA"/>
          </a:p>
        </p:txBody>
      </p:sp>
      <p:sp>
        <p:nvSpPr>
          <p:cNvPr id="21" name="Text 19"/>
          <p:cNvSpPr/>
          <p:nvPr/>
        </p:nvSpPr>
        <p:spPr>
          <a:xfrm>
            <a:off x="5852160" y="2093976"/>
            <a:ext cx="658368" cy="146304"/>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2" name="Text 20"/>
          <p:cNvSpPr/>
          <p:nvPr/>
        </p:nvSpPr>
        <p:spPr>
          <a:xfrm>
            <a:off x="5276088" y="2743200"/>
            <a:ext cx="1837944" cy="219456"/>
          </a:xfrm>
          <a:prstGeom prst="rect">
            <a:avLst/>
          </a:prstGeom>
          <a:noFill/>
          <a:ln/>
        </p:spPr>
        <p:txBody>
          <a:bodyPr wrap="square" lIns="0" tIns="0" rIns="0" bIns="0" rtlCol="0" anchor="ctr"/>
          <a:lstStyle/>
          <a:p>
            <a:pPr marL="0" indent="0" algn="ctr">
              <a:buNone/>
            </a:pPr>
            <a:r>
              <a:rPr lang="en-US" sz="1600" b="1" dirty="0">
                <a:solidFill>
                  <a:srgbClr val="1E3A5F"/>
                </a:solidFill>
                <a:latin typeface="Aptos Display" pitchFamily="34" charset="0"/>
                <a:ea typeface="Aptos Display" pitchFamily="34" charset="-122"/>
                <a:cs typeface="Aptos Display" pitchFamily="34" charset="-120"/>
              </a:rPr>
              <a:t>Design</a:t>
            </a:r>
            <a:endParaRPr lang="en-US" sz="1600" dirty="0"/>
          </a:p>
        </p:txBody>
      </p:sp>
      <p:sp>
        <p:nvSpPr>
          <p:cNvPr id="23" name="Text 21"/>
          <p:cNvSpPr/>
          <p:nvPr/>
        </p:nvSpPr>
        <p:spPr>
          <a:xfrm>
            <a:off x="5349240" y="3246120"/>
            <a:ext cx="1764792" cy="768096"/>
          </a:xfrm>
          <a:prstGeom prst="rect">
            <a:avLst/>
          </a:prstGeom>
          <a:noFill/>
          <a:ln/>
        </p:spPr>
        <p:txBody>
          <a:bodyPr wrap="square" lIns="254" tIns="254" rIns="254" bIns="254" rtlCol="0" anchor="ctr">
            <a:normAutofit/>
          </a:bodyPr>
          <a:lstStyle/>
          <a:p>
            <a:pPr marL="0" indent="0" algn="ctr">
              <a:buNone/>
            </a:pPr>
            <a:r>
              <a:rPr lang="en-US" sz="1200" dirty="0">
                <a:solidFill>
                  <a:srgbClr val="374151"/>
                </a:solidFill>
                <a:latin typeface="Aptos" pitchFamily="34" charset="0"/>
                <a:ea typeface="Aptos" pitchFamily="34" charset="-122"/>
                <a:cs typeface="Aptos" pitchFamily="34" charset="-120"/>
              </a:rPr>
              <a:t>Use case, class and sequence diagrams explain structure.</a:t>
            </a:r>
            <a:endParaRPr lang="en-US" sz="1200" dirty="0"/>
          </a:p>
        </p:txBody>
      </p:sp>
      <p:sp>
        <p:nvSpPr>
          <p:cNvPr id="24" name="Shape 22"/>
          <p:cNvSpPr/>
          <p:nvPr/>
        </p:nvSpPr>
        <p:spPr>
          <a:xfrm>
            <a:off x="7251192" y="2971800"/>
            <a:ext cx="338328" cy="0"/>
          </a:xfrm>
          <a:prstGeom prst="line">
            <a:avLst/>
          </a:prstGeom>
          <a:noFill/>
          <a:ln w="16510">
            <a:solidFill>
              <a:srgbClr val="94A3B8"/>
            </a:solidFill>
            <a:prstDash val="solid"/>
            <a:headEnd type="none"/>
            <a:tailEnd type="triangle"/>
          </a:ln>
        </p:spPr>
        <p:txBody>
          <a:bodyPr/>
          <a:lstStyle/>
          <a:p>
            <a:endParaRPr lang="en-CA"/>
          </a:p>
        </p:txBody>
      </p:sp>
      <p:sp>
        <p:nvSpPr>
          <p:cNvPr id="25" name="Shape 23"/>
          <p:cNvSpPr/>
          <p:nvPr/>
        </p:nvSpPr>
        <p:spPr>
          <a:xfrm>
            <a:off x="7406640" y="1691640"/>
            <a:ext cx="2057400" cy="2606040"/>
          </a:xfrm>
          <a:prstGeom prst="roundRect">
            <a:avLst>
              <a:gd name="adj" fmla="val 3556"/>
            </a:avLst>
          </a:prstGeom>
          <a:solidFill>
            <a:srgbClr val="EFF6FF"/>
          </a:solidFill>
          <a:ln w="12700">
            <a:solidFill>
              <a:srgbClr val="C9D6E6"/>
            </a:solidFill>
            <a:prstDash val="solid"/>
          </a:ln>
        </p:spPr>
        <p:txBody>
          <a:bodyPr/>
          <a:lstStyle/>
          <a:p>
            <a:endParaRPr lang="en-CA"/>
          </a:p>
        </p:txBody>
      </p:sp>
      <p:sp>
        <p:nvSpPr>
          <p:cNvPr id="26" name="Shape 24"/>
          <p:cNvSpPr/>
          <p:nvPr/>
        </p:nvSpPr>
        <p:spPr>
          <a:xfrm>
            <a:off x="8092440" y="1920240"/>
            <a:ext cx="658368" cy="658368"/>
          </a:xfrm>
          <a:prstGeom prst="ellipse">
            <a:avLst/>
          </a:prstGeom>
          <a:solidFill>
            <a:srgbClr val="2B5C8A"/>
          </a:solidFill>
          <a:ln w="12700">
            <a:solidFill>
              <a:srgbClr val="2B5C8A"/>
            </a:solidFill>
            <a:prstDash val="solid"/>
          </a:ln>
        </p:spPr>
        <p:txBody>
          <a:bodyPr/>
          <a:lstStyle/>
          <a:p>
            <a:endParaRPr lang="en-CA"/>
          </a:p>
        </p:txBody>
      </p:sp>
      <p:sp>
        <p:nvSpPr>
          <p:cNvPr id="27" name="Text 25"/>
          <p:cNvSpPr/>
          <p:nvPr/>
        </p:nvSpPr>
        <p:spPr>
          <a:xfrm>
            <a:off x="8092440" y="2093976"/>
            <a:ext cx="658368" cy="146304"/>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28" name="Text 26"/>
          <p:cNvSpPr/>
          <p:nvPr/>
        </p:nvSpPr>
        <p:spPr>
          <a:xfrm>
            <a:off x="7516368" y="2743200"/>
            <a:ext cx="1837944" cy="219456"/>
          </a:xfrm>
          <a:prstGeom prst="rect">
            <a:avLst/>
          </a:prstGeom>
          <a:noFill/>
          <a:ln/>
        </p:spPr>
        <p:txBody>
          <a:bodyPr wrap="square" lIns="0" tIns="0" rIns="0" bIns="0" rtlCol="0" anchor="ctr"/>
          <a:lstStyle/>
          <a:p>
            <a:pPr marL="0" indent="0" algn="ctr">
              <a:buNone/>
            </a:pPr>
            <a:r>
              <a:rPr lang="en-US" sz="1600" b="1" dirty="0">
                <a:solidFill>
                  <a:srgbClr val="1E3A5F"/>
                </a:solidFill>
                <a:latin typeface="Aptos Display" pitchFamily="34" charset="0"/>
                <a:ea typeface="Aptos Display" pitchFamily="34" charset="-122"/>
                <a:cs typeface="Aptos Display" pitchFamily="34" charset="-120"/>
              </a:rPr>
              <a:t>Code</a:t>
            </a:r>
            <a:endParaRPr lang="en-US" sz="1500" dirty="0"/>
          </a:p>
        </p:txBody>
      </p:sp>
      <p:sp>
        <p:nvSpPr>
          <p:cNvPr id="29" name="Text 27"/>
          <p:cNvSpPr/>
          <p:nvPr/>
        </p:nvSpPr>
        <p:spPr>
          <a:xfrm>
            <a:off x="7589520" y="3246119"/>
            <a:ext cx="1764792" cy="768091"/>
          </a:xfrm>
          <a:prstGeom prst="rect">
            <a:avLst/>
          </a:prstGeom>
          <a:noFill/>
          <a:ln/>
        </p:spPr>
        <p:txBody>
          <a:bodyPr wrap="square" lIns="254" tIns="254" rIns="254" bIns="254" rtlCol="0" anchor="ctr">
            <a:normAutofit/>
          </a:bodyPr>
          <a:lstStyle/>
          <a:p>
            <a:pPr marL="0" indent="0" algn="ctr">
              <a:buNone/>
            </a:pPr>
            <a:r>
              <a:rPr lang="en-US" sz="1200" dirty="0">
                <a:solidFill>
                  <a:srgbClr val="374151"/>
                </a:solidFill>
                <a:latin typeface="Aptos" pitchFamily="34" charset="0"/>
                <a:ea typeface="Aptos" pitchFamily="34" charset="-122"/>
                <a:cs typeface="Aptos" pitchFamily="34" charset="-120"/>
              </a:rPr>
              <a:t>Java classes, interface, JDBC and Swing event handling.</a:t>
            </a:r>
            <a:endParaRPr lang="en-US" sz="1200" dirty="0"/>
          </a:p>
        </p:txBody>
      </p:sp>
      <p:sp>
        <p:nvSpPr>
          <p:cNvPr id="30" name="Shape 28"/>
          <p:cNvSpPr/>
          <p:nvPr/>
        </p:nvSpPr>
        <p:spPr>
          <a:xfrm>
            <a:off x="9491472" y="2971800"/>
            <a:ext cx="338328" cy="0"/>
          </a:xfrm>
          <a:prstGeom prst="line">
            <a:avLst/>
          </a:prstGeom>
          <a:noFill/>
          <a:ln w="16510">
            <a:solidFill>
              <a:srgbClr val="94A3B8"/>
            </a:solidFill>
            <a:prstDash val="solid"/>
            <a:headEnd type="none"/>
            <a:tailEnd type="triangle"/>
          </a:ln>
        </p:spPr>
        <p:txBody>
          <a:bodyPr/>
          <a:lstStyle/>
          <a:p>
            <a:endParaRPr lang="en-CA"/>
          </a:p>
        </p:txBody>
      </p:sp>
      <p:sp>
        <p:nvSpPr>
          <p:cNvPr id="31" name="Shape 29"/>
          <p:cNvSpPr/>
          <p:nvPr/>
        </p:nvSpPr>
        <p:spPr>
          <a:xfrm>
            <a:off x="9646920" y="1691640"/>
            <a:ext cx="2057400" cy="2606040"/>
          </a:xfrm>
          <a:prstGeom prst="roundRect">
            <a:avLst>
              <a:gd name="adj" fmla="val 3556"/>
            </a:avLst>
          </a:prstGeom>
          <a:solidFill>
            <a:srgbClr val="FFFFFF"/>
          </a:solidFill>
          <a:ln w="12700">
            <a:solidFill>
              <a:srgbClr val="C9D6E6"/>
            </a:solidFill>
            <a:prstDash val="solid"/>
          </a:ln>
        </p:spPr>
        <p:txBody>
          <a:bodyPr/>
          <a:lstStyle/>
          <a:p>
            <a:endParaRPr lang="en-CA"/>
          </a:p>
        </p:txBody>
      </p:sp>
      <p:sp>
        <p:nvSpPr>
          <p:cNvPr id="32" name="Shape 30"/>
          <p:cNvSpPr/>
          <p:nvPr/>
        </p:nvSpPr>
        <p:spPr>
          <a:xfrm>
            <a:off x="10332720" y="1920240"/>
            <a:ext cx="658368" cy="658368"/>
          </a:xfrm>
          <a:prstGeom prst="ellipse">
            <a:avLst/>
          </a:prstGeom>
          <a:solidFill>
            <a:srgbClr val="2B5C8A"/>
          </a:solidFill>
          <a:ln w="12700">
            <a:solidFill>
              <a:srgbClr val="2B5C8A"/>
            </a:solidFill>
            <a:prstDash val="solid"/>
          </a:ln>
        </p:spPr>
        <p:txBody>
          <a:bodyPr/>
          <a:lstStyle/>
          <a:p>
            <a:endParaRPr lang="en-CA"/>
          </a:p>
        </p:txBody>
      </p:sp>
      <p:sp>
        <p:nvSpPr>
          <p:cNvPr id="33" name="Text 31"/>
          <p:cNvSpPr/>
          <p:nvPr/>
        </p:nvSpPr>
        <p:spPr>
          <a:xfrm>
            <a:off x="10332720" y="2093976"/>
            <a:ext cx="658368" cy="146304"/>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34" name="Text 32"/>
          <p:cNvSpPr/>
          <p:nvPr/>
        </p:nvSpPr>
        <p:spPr>
          <a:xfrm>
            <a:off x="9756648" y="2743200"/>
            <a:ext cx="1837944" cy="219456"/>
          </a:xfrm>
          <a:prstGeom prst="rect">
            <a:avLst/>
          </a:prstGeom>
          <a:noFill/>
          <a:ln/>
        </p:spPr>
        <p:txBody>
          <a:bodyPr wrap="square" lIns="0" tIns="0" rIns="0" bIns="0" rtlCol="0" anchor="ctr"/>
          <a:lstStyle/>
          <a:p>
            <a:pPr marL="0" indent="0" algn="ctr">
              <a:buNone/>
            </a:pPr>
            <a:r>
              <a:rPr lang="en-US" sz="1600" b="1" dirty="0">
                <a:solidFill>
                  <a:srgbClr val="1E3A5F"/>
                </a:solidFill>
                <a:latin typeface="Aptos Display" pitchFamily="34" charset="0"/>
                <a:ea typeface="Aptos Display" pitchFamily="34" charset="-122"/>
                <a:cs typeface="Aptos Display" pitchFamily="34" charset="-120"/>
              </a:rPr>
              <a:t>Demo</a:t>
            </a:r>
            <a:endParaRPr lang="en-US" sz="1500" dirty="0"/>
          </a:p>
        </p:txBody>
      </p:sp>
      <p:sp>
        <p:nvSpPr>
          <p:cNvPr id="35" name="Text 33"/>
          <p:cNvSpPr/>
          <p:nvPr/>
        </p:nvSpPr>
        <p:spPr>
          <a:xfrm>
            <a:off x="9829800" y="3246120"/>
            <a:ext cx="1764792" cy="768096"/>
          </a:xfrm>
          <a:prstGeom prst="rect">
            <a:avLst/>
          </a:prstGeom>
          <a:noFill/>
          <a:ln/>
        </p:spPr>
        <p:txBody>
          <a:bodyPr wrap="square" lIns="254" tIns="254" rIns="254" bIns="254" rtlCol="0" anchor="ctr">
            <a:normAutofit/>
          </a:bodyPr>
          <a:lstStyle/>
          <a:p>
            <a:pPr marL="0" indent="0" algn="ctr">
              <a:buNone/>
            </a:pPr>
            <a:r>
              <a:rPr lang="en-US" sz="1200" dirty="0">
                <a:solidFill>
                  <a:srgbClr val="374151"/>
                </a:solidFill>
                <a:latin typeface="Aptos" pitchFamily="34" charset="0"/>
                <a:ea typeface="Aptos" pitchFamily="34" charset="-122"/>
                <a:cs typeface="Aptos" pitchFamily="34" charset="-120"/>
              </a:rPr>
              <a:t>Add, search, sell, low-stock alert and restock.</a:t>
            </a:r>
            <a:endParaRPr lang="en-US" sz="1200" dirty="0"/>
          </a:p>
        </p:txBody>
      </p:sp>
      <p:sp>
        <p:nvSpPr>
          <p:cNvPr id="36" name="Shape 34"/>
          <p:cNvSpPr/>
          <p:nvPr/>
        </p:nvSpPr>
        <p:spPr>
          <a:xfrm>
            <a:off x="777240" y="4892039"/>
            <a:ext cx="10607040" cy="1072155"/>
          </a:xfrm>
          <a:prstGeom prst="roundRect">
            <a:avLst>
              <a:gd name="adj" fmla="val 10256"/>
            </a:avLst>
          </a:prstGeom>
          <a:solidFill>
            <a:srgbClr val="FFFFFF"/>
          </a:solidFill>
          <a:ln w="12700">
            <a:solidFill>
              <a:srgbClr val="D0D7E2"/>
            </a:solidFill>
            <a:prstDash val="solid"/>
          </a:ln>
        </p:spPr>
        <p:txBody>
          <a:bodyPr/>
          <a:lstStyle/>
          <a:p>
            <a:endParaRPr lang="en-CA"/>
          </a:p>
        </p:txBody>
      </p:sp>
      <p:sp>
        <p:nvSpPr>
          <p:cNvPr id="37" name="Text 35"/>
          <p:cNvSpPr/>
          <p:nvPr/>
        </p:nvSpPr>
        <p:spPr>
          <a:xfrm>
            <a:off x="923544" y="5001768"/>
            <a:ext cx="10314432" cy="228600"/>
          </a:xfrm>
          <a:prstGeom prst="rect">
            <a:avLst/>
          </a:prstGeom>
          <a:noFill/>
          <a:ln/>
        </p:spPr>
        <p:txBody>
          <a:bodyPr wrap="square" lIns="0" tIns="0" rIns="0" bIns="0" rtlCol="0" anchor="ctr"/>
          <a:lstStyle/>
          <a:p>
            <a:pPr marL="0" indent="0">
              <a:buNone/>
            </a:pPr>
            <a:r>
              <a:rPr lang="en-US" sz="1400" b="1" dirty="0">
                <a:solidFill>
                  <a:srgbClr val="1E3A5F"/>
                </a:solidFill>
                <a:latin typeface="Aptos Display" pitchFamily="34" charset="0"/>
                <a:ea typeface="Aptos Display" pitchFamily="34" charset="-122"/>
                <a:cs typeface="Aptos Display" pitchFamily="34" charset="-120"/>
              </a:rPr>
              <a:t>Goal of Presentation</a:t>
            </a:r>
            <a:endParaRPr lang="en-US" sz="1400" dirty="0"/>
          </a:p>
        </p:txBody>
      </p:sp>
      <p:sp>
        <p:nvSpPr>
          <p:cNvPr id="38" name="Text 36"/>
          <p:cNvSpPr/>
          <p:nvPr/>
        </p:nvSpPr>
        <p:spPr>
          <a:xfrm>
            <a:off x="941832" y="5349240"/>
            <a:ext cx="10287000" cy="585208"/>
          </a:xfrm>
          <a:prstGeom prst="rect">
            <a:avLst/>
          </a:prstGeom>
          <a:noFill/>
          <a:ln/>
        </p:spPr>
        <p:txBody>
          <a:bodyPr wrap="square" lIns="254" tIns="254" rIns="254" bIns="254" rtlCol="0" anchor="t">
            <a:normAutofit/>
          </a:bodyPr>
          <a:lstStyle/>
          <a:p>
            <a:pPr marL="0" indent="0">
              <a:buNone/>
            </a:pPr>
            <a:r>
              <a:rPr lang="en-US" sz="1400" dirty="0">
                <a:solidFill>
                  <a:srgbClr val="374151"/>
                </a:solidFill>
                <a:latin typeface="Aptos" pitchFamily="34" charset="0"/>
                <a:ea typeface="Aptos" pitchFamily="34" charset="-122"/>
                <a:cs typeface="Aptos" pitchFamily="34" charset="-120"/>
              </a:rPr>
              <a:t>To explain how our system applies OOP concepts with a real Java Swing GUI and MySQL database.</a:t>
            </a:r>
            <a:endParaRPr lang="en-US" sz="1400" dirty="0"/>
          </a:p>
        </p:txBody>
      </p:sp>
      <p:sp>
        <p:nvSpPr>
          <p:cNvPr id="39" name="Slide Number Placeholder 0"/>
          <p:cNvSpPr>
            <a:spLocks noGrp="1"/>
          </p:cNvSpPr>
          <p:nvPr>
            <p:ph type="sldNum" sz="quarter" idx="4294967295"/>
          </p:nvPr>
        </p:nvSpPr>
        <p:spPr>
          <a:xfrm>
            <a:off x="11475720" y="664768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2</a:t>
            </a:fld>
            <a:endParaRPr lang="en-US" dirty="0"/>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4" name="Text 2"/>
          <p:cNvSpPr/>
          <p:nvPr/>
        </p:nvSpPr>
        <p:spPr>
          <a:xfrm>
            <a:off x="502920" y="384048"/>
            <a:ext cx="10789920" cy="320040"/>
          </a:xfrm>
          <a:prstGeom prst="rect">
            <a:avLst/>
          </a:prstGeom>
          <a:noFill/>
          <a:ln/>
        </p:spPr>
        <p:txBody>
          <a:bodyPr wrap="square" lIns="0" tIns="0" rIns="0" bIns="0" rtlCol="0" anchor="ctr"/>
          <a:lstStyle/>
          <a:p>
            <a:pPr marL="0" indent="0">
              <a:buNone/>
            </a:pPr>
            <a:r>
              <a:rPr lang="en-US" sz="2500" b="1" dirty="0">
                <a:solidFill>
                  <a:srgbClr val="1E3A5F"/>
                </a:solidFill>
                <a:latin typeface="Aptos Display" pitchFamily="34" charset="0"/>
                <a:ea typeface="Aptos Display" pitchFamily="34" charset="-122"/>
                <a:cs typeface="Aptos Display" pitchFamily="34" charset="-120"/>
              </a:rPr>
              <a:t>Requirements Gathering &amp; Analysis</a:t>
            </a:r>
            <a:endParaRPr lang="en-US" sz="2500" dirty="0"/>
          </a:p>
        </p:txBody>
      </p:sp>
      <p:sp>
        <p:nvSpPr>
          <p:cNvPr id="5" name="Text 3"/>
          <p:cNvSpPr/>
          <p:nvPr/>
        </p:nvSpPr>
        <p:spPr>
          <a:xfrm>
            <a:off x="521208" y="758952"/>
            <a:ext cx="10424160" cy="346730"/>
          </a:xfrm>
          <a:prstGeom prst="rect">
            <a:avLst/>
          </a:prstGeom>
          <a:noFill/>
          <a:ln/>
        </p:spPr>
        <p:txBody>
          <a:bodyPr wrap="square" lIns="0" tIns="0" rIns="0" bIns="0" rtlCol="0" anchor="ctr"/>
          <a:lstStyle/>
          <a:p>
            <a:pPr marL="0" indent="0">
              <a:buNone/>
            </a:pPr>
            <a:r>
              <a:rPr lang="en-US" sz="1400" dirty="0">
                <a:solidFill>
                  <a:srgbClr val="667085"/>
                </a:solidFill>
                <a:latin typeface="Aptos" pitchFamily="34" charset="0"/>
                <a:ea typeface="Aptos" pitchFamily="34" charset="-122"/>
                <a:cs typeface="Aptos" pitchFamily="34" charset="-120"/>
              </a:rPr>
              <a:t>Understanding what a small shopkeeper needs from an inventory system</a:t>
            </a:r>
            <a:endParaRPr lang="en-US" sz="1400" dirty="0"/>
          </a:p>
        </p:txBody>
      </p:sp>
      <p:sp>
        <p:nvSpPr>
          <p:cNvPr id="6" name="Shape 4"/>
          <p:cNvSpPr/>
          <p:nvPr/>
        </p:nvSpPr>
        <p:spPr>
          <a:xfrm>
            <a:off x="594360" y="1178834"/>
            <a:ext cx="11155680" cy="0"/>
          </a:xfrm>
          <a:prstGeom prst="line">
            <a:avLst/>
          </a:prstGeom>
          <a:noFill/>
          <a:ln w="12700">
            <a:solidFill>
              <a:srgbClr val="CBD5E1"/>
            </a:solidFill>
            <a:prstDash val="solid"/>
          </a:ln>
        </p:spPr>
        <p:txBody>
          <a:bodyPr/>
          <a:lstStyle/>
          <a:p>
            <a:endParaRPr lang="en-CA"/>
          </a:p>
        </p:txBody>
      </p:sp>
      <p:sp>
        <p:nvSpPr>
          <p:cNvPr id="7" name="Shape 5"/>
          <p:cNvSpPr/>
          <p:nvPr/>
        </p:nvSpPr>
        <p:spPr>
          <a:xfrm>
            <a:off x="594360" y="1371600"/>
            <a:ext cx="3520440" cy="4251960"/>
          </a:xfrm>
          <a:prstGeom prst="roundRect">
            <a:avLst>
              <a:gd name="adj" fmla="val 2078"/>
            </a:avLst>
          </a:prstGeom>
          <a:solidFill>
            <a:srgbClr val="FFFFFF"/>
          </a:solidFill>
          <a:ln w="12700">
            <a:solidFill>
              <a:srgbClr val="D0D7E2"/>
            </a:solidFill>
            <a:prstDash val="solid"/>
          </a:ln>
        </p:spPr>
        <p:txBody>
          <a:bodyPr/>
          <a:lstStyle/>
          <a:p>
            <a:endParaRPr lang="en-CA"/>
          </a:p>
        </p:txBody>
      </p:sp>
      <p:sp>
        <p:nvSpPr>
          <p:cNvPr id="8" name="Text 6"/>
          <p:cNvSpPr/>
          <p:nvPr/>
        </p:nvSpPr>
        <p:spPr>
          <a:xfrm>
            <a:off x="740664" y="1481328"/>
            <a:ext cx="3227832" cy="228600"/>
          </a:xfrm>
          <a:prstGeom prst="rect">
            <a:avLst/>
          </a:prstGeom>
          <a:noFill/>
          <a:ln/>
        </p:spPr>
        <p:txBody>
          <a:bodyPr wrap="square" lIns="0" tIns="0" rIns="0" bIns="0" rtlCol="0" anchor="ctr"/>
          <a:lstStyle/>
          <a:p>
            <a:pPr marL="0" indent="0">
              <a:buNone/>
            </a:pPr>
            <a:r>
              <a:rPr lang="en-US" sz="1300" b="1" dirty="0">
                <a:solidFill>
                  <a:srgbClr val="1E3A5F"/>
                </a:solidFill>
                <a:latin typeface="Aptos Display" pitchFamily="34" charset="0"/>
                <a:ea typeface="Aptos Display" pitchFamily="34" charset="-122"/>
                <a:cs typeface="Aptos Display" pitchFamily="34" charset="-120"/>
              </a:rPr>
              <a:t>Shopkeeper Needs</a:t>
            </a:r>
            <a:endParaRPr lang="en-US" sz="1300" dirty="0"/>
          </a:p>
        </p:txBody>
      </p:sp>
      <p:sp>
        <p:nvSpPr>
          <p:cNvPr id="9" name="Text 7"/>
          <p:cNvSpPr/>
          <p:nvPr/>
        </p:nvSpPr>
        <p:spPr>
          <a:xfrm>
            <a:off x="758952" y="1828800"/>
            <a:ext cx="3200400" cy="3703320"/>
          </a:xfrm>
          <a:prstGeom prst="rect">
            <a:avLst/>
          </a:prstGeom>
          <a:noFill/>
          <a:ln/>
        </p:spPr>
        <p:txBody>
          <a:bodyPr wrap="square" lIns="254" tIns="254" rIns="254" bIns="254" rtlCol="0" anchor="t">
            <a:normAutofit/>
          </a:bodyPr>
          <a:lstStyle/>
          <a:p>
            <a:pPr marL="0" indent="0">
              <a:buNone/>
            </a:pPr>
            <a:r>
              <a:rPr lang="en-US" sz="1600" dirty="0">
                <a:solidFill>
                  <a:srgbClr val="374151"/>
                </a:solidFill>
                <a:latin typeface="Aptos" pitchFamily="34" charset="0"/>
                <a:ea typeface="Aptos" pitchFamily="34" charset="-122"/>
                <a:cs typeface="Aptos" pitchFamily="34" charset="-120"/>
              </a:rPr>
              <a:t>• Quickly add new products</a:t>
            </a:r>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 View all available stock</a:t>
            </a:r>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 Search product by ID or name</a:t>
            </a:r>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 Update price and quantity</a:t>
            </a:r>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 Sell and reduce stock</a:t>
            </a:r>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 Restock when new items arrive</a:t>
            </a:r>
            <a:endParaRPr lang="en-US" sz="1600" dirty="0"/>
          </a:p>
        </p:txBody>
      </p:sp>
      <p:sp>
        <p:nvSpPr>
          <p:cNvPr id="10" name="Shape 8"/>
          <p:cNvSpPr/>
          <p:nvPr/>
        </p:nvSpPr>
        <p:spPr>
          <a:xfrm>
            <a:off x="4370832" y="1371600"/>
            <a:ext cx="3520440" cy="4251960"/>
          </a:xfrm>
          <a:prstGeom prst="roundRect">
            <a:avLst>
              <a:gd name="adj" fmla="val 2078"/>
            </a:avLst>
          </a:prstGeom>
          <a:solidFill>
            <a:srgbClr val="FEFCE8"/>
          </a:solidFill>
          <a:ln w="12700">
            <a:solidFill>
              <a:srgbClr val="FDE68A"/>
            </a:solidFill>
            <a:prstDash val="solid"/>
          </a:ln>
        </p:spPr>
        <p:txBody>
          <a:bodyPr/>
          <a:lstStyle/>
          <a:p>
            <a:endParaRPr lang="en-CA"/>
          </a:p>
        </p:txBody>
      </p:sp>
      <p:sp>
        <p:nvSpPr>
          <p:cNvPr id="11" name="Text 9"/>
          <p:cNvSpPr/>
          <p:nvPr/>
        </p:nvSpPr>
        <p:spPr>
          <a:xfrm>
            <a:off x="4517136" y="1481328"/>
            <a:ext cx="3227832" cy="228600"/>
          </a:xfrm>
          <a:prstGeom prst="rect">
            <a:avLst/>
          </a:prstGeom>
          <a:noFill/>
          <a:ln/>
        </p:spPr>
        <p:txBody>
          <a:bodyPr wrap="square" lIns="0" tIns="0" rIns="0" bIns="0" rtlCol="0" anchor="ctr"/>
          <a:lstStyle/>
          <a:p>
            <a:pPr marL="0" indent="0">
              <a:buNone/>
            </a:pPr>
            <a:r>
              <a:rPr lang="en-US" sz="1300" b="1" dirty="0">
                <a:solidFill>
                  <a:srgbClr val="1E3A5F"/>
                </a:solidFill>
                <a:latin typeface="Aptos Display" pitchFamily="34" charset="0"/>
                <a:ea typeface="Aptos Display" pitchFamily="34" charset="-122"/>
                <a:cs typeface="Aptos Display" pitchFamily="34" charset="-120"/>
              </a:rPr>
              <a:t>Manual Record Problems</a:t>
            </a:r>
            <a:endParaRPr lang="en-US" sz="1300" dirty="0"/>
          </a:p>
        </p:txBody>
      </p:sp>
      <p:sp>
        <p:nvSpPr>
          <p:cNvPr id="12" name="Text 10"/>
          <p:cNvSpPr/>
          <p:nvPr/>
        </p:nvSpPr>
        <p:spPr>
          <a:xfrm>
            <a:off x="4535424" y="1828800"/>
            <a:ext cx="3227832" cy="3703320"/>
          </a:xfrm>
          <a:prstGeom prst="rect">
            <a:avLst/>
          </a:prstGeom>
          <a:noFill/>
          <a:ln/>
        </p:spPr>
        <p:txBody>
          <a:bodyPr wrap="square" lIns="254" tIns="254" rIns="254" bIns="254" rtlCol="0" anchor="t">
            <a:normAutofit/>
          </a:bodyPr>
          <a:lstStyle/>
          <a:p>
            <a:pPr marL="0" indent="0">
              <a:buNone/>
            </a:pPr>
            <a:r>
              <a:rPr lang="en-US" sz="1600" dirty="0">
                <a:solidFill>
                  <a:srgbClr val="374151"/>
                </a:solidFill>
                <a:latin typeface="Aptos" pitchFamily="34" charset="0"/>
                <a:ea typeface="Aptos" pitchFamily="34" charset="-122"/>
                <a:cs typeface="Aptos" pitchFamily="34" charset="-120"/>
              </a:rPr>
              <a:t>• Register entries can be lost</a:t>
            </a:r>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 Stock counting takes more time</a:t>
            </a:r>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 Human mistakes in quantity</a:t>
            </a:r>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 Hard to find old products fast</a:t>
            </a:r>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 No automatic warning for low stock</a:t>
            </a:r>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 Difficult to maintain neat records</a:t>
            </a:r>
            <a:endParaRPr lang="en-US" sz="1600" dirty="0"/>
          </a:p>
        </p:txBody>
      </p:sp>
      <p:sp>
        <p:nvSpPr>
          <p:cNvPr id="13" name="Shape 11"/>
          <p:cNvSpPr/>
          <p:nvPr/>
        </p:nvSpPr>
        <p:spPr>
          <a:xfrm>
            <a:off x="8138160" y="1371600"/>
            <a:ext cx="3520440" cy="4251960"/>
          </a:xfrm>
          <a:prstGeom prst="roundRect">
            <a:avLst>
              <a:gd name="adj" fmla="val 2078"/>
            </a:avLst>
          </a:prstGeom>
          <a:solidFill>
            <a:srgbClr val="EFF6FF"/>
          </a:solidFill>
          <a:ln w="12700">
            <a:solidFill>
              <a:srgbClr val="BFDBFE"/>
            </a:solidFill>
            <a:prstDash val="solid"/>
          </a:ln>
        </p:spPr>
        <p:txBody>
          <a:bodyPr/>
          <a:lstStyle/>
          <a:p>
            <a:endParaRPr lang="en-CA"/>
          </a:p>
        </p:txBody>
      </p:sp>
      <p:sp>
        <p:nvSpPr>
          <p:cNvPr id="14" name="Text 12"/>
          <p:cNvSpPr/>
          <p:nvPr/>
        </p:nvSpPr>
        <p:spPr>
          <a:xfrm>
            <a:off x="8284464" y="1481328"/>
            <a:ext cx="3227832" cy="228600"/>
          </a:xfrm>
          <a:prstGeom prst="rect">
            <a:avLst/>
          </a:prstGeom>
          <a:noFill/>
          <a:ln/>
        </p:spPr>
        <p:txBody>
          <a:bodyPr wrap="square" lIns="0" tIns="0" rIns="0" bIns="0" rtlCol="0" anchor="ctr"/>
          <a:lstStyle/>
          <a:p>
            <a:pPr marL="0" indent="0">
              <a:buNone/>
            </a:pPr>
            <a:r>
              <a:rPr lang="en-US" sz="1300" b="1" dirty="0">
                <a:solidFill>
                  <a:srgbClr val="1E3A5F"/>
                </a:solidFill>
                <a:latin typeface="Aptos Display" pitchFamily="34" charset="0"/>
                <a:ea typeface="Aptos Display" pitchFamily="34" charset="-122"/>
                <a:cs typeface="Aptos Display" pitchFamily="34" charset="-120"/>
              </a:rPr>
              <a:t>Features Identified</a:t>
            </a:r>
            <a:endParaRPr lang="en-US" sz="1300" dirty="0"/>
          </a:p>
        </p:txBody>
      </p:sp>
      <p:sp>
        <p:nvSpPr>
          <p:cNvPr id="15" name="Text 13"/>
          <p:cNvSpPr/>
          <p:nvPr/>
        </p:nvSpPr>
        <p:spPr>
          <a:xfrm>
            <a:off x="8302752" y="1828800"/>
            <a:ext cx="3200400" cy="3703320"/>
          </a:xfrm>
          <a:prstGeom prst="rect">
            <a:avLst/>
          </a:prstGeom>
          <a:noFill/>
          <a:ln/>
        </p:spPr>
        <p:txBody>
          <a:bodyPr wrap="square" lIns="254" tIns="254" rIns="254" bIns="254" rtlCol="0" anchor="t">
            <a:normAutofit/>
          </a:bodyPr>
          <a:lstStyle/>
          <a:p>
            <a:pPr marL="0" indent="0">
              <a:buNone/>
            </a:pPr>
            <a:r>
              <a:rPr lang="en-US" sz="1600" dirty="0">
                <a:solidFill>
                  <a:srgbClr val="374151"/>
                </a:solidFill>
                <a:latin typeface="Aptos" pitchFamily="34" charset="0"/>
                <a:ea typeface="Aptos" pitchFamily="34" charset="-122"/>
                <a:cs typeface="Aptos" pitchFamily="34" charset="-120"/>
              </a:rPr>
              <a:t>• Add / View / Update / Delete</a:t>
            </a:r>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 Search by ID and by name</a:t>
            </a:r>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 Sell product and reduce stock</a:t>
            </a:r>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 Restock product quantity</a:t>
            </a:r>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 Low stock alert threshold</a:t>
            </a:r>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 Database storage using MySQL</a:t>
            </a:r>
            <a:endParaRPr lang="en-US" sz="1600" dirty="0"/>
          </a:p>
        </p:txBody>
      </p:sp>
      <p:sp>
        <p:nvSpPr>
          <p:cNvPr id="25" name="Slide Number Placeholder 0"/>
          <p:cNvSpPr>
            <a:spLocks noGrp="1"/>
          </p:cNvSpPr>
          <p:nvPr>
            <p:ph type="sldNum" sz="quarter" idx="4294967295"/>
          </p:nvPr>
        </p:nvSpPr>
        <p:spPr>
          <a:xfrm>
            <a:off x="11475720" y="664768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4" name="Text 2"/>
          <p:cNvSpPr/>
          <p:nvPr/>
        </p:nvSpPr>
        <p:spPr>
          <a:xfrm>
            <a:off x="502920" y="384048"/>
            <a:ext cx="10789920" cy="320040"/>
          </a:xfrm>
          <a:prstGeom prst="rect">
            <a:avLst/>
          </a:prstGeom>
          <a:noFill/>
          <a:ln/>
        </p:spPr>
        <p:txBody>
          <a:bodyPr wrap="square" lIns="0" tIns="0" rIns="0" bIns="0" rtlCol="0" anchor="ctr"/>
          <a:lstStyle/>
          <a:p>
            <a:pPr marL="0" indent="0">
              <a:buNone/>
            </a:pPr>
            <a:r>
              <a:rPr lang="en-US" sz="2500" b="1" dirty="0">
                <a:solidFill>
                  <a:srgbClr val="1E3A5F"/>
                </a:solidFill>
                <a:latin typeface="Aptos Display" pitchFamily="34" charset="0"/>
                <a:ea typeface="Aptos Display" pitchFamily="34" charset="-122"/>
                <a:cs typeface="Aptos Display" pitchFamily="34" charset="-120"/>
              </a:rPr>
              <a:t>Use Case Diagram</a:t>
            </a:r>
            <a:endParaRPr lang="en-US" sz="2500" dirty="0"/>
          </a:p>
        </p:txBody>
      </p:sp>
      <p:sp>
        <p:nvSpPr>
          <p:cNvPr id="5" name="Text 3"/>
          <p:cNvSpPr/>
          <p:nvPr/>
        </p:nvSpPr>
        <p:spPr>
          <a:xfrm>
            <a:off x="502920" y="861442"/>
            <a:ext cx="10424160" cy="201168"/>
          </a:xfrm>
          <a:prstGeom prst="rect">
            <a:avLst/>
          </a:prstGeom>
          <a:noFill/>
          <a:ln/>
        </p:spPr>
        <p:txBody>
          <a:bodyPr wrap="square" lIns="0" tIns="0" rIns="0" bIns="0" rtlCol="0" anchor="ctr"/>
          <a:lstStyle/>
          <a:p>
            <a:pPr marL="0" indent="0">
              <a:buNone/>
            </a:pPr>
            <a:r>
              <a:rPr lang="en-US" sz="1600" dirty="0">
                <a:solidFill>
                  <a:srgbClr val="667085"/>
                </a:solidFill>
                <a:latin typeface="Aptos" pitchFamily="34" charset="0"/>
                <a:ea typeface="Aptos" pitchFamily="34" charset="-122"/>
                <a:cs typeface="Aptos" pitchFamily="34" charset="-120"/>
              </a:rPr>
              <a:t>Shopkeeper — Inventory Management System</a:t>
            </a:r>
            <a:endParaRPr lang="en-US" sz="1600" dirty="0"/>
          </a:p>
        </p:txBody>
      </p:sp>
      <p:sp>
        <p:nvSpPr>
          <p:cNvPr id="6" name="Shape 4"/>
          <p:cNvSpPr/>
          <p:nvPr/>
        </p:nvSpPr>
        <p:spPr>
          <a:xfrm>
            <a:off x="411480" y="1120140"/>
            <a:ext cx="11155680" cy="0"/>
          </a:xfrm>
          <a:prstGeom prst="line">
            <a:avLst/>
          </a:prstGeom>
          <a:noFill/>
          <a:ln w="12700">
            <a:solidFill>
              <a:srgbClr val="CBD5E1"/>
            </a:solidFill>
            <a:prstDash val="solid"/>
          </a:ln>
        </p:spPr>
        <p:txBody>
          <a:bodyPr/>
          <a:lstStyle/>
          <a:p>
            <a:endParaRPr lang="en-CA"/>
          </a:p>
        </p:txBody>
      </p:sp>
      <p:sp>
        <p:nvSpPr>
          <p:cNvPr id="39" name="Text 37"/>
          <p:cNvSpPr/>
          <p:nvPr/>
        </p:nvSpPr>
        <p:spPr>
          <a:xfrm>
            <a:off x="411480" y="6455664"/>
            <a:ext cx="10789920" cy="146304"/>
          </a:xfrm>
          <a:prstGeom prst="rect">
            <a:avLst/>
          </a:prstGeom>
          <a:noFill/>
          <a:ln/>
        </p:spPr>
        <p:txBody>
          <a:bodyPr wrap="square" rtlCol="0" anchor="ctr"/>
          <a:lstStyle/>
          <a:p>
            <a:pPr marL="0" indent="0">
              <a:buNone/>
            </a:pPr>
            <a:endParaRPr lang="en-US" sz="750" dirty="0"/>
          </a:p>
        </p:txBody>
      </p:sp>
      <p:sp>
        <p:nvSpPr>
          <p:cNvPr id="40" name="Slide Number Placeholder 0"/>
          <p:cNvSpPr>
            <a:spLocks noGrp="1"/>
          </p:cNvSpPr>
          <p:nvPr>
            <p:ph type="sldNum" sz="quarter" idx="4294967295"/>
          </p:nvPr>
        </p:nvSpPr>
        <p:spPr>
          <a:xfrm>
            <a:off x="11475720" y="664768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4</a:t>
            </a:fld>
            <a:endParaRPr lang="en-US"/>
          </a:p>
        </p:txBody>
      </p:sp>
      <p:pic>
        <p:nvPicPr>
          <p:cNvPr id="42" name="Picture 41">
            <a:extLst>
              <a:ext uri="{FF2B5EF4-FFF2-40B4-BE49-F238E27FC236}">
                <a16:creationId xmlns:a16="http://schemas.microsoft.com/office/drawing/2014/main" id="{13235FFC-E9E7-0631-F040-77F6CE8AFC1C}"/>
              </a:ext>
            </a:extLst>
          </p:cNvPr>
          <p:cNvPicPr>
            <a:picLocks noChangeAspect="1"/>
          </p:cNvPicPr>
          <p:nvPr/>
        </p:nvPicPr>
        <p:blipFill>
          <a:blip r:embed="rId3"/>
          <a:stretch>
            <a:fillRect/>
          </a:stretch>
        </p:blipFill>
        <p:spPr>
          <a:xfrm>
            <a:off x="2012787" y="1355599"/>
            <a:ext cx="7587306" cy="5145786"/>
          </a:xfrm>
          <a:prstGeom prst="rect">
            <a:avLst/>
          </a:prstGeom>
          <a:noFill/>
          <a:ln w="63500">
            <a:solidFill>
              <a:schemeClr val="accent2">
                <a:alpha val="60000"/>
              </a:schemeClr>
            </a:solidFill>
            <a:extLst>
              <a:ext uri="{C807C97D-BFC1-408E-A445-0C87EB9F89A2}">
                <ask:lineSketchStyleProps xmlns:ask="http://schemas.microsoft.com/office/drawing/2018/sketchyshapes">
                  <ask:type>
                    <ask:lineSketchNone/>
                  </ask:type>
                </ask:lineSketchStyleProps>
              </a:ext>
            </a:extLst>
          </a:ln>
          <a:effectLst>
            <a:softEdge rad="0"/>
          </a:effectLst>
        </p:spPr>
      </p:pic>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4" name="Text 2"/>
          <p:cNvSpPr/>
          <p:nvPr/>
        </p:nvSpPr>
        <p:spPr>
          <a:xfrm>
            <a:off x="502920" y="259080"/>
            <a:ext cx="10789920" cy="320040"/>
          </a:xfrm>
          <a:prstGeom prst="rect">
            <a:avLst/>
          </a:prstGeom>
          <a:noFill/>
          <a:ln/>
        </p:spPr>
        <p:txBody>
          <a:bodyPr wrap="square" lIns="0" tIns="0" rIns="0" bIns="0" rtlCol="0" anchor="ctr"/>
          <a:lstStyle/>
          <a:p>
            <a:pPr marL="0" indent="0">
              <a:buNone/>
            </a:pPr>
            <a:r>
              <a:rPr lang="en-US" sz="2500" b="1" dirty="0">
                <a:solidFill>
                  <a:srgbClr val="1E3A5F"/>
                </a:solidFill>
                <a:latin typeface="Aptos Display" pitchFamily="34" charset="0"/>
                <a:ea typeface="Aptos Display" pitchFamily="34" charset="-122"/>
                <a:cs typeface="Aptos Display" pitchFamily="34" charset="-120"/>
              </a:rPr>
              <a:t>Class Diagram</a:t>
            </a:r>
            <a:endParaRPr lang="en-US" sz="2500" dirty="0"/>
          </a:p>
        </p:txBody>
      </p:sp>
      <p:sp>
        <p:nvSpPr>
          <p:cNvPr id="5" name="Text 3"/>
          <p:cNvSpPr/>
          <p:nvPr/>
        </p:nvSpPr>
        <p:spPr>
          <a:xfrm>
            <a:off x="502920" y="601726"/>
            <a:ext cx="10424160" cy="201168"/>
          </a:xfrm>
          <a:prstGeom prst="rect">
            <a:avLst/>
          </a:prstGeom>
          <a:noFill/>
          <a:ln/>
        </p:spPr>
        <p:txBody>
          <a:bodyPr wrap="square" lIns="0" tIns="0" rIns="0" bIns="0" rtlCol="0" anchor="ctr"/>
          <a:lstStyle/>
          <a:p>
            <a:pPr marL="0" indent="0">
              <a:buNone/>
            </a:pPr>
            <a:r>
              <a:rPr lang="en-US" sz="1600" dirty="0">
                <a:solidFill>
                  <a:srgbClr val="667085"/>
                </a:solidFill>
                <a:latin typeface="Aptos" pitchFamily="34" charset="0"/>
                <a:ea typeface="Aptos" pitchFamily="34" charset="-122"/>
                <a:cs typeface="Aptos" pitchFamily="34" charset="-120"/>
              </a:rPr>
              <a:t>Main classes and relationships used in the project</a:t>
            </a:r>
            <a:endParaRPr lang="en-US" sz="1600" dirty="0"/>
          </a:p>
        </p:txBody>
      </p:sp>
      <p:sp>
        <p:nvSpPr>
          <p:cNvPr id="6" name="Shape 4"/>
          <p:cNvSpPr/>
          <p:nvPr/>
        </p:nvSpPr>
        <p:spPr>
          <a:xfrm>
            <a:off x="502920" y="848614"/>
            <a:ext cx="11155680" cy="0"/>
          </a:xfrm>
          <a:prstGeom prst="line">
            <a:avLst/>
          </a:prstGeom>
          <a:noFill/>
          <a:ln w="12700">
            <a:solidFill>
              <a:srgbClr val="CBD5E1"/>
            </a:solidFill>
            <a:prstDash val="solid"/>
          </a:ln>
        </p:spPr>
        <p:txBody>
          <a:bodyPr/>
          <a:lstStyle/>
          <a:p>
            <a:endParaRPr lang="en-CA"/>
          </a:p>
        </p:txBody>
      </p:sp>
      <p:sp>
        <p:nvSpPr>
          <p:cNvPr id="74" name="Slide Number Placeholder 0"/>
          <p:cNvSpPr>
            <a:spLocks noGrp="1"/>
          </p:cNvSpPr>
          <p:nvPr>
            <p:ph type="sldNum" sz="quarter" idx="4294967295"/>
          </p:nvPr>
        </p:nvSpPr>
        <p:spPr>
          <a:xfrm>
            <a:off x="11475720" y="664768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5</a:t>
            </a:fld>
            <a:endParaRPr lang="en-US"/>
          </a:p>
        </p:txBody>
      </p:sp>
      <p:pic>
        <p:nvPicPr>
          <p:cNvPr id="8" name="Picture 7">
            <a:extLst>
              <a:ext uri="{FF2B5EF4-FFF2-40B4-BE49-F238E27FC236}">
                <a16:creationId xmlns:a16="http://schemas.microsoft.com/office/drawing/2014/main" id="{B0EE126A-CCAA-9C87-01CD-174BBAD21360}"/>
              </a:ext>
            </a:extLst>
          </p:cNvPr>
          <p:cNvPicPr>
            <a:picLocks noChangeAspect="1"/>
          </p:cNvPicPr>
          <p:nvPr/>
        </p:nvPicPr>
        <p:blipFill>
          <a:blip r:embed="rId3"/>
          <a:stretch>
            <a:fillRect/>
          </a:stretch>
        </p:blipFill>
        <p:spPr>
          <a:xfrm>
            <a:off x="1621803" y="999660"/>
            <a:ext cx="8398890" cy="5599260"/>
          </a:xfrm>
          <a:prstGeom prst="rect">
            <a:avLst/>
          </a:prstGeom>
          <a:ln w="63500">
            <a:solidFill>
              <a:schemeClr val="accent1"/>
            </a:solidFill>
          </a:ln>
        </p:spPr>
      </p:pic>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4" name="Text 2"/>
          <p:cNvSpPr/>
          <p:nvPr/>
        </p:nvSpPr>
        <p:spPr>
          <a:xfrm>
            <a:off x="521208" y="224028"/>
            <a:ext cx="10789920" cy="320040"/>
          </a:xfrm>
          <a:prstGeom prst="rect">
            <a:avLst/>
          </a:prstGeom>
          <a:noFill/>
          <a:ln/>
        </p:spPr>
        <p:txBody>
          <a:bodyPr wrap="square" lIns="0" tIns="0" rIns="0" bIns="0" rtlCol="0" anchor="ctr"/>
          <a:lstStyle/>
          <a:p>
            <a:pPr marL="0" indent="0">
              <a:buNone/>
            </a:pPr>
            <a:r>
              <a:rPr lang="en-US" sz="2500" b="1" dirty="0">
                <a:solidFill>
                  <a:srgbClr val="1E3A5F"/>
                </a:solidFill>
                <a:latin typeface="Aptos Display" pitchFamily="34" charset="0"/>
                <a:ea typeface="Aptos Display" pitchFamily="34" charset="-122"/>
                <a:cs typeface="Aptos Display" pitchFamily="34" charset="-120"/>
              </a:rPr>
              <a:t>Sequence Diagram – Add Product</a:t>
            </a:r>
            <a:endParaRPr lang="en-US" sz="2500" dirty="0"/>
          </a:p>
        </p:txBody>
      </p:sp>
      <p:sp>
        <p:nvSpPr>
          <p:cNvPr id="5" name="Text 3"/>
          <p:cNvSpPr/>
          <p:nvPr/>
        </p:nvSpPr>
        <p:spPr>
          <a:xfrm>
            <a:off x="521208" y="590872"/>
            <a:ext cx="10424160" cy="201168"/>
          </a:xfrm>
          <a:prstGeom prst="rect">
            <a:avLst/>
          </a:prstGeom>
          <a:noFill/>
          <a:ln/>
        </p:spPr>
        <p:txBody>
          <a:bodyPr wrap="square" lIns="0" tIns="0" rIns="0" bIns="0" rtlCol="0" anchor="ctr"/>
          <a:lstStyle/>
          <a:p>
            <a:pPr marL="0" indent="0">
              <a:buNone/>
            </a:pPr>
            <a:r>
              <a:rPr lang="en-US" sz="1600" dirty="0">
                <a:solidFill>
                  <a:srgbClr val="667085"/>
                </a:solidFill>
                <a:latin typeface="Aptos" pitchFamily="34" charset="0"/>
                <a:ea typeface="Aptos" pitchFamily="34" charset="-122"/>
                <a:cs typeface="Aptos" pitchFamily="34" charset="-120"/>
              </a:rPr>
              <a:t>Flow from user action to database INSERT and success message</a:t>
            </a:r>
            <a:endParaRPr lang="en-US" sz="1600" dirty="0"/>
          </a:p>
        </p:txBody>
      </p:sp>
      <p:sp>
        <p:nvSpPr>
          <p:cNvPr id="6" name="Shape 4"/>
          <p:cNvSpPr/>
          <p:nvPr/>
        </p:nvSpPr>
        <p:spPr>
          <a:xfrm>
            <a:off x="498348" y="920998"/>
            <a:ext cx="11155680" cy="0"/>
          </a:xfrm>
          <a:prstGeom prst="line">
            <a:avLst/>
          </a:prstGeom>
          <a:noFill/>
          <a:ln w="12700">
            <a:solidFill>
              <a:srgbClr val="CBD5E1"/>
            </a:solidFill>
            <a:prstDash val="solid"/>
          </a:ln>
        </p:spPr>
        <p:txBody>
          <a:bodyPr/>
          <a:lstStyle/>
          <a:p>
            <a:endParaRPr lang="en-CA"/>
          </a:p>
        </p:txBody>
      </p:sp>
      <p:sp>
        <p:nvSpPr>
          <p:cNvPr id="39" name="Slide Number Placeholder 0"/>
          <p:cNvSpPr>
            <a:spLocks noGrp="1"/>
          </p:cNvSpPr>
          <p:nvPr>
            <p:ph type="sldNum" sz="quarter" idx="4294967295"/>
          </p:nvPr>
        </p:nvSpPr>
        <p:spPr>
          <a:xfrm>
            <a:off x="11475720" y="664768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6</a:t>
            </a:fld>
            <a:endParaRPr lang="en-US"/>
          </a:p>
        </p:txBody>
      </p:sp>
      <p:pic>
        <p:nvPicPr>
          <p:cNvPr id="41" name="Picture 40">
            <a:extLst>
              <a:ext uri="{FF2B5EF4-FFF2-40B4-BE49-F238E27FC236}">
                <a16:creationId xmlns:a16="http://schemas.microsoft.com/office/drawing/2014/main" id="{650AA754-C7A3-6288-84FD-F6E412AE4F7F}"/>
              </a:ext>
            </a:extLst>
          </p:cNvPr>
          <p:cNvPicPr>
            <a:picLocks noChangeAspect="1"/>
          </p:cNvPicPr>
          <p:nvPr/>
        </p:nvPicPr>
        <p:blipFill>
          <a:blip r:embed="rId3"/>
          <a:stretch>
            <a:fillRect/>
          </a:stretch>
        </p:blipFill>
        <p:spPr>
          <a:xfrm>
            <a:off x="993522" y="1049957"/>
            <a:ext cx="9951846" cy="5483928"/>
          </a:xfrm>
          <a:prstGeom prst="rect">
            <a:avLst/>
          </a:prstGeom>
          <a:ln w="63500">
            <a:solidFill>
              <a:schemeClr val="tx1"/>
            </a:solidFill>
          </a:ln>
        </p:spPr>
      </p:pic>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4" name="Text 2"/>
          <p:cNvSpPr/>
          <p:nvPr/>
        </p:nvSpPr>
        <p:spPr>
          <a:xfrm>
            <a:off x="502920" y="384048"/>
            <a:ext cx="10789920" cy="320040"/>
          </a:xfrm>
          <a:prstGeom prst="rect">
            <a:avLst/>
          </a:prstGeom>
          <a:noFill/>
          <a:ln/>
        </p:spPr>
        <p:txBody>
          <a:bodyPr wrap="square" lIns="0" tIns="0" rIns="0" bIns="0" rtlCol="0" anchor="ctr"/>
          <a:lstStyle/>
          <a:p>
            <a:pPr marL="0" indent="0">
              <a:buNone/>
            </a:pPr>
            <a:r>
              <a:rPr lang="en-US" sz="2500" b="1" dirty="0">
                <a:solidFill>
                  <a:srgbClr val="1E3A5F"/>
                </a:solidFill>
                <a:latin typeface="Aptos Display" pitchFamily="34" charset="0"/>
                <a:ea typeface="Aptos Display" pitchFamily="34" charset="-122"/>
                <a:cs typeface="Aptos Display" pitchFamily="34" charset="-120"/>
              </a:rPr>
              <a:t>OOP Concepts Used</a:t>
            </a:r>
            <a:endParaRPr lang="en-US" sz="2500" dirty="0"/>
          </a:p>
        </p:txBody>
      </p:sp>
      <p:sp>
        <p:nvSpPr>
          <p:cNvPr id="5" name="Text 3"/>
          <p:cNvSpPr/>
          <p:nvPr/>
        </p:nvSpPr>
        <p:spPr>
          <a:xfrm>
            <a:off x="521208" y="758952"/>
            <a:ext cx="10424160" cy="201168"/>
          </a:xfrm>
          <a:prstGeom prst="rect">
            <a:avLst/>
          </a:prstGeom>
          <a:noFill/>
          <a:ln/>
        </p:spPr>
        <p:txBody>
          <a:bodyPr wrap="square" lIns="0" tIns="0" rIns="0" bIns="0" rtlCol="0" anchor="ctr"/>
          <a:lstStyle/>
          <a:p>
            <a:pPr marL="0" indent="0">
              <a:buNone/>
            </a:pPr>
            <a:r>
              <a:rPr lang="en-US" sz="1200" dirty="0">
                <a:solidFill>
                  <a:srgbClr val="667085"/>
                </a:solidFill>
                <a:latin typeface="Aptos" pitchFamily="34" charset="0"/>
                <a:ea typeface="Aptos" pitchFamily="34" charset="-122"/>
                <a:cs typeface="Aptos" pitchFamily="34" charset="-120"/>
              </a:rPr>
              <a:t>How the project used basic object-oriented programming ideas</a:t>
            </a:r>
            <a:endParaRPr lang="en-US" sz="1200" dirty="0"/>
          </a:p>
        </p:txBody>
      </p:sp>
      <p:sp>
        <p:nvSpPr>
          <p:cNvPr id="6" name="Shape 4"/>
          <p:cNvSpPr/>
          <p:nvPr/>
        </p:nvSpPr>
        <p:spPr>
          <a:xfrm>
            <a:off x="521208" y="1005840"/>
            <a:ext cx="11155680" cy="0"/>
          </a:xfrm>
          <a:prstGeom prst="line">
            <a:avLst/>
          </a:prstGeom>
          <a:noFill/>
          <a:ln w="12700">
            <a:solidFill>
              <a:srgbClr val="CBD5E1"/>
            </a:solidFill>
            <a:prstDash val="solid"/>
          </a:ln>
        </p:spPr>
        <p:txBody>
          <a:bodyPr/>
          <a:lstStyle/>
          <a:p>
            <a:endParaRPr lang="en-CA"/>
          </a:p>
        </p:txBody>
      </p:sp>
      <p:sp>
        <p:nvSpPr>
          <p:cNvPr id="7" name="Shape 5"/>
          <p:cNvSpPr/>
          <p:nvPr/>
        </p:nvSpPr>
        <p:spPr>
          <a:xfrm>
            <a:off x="516677" y="1757315"/>
            <a:ext cx="5023845" cy="868846"/>
          </a:xfrm>
          <a:prstGeom prst="roundRect">
            <a:avLst>
              <a:gd name="adj" fmla="val 14545"/>
            </a:avLst>
          </a:prstGeom>
          <a:solidFill>
            <a:srgbClr val="FFFFFF"/>
          </a:solidFill>
          <a:ln w="12700">
            <a:solidFill>
              <a:srgbClr val="D0D7E2"/>
            </a:solidFill>
            <a:prstDash val="solid"/>
          </a:ln>
        </p:spPr>
        <p:txBody>
          <a:bodyPr/>
          <a:lstStyle/>
          <a:p>
            <a:endParaRPr lang="en-CA"/>
          </a:p>
        </p:txBody>
      </p:sp>
      <p:sp>
        <p:nvSpPr>
          <p:cNvPr id="8" name="Text 6"/>
          <p:cNvSpPr/>
          <p:nvPr/>
        </p:nvSpPr>
        <p:spPr>
          <a:xfrm>
            <a:off x="690413" y="1867043"/>
            <a:ext cx="2021791" cy="567014"/>
          </a:xfrm>
          <a:prstGeom prst="rect">
            <a:avLst/>
          </a:prstGeom>
          <a:noFill/>
          <a:ln/>
        </p:spPr>
        <p:txBody>
          <a:bodyPr wrap="square" lIns="0" tIns="0" rIns="0" bIns="0" rtlCol="0" anchor="ctr"/>
          <a:lstStyle/>
          <a:p>
            <a:pPr marL="0" indent="0">
              <a:buNone/>
            </a:pPr>
            <a:r>
              <a:rPr lang="en-US" sz="1600" b="1" dirty="0">
                <a:solidFill>
                  <a:srgbClr val="1E3A5F"/>
                </a:solidFill>
                <a:latin typeface="Aptos Display" pitchFamily="34" charset="0"/>
                <a:ea typeface="Aptos Display" pitchFamily="34" charset="-122"/>
                <a:cs typeface="Aptos Display" pitchFamily="34" charset="-120"/>
              </a:rPr>
              <a:t>Encapsulation</a:t>
            </a:r>
            <a:endParaRPr lang="en-US" sz="1200" dirty="0"/>
          </a:p>
        </p:txBody>
      </p:sp>
      <p:sp>
        <p:nvSpPr>
          <p:cNvPr id="9" name="Text 7"/>
          <p:cNvSpPr/>
          <p:nvPr/>
        </p:nvSpPr>
        <p:spPr>
          <a:xfrm>
            <a:off x="2162597" y="1885332"/>
            <a:ext cx="3196694" cy="637890"/>
          </a:xfrm>
          <a:prstGeom prst="rect">
            <a:avLst/>
          </a:prstGeom>
          <a:noFill/>
          <a:ln/>
        </p:spPr>
        <p:txBody>
          <a:bodyPr wrap="square" lIns="0" tIns="0" rIns="0" bIns="0" rtlCol="0" anchor="ctr">
            <a:noAutofit/>
          </a:bodyPr>
          <a:lstStyle/>
          <a:p>
            <a:pPr marL="0" indent="0">
              <a:buNone/>
            </a:pPr>
            <a:r>
              <a:rPr lang="en-US" sz="1400" dirty="0">
                <a:solidFill>
                  <a:srgbClr val="374151"/>
                </a:solidFill>
                <a:latin typeface="Aptos" pitchFamily="34" charset="0"/>
                <a:ea typeface="Aptos" pitchFamily="34" charset="-122"/>
                <a:cs typeface="Aptos" pitchFamily="34" charset="-120"/>
              </a:rPr>
              <a:t>Product fields are private and accessed through getters/setters.</a:t>
            </a:r>
            <a:endParaRPr lang="en-US" sz="1400" dirty="0"/>
          </a:p>
        </p:txBody>
      </p:sp>
      <p:sp>
        <p:nvSpPr>
          <p:cNvPr id="10" name="Shape 8"/>
          <p:cNvSpPr/>
          <p:nvPr/>
        </p:nvSpPr>
        <p:spPr>
          <a:xfrm>
            <a:off x="516677" y="3087601"/>
            <a:ext cx="5023845" cy="868846"/>
          </a:xfrm>
          <a:prstGeom prst="roundRect">
            <a:avLst>
              <a:gd name="adj" fmla="val 14545"/>
            </a:avLst>
          </a:prstGeom>
          <a:solidFill>
            <a:srgbClr val="EFF6FF"/>
          </a:solidFill>
          <a:ln w="12700">
            <a:solidFill>
              <a:srgbClr val="D0D7E2"/>
            </a:solidFill>
            <a:prstDash val="solid"/>
          </a:ln>
        </p:spPr>
        <p:txBody>
          <a:bodyPr/>
          <a:lstStyle/>
          <a:p>
            <a:endParaRPr lang="en-CA"/>
          </a:p>
        </p:txBody>
      </p:sp>
      <p:sp>
        <p:nvSpPr>
          <p:cNvPr id="11" name="Text 9"/>
          <p:cNvSpPr/>
          <p:nvPr/>
        </p:nvSpPr>
        <p:spPr>
          <a:xfrm>
            <a:off x="690413" y="3197329"/>
            <a:ext cx="2021791" cy="567014"/>
          </a:xfrm>
          <a:prstGeom prst="rect">
            <a:avLst/>
          </a:prstGeom>
          <a:noFill/>
          <a:ln/>
        </p:spPr>
        <p:txBody>
          <a:bodyPr wrap="square" lIns="0" tIns="0" rIns="0" bIns="0" rtlCol="0" anchor="ctr"/>
          <a:lstStyle/>
          <a:p>
            <a:pPr marL="0" indent="0">
              <a:buNone/>
            </a:pPr>
            <a:r>
              <a:rPr lang="en-US" sz="1600" b="1" dirty="0">
                <a:solidFill>
                  <a:srgbClr val="1E3A5F"/>
                </a:solidFill>
                <a:latin typeface="Aptos Display" pitchFamily="34" charset="0"/>
                <a:ea typeface="Aptos Display" pitchFamily="34" charset="-122"/>
                <a:cs typeface="Aptos Display" pitchFamily="34" charset="-120"/>
              </a:rPr>
              <a:t>Inheritance</a:t>
            </a:r>
            <a:endParaRPr lang="en-US" sz="1600" dirty="0"/>
          </a:p>
        </p:txBody>
      </p:sp>
      <p:sp>
        <p:nvSpPr>
          <p:cNvPr id="12" name="Text 10"/>
          <p:cNvSpPr/>
          <p:nvPr/>
        </p:nvSpPr>
        <p:spPr>
          <a:xfrm>
            <a:off x="2162597" y="3215618"/>
            <a:ext cx="3196694" cy="637890"/>
          </a:xfrm>
          <a:prstGeom prst="rect">
            <a:avLst/>
          </a:prstGeom>
          <a:noFill/>
          <a:ln/>
        </p:spPr>
        <p:txBody>
          <a:bodyPr wrap="square" lIns="0" tIns="0" rIns="0" bIns="0" rtlCol="0" anchor="ctr">
            <a:normAutofit/>
          </a:bodyPr>
          <a:lstStyle/>
          <a:p>
            <a:pPr marL="0" indent="0">
              <a:buNone/>
            </a:pPr>
            <a:r>
              <a:rPr lang="en-US" sz="1400" dirty="0">
                <a:solidFill>
                  <a:srgbClr val="374151"/>
                </a:solidFill>
                <a:latin typeface="Aptos" pitchFamily="34" charset="0"/>
                <a:ea typeface="Aptos" pitchFamily="34" charset="-122"/>
                <a:cs typeface="Aptos" pitchFamily="34" charset="-120"/>
              </a:rPr>
              <a:t>GroceryProduct and ElectronicProduct extend Product.</a:t>
            </a:r>
            <a:endParaRPr lang="en-US" sz="1400" dirty="0"/>
          </a:p>
        </p:txBody>
      </p:sp>
      <p:sp>
        <p:nvSpPr>
          <p:cNvPr id="13" name="Shape 11"/>
          <p:cNvSpPr/>
          <p:nvPr/>
        </p:nvSpPr>
        <p:spPr>
          <a:xfrm>
            <a:off x="6322378" y="1754839"/>
            <a:ext cx="5023845" cy="868846"/>
          </a:xfrm>
          <a:prstGeom prst="roundRect">
            <a:avLst>
              <a:gd name="adj" fmla="val 14545"/>
            </a:avLst>
          </a:prstGeom>
          <a:solidFill>
            <a:srgbClr val="FFFFFF"/>
          </a:solidFill>
          <a:ln w="12700">
            <a:solidFill>
              <a:srgbClr val="D0D7E2"/>
            </a:solidFill>
            <a:prstDash val="solid"/>
          </a:ln>
        </p:spPr>
        <p:txBody>
          <a:bodyPr/>
          <a:lstStyle/>
          <a:p>
            <a:endParaRPr lang="en-CA"/>
          </a:p>
        </p:txBody>
      </p:sp>
      <p:sp>
        <p:nvSpPr>
          <p:cNvPr id="14" name="Text 12"/>
          <p:cNvSpPr/>
          <p:nvPr/>
        </p:nvSpPr>
        <p:spPr>
          <a:xfrm>
            <a:off x="6496114" y="1864567"/>
            <a:ext cx="2021791" cy="567014"/>
          </a:xfrm>
          <a:prstGeom prst="rect">
            <a:avLst/>
          </a:prstGeom>
          <a:noFill/>
          <a:ln/>
        </p:spPr>
        <p:txBody>
          <a:bodyPr wrap="square" lIns="0" tIns="0" rIns="0" bIns="0" rtlCol="0" anchor="ctr"/>
          <a:lstStyle/>
          <a:p>
            <a:pPr marL="0" indent="0">
              <a:buNone/>
            </a:pPr>
            <a:r>
              <a:rPr lang="en-US" sz="1600" b="1" dirty="0">
                <a:solidFill>
                  <a:srgbClr val="1E3A5F"/>
                </a:solidFill>
                <a:latin typeface="Aptos Display" pitchFamily="34" charset="0"/>
                <a:ea typeface="Aptos Display" pitchFamily="34" charset="-122"/>
                <a:cs typeface="Aptos Display" pitchFamily="34" charset="-120"/>
              </a:rPr>
              <a:t>Polymorphism</a:t>
            </a:r>
            <a:endParaRPr lang="en-US" sz="1200" dirty="0"/>
          </a:p>
        </p:txBody>
      </p:sp>
      <p:sp>
        <p:nvSpPr>
          <p:cNvPr id="15" name="Text 13"/>
          <p:cNvSpPr/>
          <p:nvPr/>
        </p:nvSpPr>
        <p:spPr>
          <a:xfrm>
            <a:off x="7968298" y="1882856"/>
            <a:ext cx="3196694" cy="637890"/>
          </a:xfrm>
          <a:prstGeom prst="rect">
            <a:avLst/>
          </a:prstGeom>
          <a:noFill/>
          <a:ln/>
        </p:spPr>
        <p:txBody>
          <a:bodyPr wrap="square" lIns="0" tIns="0" rIns="0" bIns="0" rtlCol="0" anchor="ctr">
            <a:normAutofit/>
          </a:bodyPr>
          <a:lstStyle/>
          <a:p>
            <a:pPr marL="0" indent="0">
              <a:buNone/>
            </a:pPr>
            <a:r>
              <a:rPr lang="en-US" sz="1400" dirty="0">
                <a:solidFill>
                  <a:srgbClr val="374151"/>
                </a:solidFill>
                <a:latin typeface="Aptos" pitchFamily="34" charset="0"/>
                <a:ea typeface="Aptos" pitchFamily="34" charset="-122"/>
                <a:cs typeface="Aptos" pitchFamily="34" charset="-120"/>
              </a:rPr>
              <a:t>Product reference can hold different product child types.</a:t>
            </a:r>
            <a:endParaRPr lang="en-US" sz="1400" dirty="0"/>
          </a:p>
        </p:txBody>
      </p:sp>
      <p:sp>
        <p:nvSpPr>
          <p:cNvPr id="16" name="Shape 14"/>
          <p:cNvSpPr/>
          <p:nvPr/>
        </p:nvSpPr>
        <p:spPr>
          <a:xfrm>
            <a:off x="6322378" y="3087601"/>
            <a:ext cx="5023845" cy="868846"/>
          </a:xfrm>
          <a:prstGeom prst="roundRect">
            <a:avLst>
              <a:gd name="adj" fmla="val 14545"/>
            </a:avLst>
          </a:prstGeom>
          <a:solidFill>
            <a:srgbClr val="EFF6FF"/>
          </a:solidFill>
          <a:ln w="12700">
            <a:solidFill>
              <a:srgbClr val="D0D7E2"/>
            </a:solidFill>
            <a:prstDash val="solid"/>
          </a:ln>
        </p:spPr>
        <p:txBody>
          <a:bodyPr/>
          <a:lstStyle/>
          <a:p>
            <a:endParaRPr lang="en-CA"/>
          </a:p>
        </p:txBody>
      </p:sp>
      <p:sp>
        <p:nvSpPr>
          <p:cNvPr id="17" name="Text 15"/>
          <p:cNvSpPr/>
          <p:nvPr/>
        </p:nvSpPr>
        <p:spPr>
          <a:xfrm>
            <a:off x="6496114" y="3197329"/>
            <a:ext cx="2021791" cy="567014"/>
          </a:xfrm>
          <a:prstGeom prst="rect">
            <a:avLst/>
          </a:prstGeom>
          <a:noFill/>
          <a:ln/>
        </p:spPr>
        <p:txBody>
          <a:bodyPr wrap="square" lIns="0" tIns="0" rIns="0" bIns="0" rtlCol="0" anchor="ctr"/>
          <a:lstStyle/>
          <a:p>
            <a:pPr marL="0" indent="0">
              <a:buNone/>
            </a:pPr>
            <a:r>
              <a:rPr lang="en-US" sz="1400" b="1" dirty="0">
                <a:solidFill>
                  <a:srgbClr val="1E3A5F"/>
                </a:solidFill>
                <a:latin typeface="Aptos Display" pitchFamily="34" charset="0"/>
                <a:ea typeface="Aptos Display" pitchFamily="34" charset="-122"/>
                <a:cs typeface="Aptos Display" pitchFamily="34" charset="-120"/>
              </a:rPr>
              <a:t>Interface</a:t>
            </a:r>
            <a:endParaRPr lang="en-US" sz="1200" dirty="0"/>
          </a:p>
        </p:txBody>
      </p:sp>
      <p:sp>
        <p:nvSpPr>
          <p:cNvPr id="18" name="Text 16"/>
          <p:cNvSpPr/>
          <p:nvPr/>
        </p:nvSpPr>
        <p:spPr>
          <a:xfrm>
            <a:off x="7968298" y="3215618"/>
            <a:ext cx="3196694" cy="637890"/>
          </a:xfrm>
          <a:prstGeom prst="rect">
            <a:avLst/>
          </a:prstGeom>
          <a:noFill/>
          <a:ln/>
        </p:spPr>
        <p:txBody>
          <a:bodyPr wrap="square" lIns="0" tIns="0" rIns="0" bIns="0" rtlCol="0" anchor="ctr">
            <a:normAutofit/>
          </a:bodyPr>
          <a:lstStyle/>
          <a:p>
            <a:pPr marL="0" indent="0">
              <a:buNone/>
            </a:pPr>
            <a:r>
              <a:rPr lang="en-US" sz="1400" dirty="0">
                <a:solidFill>
                  <a:srgbClr val="374151"/>
                </a:solidFill>
                <a:latin typeface="Aptos" pitchFamily="34" charset="0"/>
                <a:ea typeface="Aptos" pitchFamily="34" charset="-122"/>
                <a:cs typeface="Aptos" pitchFamily="34" charset="-120"/>
              </a:rPr>
              <a:t>StockOperations defines stock methods for InventoryManager.</a:t>
            </a:r>
            <a:endParaRPr lang="en-US" sz="1400" dirty="0"/>
          </a:p>
        </p:txBody>
      </p:sp>
      <p:sp>
        <p:nvSpPr>
          <p:cNvPr id="19" name="Shape 17"/>
          <p:cNvSpPr/>
          <p:nvPr/>
        </p:nvSpPr>
        <p:spPr>
          <a:xfrm>
            <a:off x="3383445" y="4426337"/>
            <a:ext cx="5702890" cy="868846"/>
          </a:xfrm>
          <a:prstGeom prst="roundRect">
            <a:avLst>
              <a:gd name="adj" fmla="val 14545"/>
            </a:avLst>
          </a:prstGeom>
          <a:solidFill>
            <a:srgbClr val="FFFFFF"/>
          </a:solidFill>
          <a:ln w="12700">
            <a:solidFill>
              <a:srgbClr val="D0D7E2"/>
            </a:solidFill>
            <a:prstDash val="solid"/>
          </a:ln>
        </p:spPr>
        <p:txBody>
          <a:bodyPr/>
          <a:lstStyle/>
          <a:p>
            <a:endParaRPr lang="en-CA"/>
          </a:p>
        </p:txBody>
      </p:sp>
      <p:sp>
        <p:nvSpPr>
          <p:cNvPr id="20" name="Text 18"/>
          <p:cNvSpPr/>
          <p:nvPr/>
        </p:nvSpPr>
        <p:spPr>
          <a:xfrm>
            <a:off x="3557181" y="4563497"/>
            <a:ext cx="1671171" cy="567014"/>
          </a:xfrm>
          <a:prstGeom prst="rect">
            <a:avLst/>
          </a:prstGeom>
          <a:noFill/>
          <a:ln/>
        </p:spPr>
        <p:txBody>
          <a:bodyPr wrap="square" lIns="0" tIns="0" rIns="0" bIns="0" rtlCol="0" anchor="ctr"/>
          <a:lstStyle/>
          <a:p>
            <a:pPr marL="0" indent="0">
              <a:buNone/>
            </a:pPr>
            <a:r>
              <a:rPr lang="en-US" sz="1600" b="1" dirty="0">
                <a:solidFill>
                  <a:srgbClr val="1E3A5F"/>
                </a:solidFill>
                <a:latin typeface="Aptos Display" pitchFamily="34" charset="0"/>
                <a:ea typeface="Aptos Display" pitchFamily="34" charset="-122"/>
                <a:cs typeface="Aptos Display" pitchFamily="34" charset="-120"/>
              </a:rPr>
              <a:t>Exception Handling</a:t>
            </a:r>
            <a:endParaRPr lang="en-US" sz="1600" dirty="0"/>
          </a:p>
        </p:txBody>
      </p:sp>
      <p:sp>
        <p:nvSpPr>
          <p:cNvPr id="21" name="Text 19"/>
          <p:cNvSpPr/>
          <p:nvPr/>
        </p:nvSpPr>
        <p:spPr>
          <a:xfrm>
            <a:off x="5359291" y="4554354"/>
            <a:ext cx="3298846" cy="637890"/>
          </a:xfrm>
          <a:prstGeom prst="rect">
            <a:avLst/>
          </a:prstGeom>
          <a:noFill/>
          <a:ln/>
        </p:spPr>
        <p:txBody>
          <a:bodyPr wrap="square" lIns="0" tIns="0" rIns="0" bIns="0" rtlCol="0" anchor="ctr">
            <a:normAutofit/>
          </a:bodyPr>
          <a:lstStyle/>
          <a:p>
            <a:pPr marL="0" indent="0">
              <a:buNone/>
            </a:pPr>
            <a:r>
              <a:rPr lang="en-US" sz="1400" dirty="0">
                <a:solidFill>
                  <a:srgbClr val="374151"/>
                </a:solidFill>
                <a:latin typeface="Aptos" pitchFamily="34" charset="0"/>
                <a:ea typeface="Aptos" pitchFamily="34" charset="-122"/>
                <a:cs typeface="Aptos" pitchFamily="34" charset="-120"/>
              </a:rPr>
              <a:t>ProductException shows meaningful errors and alerts.</a:t>
            </a:r>
            <a:endParaRPr lang="en-US" sz="1400" dirty="0"/>
          </a:p>
        </p:txBody>
      </p:sp>
      <p:sp>
        <p:nvSpPr>
          <p:cNvPr id="28" name="Slide Number Placeholder 0"/>
          <p:cNvSpPr>
            <a:spLocks noGrp="1"/>
          </p:cNvSpPr>
          <p:nvPr>
            <p:ph type="sldNum" sz="quarter" idx="4294967295"/>
          </p:nvPr>
        </p:nvSpPr>
        <p:spPr>
          <a:xfrm>
            <a:off x="11475720" y="664768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4" name="Text 2"/>
          <p:cNvSpPr/>
          <p:nvPr/>
        </p:nvSpPr>
        <p:spPr>
          <a:xfrm>
            <a:off x="502920" y="384048"/>
            <a:ext cx="10789920" cy="320040"/>
          </a:xfrm>
          <a:prstGeom prst="rect">
            <a:avLst/>
          </a:prstGeom>
          <a:noFill/>
          <a:ln/>
        </p:spPr>
        <p:txBody>
          <a:bodyPr wrap="square" lIns="0" tIns="0" rIns="0" bIns="0" rtlCol="0" anchor="ctr"/>
          <a:lstStyle/>
          <a:p>
            <a:pPr marL="0" indent="0">
              <a:buNone/>
            </a:pPr>
            <a:r>
              <a:rPr lang="en-US" sz="2500" b="1" dirty="0">
                <a:solidFill>
                  <a:srgbClr val="1E3A5F"/>
                </a:solidFill>
                <a:latin typeface="Aptos Display" pitchFamily="34" charset="0"/>
                <a:ea typeface="Aptos Display" pitchFamily="34" charset="-122"/>
                <a:cs typeface="Aptos Display" pitchFamily="34" charset="-120"/>
              </a:rPr>
              <a:t>Database Design</a:t>
            </a:r>
            <a:endParaRPr lang="en-US" sz="2500" dirty="0"/>
          </a:p>
        </p:txBody>
      </p:sp>
      <p:sp>
        <p:nvSpPr>
          <p:cNvPr id="5" name="Text 3"/>
          <p:cNvSpPr/>
          <p:nvPr/>
        </p:nvSpPr>
        <p:spPr>
          <a:xfrm>
            <a:off x="498348" y="833093"/>
            <a:ext cx="10424160" cy="201168"/>
          </a:xfrm>
          <a:prstGeom prst="rect">
            <a:avLst/>
          </a:prstGeom>
          <a:noFill/>
          <a:ln/>
        </p:spPr>
        <p:txBody>
          <a:bodyPr wrap="square" lIns="0" tIns="0" rIns="0" bIns="0" rtlCol="0" anchor="ctr"/>
          <a:lstStyle/>
          <a:p>
            <a:pPr marL="0" indent="0">
              <a:buNone/>
            </a:pPr>
            <a:r>
              <a:rPr lang="en-US" sz="1200" dirty="0">
                <a:solidFill>
                  <a:srgbClr val="667085"/>
                </a:solidFill>
                <a:latin typeface="Aptos" pitchFamily="34" charset="0"/>
                <a:ea typeface="Aptos" pitchFamily="34" charset="-122"/>
                <a:cs typeface="Aptos" pitchFamily="34" charset="-120"/>
              </a:rPr>
              <a:t>MySQL table is used to store inventory data</a:t>
            </a:r>
            <a:endParaRPr lang="en-US" sz="1200" dirty="0"/>
          </a:p>
        </p:txBody>
      </p:sp>
      <p:sp>
        <p:nvSpPr>
          <p:cNvPr id="6" name="Shape 4"/>
          <p:cNvSpPr/>
          <p:nvPr/>
        </p:nvSpPr>
        <p:spPr>
          <a:xfrm>
            <a:off x="498348" y="1079981"/>
            <a:ext cx="11155680" cy="0"/>
          </a:xfrm>
          <a:prstGeom prst="line">
            <a:avLst/>
          </a:prstGeom>
          <a:noFill/>
          <a:ln w="12700">
            <a:solidFill>
              <a:srgbClr val="CBD5E1"/>
            </a:solidFill>
            <a:prstDash val="solid"/>
          </a:ln>
        </p:spPr>
        <p:txBody>
          <a:bodyPr/>
          <a:lstStyle/>
          <a:p>
            <a:endParaRPr lang="en-CA"/>
          </a:p>
        </p:txBody>
      </p:sp>
      <p:sp>
        <p:nvSpPr>
          <p:cNvPr id="7" name="Text 5"/>
          <p:cNvSpPr/>
          <p:nvPr/>
        </p:nvSpPr>
        <p:spPr>
          <a:xfrm>
            <a:off x="411480" y="1223898"/>
            <a:ext cx="2926080" cy="256032"/>
          </a:xfrm>
          <a:prstGeom prst="rect">
            <a:avLst/>
          </a:prstGeom>
          <a:noFill/>
          <a:ln/>
        </p:spPr>
        <p:txBody>
          <a:bodyPr wrap="square" lIns="0" tIns="0" rIns="0" bIns="0" rtlCol="0" anchor="ctr"/>
          <a:lstStyle/>
          <a:p>
            <a:pPr marL="0" indent="0">
              <a:buNone/>
            </a:pPr>
            <a:r>
              <a:rPr lang="en-US" sz="1700" b="1" dirty="0">
                <a:solidFill>
                  <a:srgbClr val="1E3A5F"/>
                </a:solidFill>
                <a:latin typeface="Aptos Display" pitchFamily="34" charset="0"/>
                <a:ea typeface="Aptos Display" pitchFamily="34" charset="-122"/>
                <a:cs typeface="Aptos Display" pitchFamily="34" charset="-120"/>
              </a:rPr>
              <a:t>Table Name: products</a:t>
            </a:r>
            <a:endParaRPr lang="en-US" sz="1700" dirty="0"/>
          </a:p>
        </p:txBody>
      </p:sp>
      <p:sp>
        <p:nvSpPr>
          <p:cNvPr id="8" name="Shape 6"/>
          <p:cNvSpPr/>
          <p:nvPr/>
        </p:nvSpPr>
        <p:spPr>
          <a:xfrm>
            <a:off x="438912" y="1617090"/>
            <a:ext cx="5212080" cy="4160520"/>
          </a:xfrm>
          <a:prstGeom prst="rect">
            <a:avLst/>
          </a:prstGeom>
          <a:solidFill>
            <a:srgbClr val="FFFFFF"/>
          </a:solidFill>
          <a:ln w="12700">
            <a:solidFill>
              <a:srgbClr val="94A3B8"/>
            </a:solidFill>
            <a:prstDash val="solid"/>
          </a:ln>
        </p:spPr>
        <p:txBody>
          <a:bodyPr/>
          <a:lstStyle/>
          <a:p>
            <a:endParaRPr lang="en-CA"/>
          </a:p>
        </p:txBody>
      </p:sp>
      <p:sp>
        <p:nvSpPr>
          <p:cNvPr id="9" name="Shape 7"/>
          <p:cNvSpPr/>
          <p:nvPr/>
        </p:nvSpPr>
        <p:spPr>
          <a:xfrm>
            <a:off x="438912" y="1617090"/>
            <a:ext cx="5212080" cy="502920"/>
          </a:xfrm>
          <a:prstGeom prst="rect">
            <a:avLst/>
          </a:prstGeom>
          <a:solidFill>
            <a:srgbClr val="1E3A5F"/>
          </a:solidFill>
          <a:ln w="6350">
            <a:solidFill>
              <a:srgbClr val="CBD5E1"/>
            </a:solidFill>
            <a:prstDash val="solid"/>
          </a:ln>
        </p:spPr>
        <p:txBody>
          <a:bodyPr/>
          <a:lstStyle/>
          <a:p>
            <a:endParaRPr lang="en-CA"/>
          </a:p>
        </p:txBody>
      </p:sp>
      <p:sp>
        <p:nvSpPr>
          <p:cNvPr id="10" name="Text 8"/>
          <p:cNvSpPr/>
          <p:nvPr/>
        </p:nvSpPr>
        <p:spPr>
          <a:xfrm>
            <a:off x="621792" y="1772538"/>
            <a:ext cx="1645920" cy="310896"/>
          </a:xfrm>
          <a:prstGeom prst="rect">
            <a:avLst/>
          </a:prstGeom>
          <a:noFill/>
          <a:ln/>
        </p:spPr>
        <p:txBody>
          <a:bodyPr wrap="square" lIns="0" tIns="0" rIns="0" bIns="0" rtlCol="0" anchor="ctr"/>
          <a:lstStyle/>
          <a:p>
            <a:pPr marL="0" indent="0">
              <a:buNone/>
            </a:pPr>
            <a:r>
              <a:rPr lang="en-US" sz="1200" b="1" dirty="0">
                <a:solidFill>
                  <a:srgbClr val="FFFFFF"/>
                </a:solidFill>
                <a:latin typeface="Aptos" pitchFamily="34" charset="0"/>
                <a:ea typeface="Aptos" pitchFamily="34" charset="-122"/>
                <a:cs typeface="Aptos" pitchFamily="34" charset="-120"/>
              </a:rPr>
              <a:t>Column</a:t>
            </a:r>
            <a:endParaRPr lang="en-US" sz="1200" dirty="0"/>
          </a:p>
        </p:txBody>
      </p:sp>
      <p:sp>
        <p:nvSpPr>
          <p:cNvPr id="11" name="Text 9"/>
          <p:cNvSpPr/>
          <p:nvPr/>
        </p:nvSpPr>
        <p:spPr>
          <a:xfrm>
            <a:off x="2468880" y="1772538"/>
            <a:ext cx="2743200" cy="310896"/>
          </a:xfrm>
          <a:prstGeom prst="rect">
            <a:avLst/>
          </a:prstGeom>
          <a:noFill/>
          <a:ln/>
        </p:spPr>
        <p:txBody>
          <a:bodyPr wrap="square" lIns="0" tIns="0" rIns="0" bIns="0" rtlCol="0" anchor="ctr"/>
          <a:lstStyle/>
          <a:p>
            <a:pPr marL="0" indent="0">
              <a:buNone/>
            </a:pPr>
            <a:r>
              <a:rPr lang="en-US" sz="1200" b="1" dirty="0">
                <a:solidFill>
                  <a:srgbClr val="FFFFFF"/>
                </a:solidFill>
                <a:latin typeface="Aptos" pitchFamily="34" charset="0"/>
                <a:ea typeface="Aptos" pitchFamily="34" charset="-122"/>
                <a:cs typeface="Aptos" pitchFamily="34" charset="-120"/>
              </a:rPr>
              <a:t>Type / Purpose</a:t>
            </a:r>
            <a:endParaRPr lang="en-US" sz="1200" dirty="0"/>
          </a:p>
        </p:txBody>
      </p:sp>
      <p:sp>
        <p:nvSpPr>
          <p:cNvPr id="12" name="Shape 10"/>
          <p:cNvSpPr/>
          <p:nvPr/>
        </p:nvSpPr>
        <p:spPr>
          <a:xfrm>
            <a:off x="438912" y="2120010"/>
            <a:ext cx="5212080" cy="502920"/>
          </a:xfrm>
          <a:prstGeom prst="rect">
            <a:avLst/>
          </a:prstGeom>
          <a:solidFill>
            <a:srgbClr val="F8FAFC"/>
          </a:solidFill>
          <a:ln w="6350">
            <a:solidFill>
              <a:srgbClr val="CBD5E1"/>
            </a:solidFill>
            <a:prstDash val="solid"/>
          </a:ln>
        </p:spPr>
        <p:txBody>
          <a:bodyPr/>
          <a:lstStyle/>
          <a:p>
            <a:endParaRPr lang="en-CA"/>
          </a:p>
        </p:txBody>
      </p:sp>
      <p:sp>
        <p:nvSpPr>
          <p:cNvPr id="13" name="Text 11"/>
          <p:cNvSpPr/>
          <p:nvPr/>
        </p:nvSpPr>
        <p:spPr>
          <a:xfrm>
            <a:off x="621792" y="2275458"/>
            <a:ext cx="1645920" cy="310896"/>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product_id</a:t>
            </a:r>
            <a:endParaRPr lang="en-US" sz="1200" dirty="0"/>
          </a:p>
        </p:txBody>
      </p:sp>
      <p:sp>
        <p:nvSpPr>
          <p:cNvPr id="14" name="Text 12"/>
          <p:cNvSpPr/>
          <p:nvPr/>
        </p:nvSpPr>
        <p:spPr>
          <a:xfrm>
            <a:off x="2468880" y="2275458"/>
            <a:ext cx="2743200" cy="310896"/>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Primary key / unique ID</a:t>
            </a:r>
            <a:endParaRPr lang="en-US" sz="1200" dirty="0"/>
          </a:p>
        </p:txBody>
      </p:sp>
      <p:sp>
        <p:nvSpPr>
          <p:cNvPr id="15" name="Shape 13"/>
          <p:cNvSpPr/>
          <p:nvPr/>
        </p:nvSpPr>
        <p:spPr>
          <a:xfrm>
            <a:off x="438912" y="2622930"/>
            <a:ext cx="5212080" cy="502920"/>
          </a:xfrm>
          <a:prstGeom prst="rect">
            <a:avLst/>
          </a:prstGeom>
          <a:solidFill>
            <a:srgbClr val="EEF2F7"/>
          </a:solidFill>
          <a:ln w="6350">
            <a:solidFill>
              <a:srgbClr val="CBD5E1"/>
            </a:solidFill>
            <a:prstDash val="solid"/>
          </a:ln>
        </p:spPr>
        <p:txBody>
          <a:bodyPr/>
          <a:lstStyle/>
          <a:p>
            <a:endParaRPr lang="en-CA"/>
          </a:p>
        </p:txBody>
      </p:sp>
      <p:sp>
        <p:nvSpPr>
          <p:cNvPr id="16" name="Text 14"/>
          <p:cNvSpPr/>
          <p:nvPr/>
        </p:nvSpPr>
        <p:spPr>
          <a:xfrm>
            <a:off x="621792" y="2778378"/>
            <a:ext cx="1645920" cy="310896"/>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product_name</a:t>
            </a:r>
            <a:endParaRPr lang="en-US" sz="1200" dirty="0"/>
          </a:p>
        </p:txBody>
      </p:sp>
      <p:sp>
        <p:nvSpPr>
          <p:cNvPr id="17" name="Text 15"/>
          <p:cNvSpPr/>
          <p:nvPr/>
        </p:nvSpPr>
        <p:spPr>
          <a:xfrm>
            <a:off x="2468880" y="2778378"/>
            <a:ext cx="2743200" cy="310896"/>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Name of item</a:t>
            </a:r>
            <a:endParaRPr lang="en-US" sz="1200" dirty="0"/>
          </a:p>
        </p:txBody>
      </p:sp>
      <p:sp>
        <p:nvSpPr>
          <p:cNvPr id="18" name="Shape 16"/>
          <p:cNvSpPr/>
          <p:nvPr/>
        </p:nvSpPr>
        <p:spPr>
          <a:xfrm>
            <a:off x="438912" y="3125850"/>
            <a:ext cx="5212080" cy="502920"/>
          </a:xfrm>
          <a:prstGeom prst="rect">
            <a:avLst/>
          </a:prstGeom>
          <a:solidFill>
            <a:srgbClr val="F8FAFC"/>
          </a:solidFill>
          <a:ln w="6350">
            <a:solidFill>
              <a:srgbClr val="CBD5E1"/>
            </a:solidFill>
            <a:prstDash val="solid"/>
          </a:ln>
        </p:spPr>
        <p:txBody>
          <a:bodyPr/>
          <a:lstStyle/>
          <a:p>
            <a:endParaRPr lang="en-CA"/>
          </a:p>
        </p:txBody>
      </p:sp>
      <p:sp>
        <p:nvSpPr>
          <p:cNvPr id="19" name="Text 17"/>
          <p:cNvSpPr/>
          <p:nvPr/>
        </p:nvSpPr>
        <p:spPr>
          <a:xfrm>
            <a:off x="621792" y="3281298"/>
            <a:ext cx="1645920" cy="310896"/>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price</a:t>
            </a:r>
            <a:endParaRPr lang="en-US" sz="1200" dirty="0"/>
          </a:p>
        </p:txBody>
      </p:sp>
      <p:sp>
        <p:nvSpPr>
          <p:cNvPr id="20" name="Text 18"/>
          <p:cNvSpPr/>
          <p:nvPr/>
        </p:nvSpPr>
        <p:spPr>
          <a:xfrm>
            <a:off x="2468880" y="3281298"/>
            <a:ext cx="2743200" cy="310896"/>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Selling price</a:t>
            </a:r>
            <a:endParaRPr lang="en-US" sz="1200" dirty="0"/>
          </a:p>
        </p:txBody>
      </p:sp>
      <p:sp>
        <p:nvSpPr>
          <p:cNvPr id="21" name="Shape 19"/>
          <p:cNvSpPr/>
          <p:nvPr/>
        </p:nvSpPr>
        <p:spPr>
          <a:xfrm>
            <a:off x="438912" y="3628770"/>
            <a:ext cx="5212080" cy="502920"/>
          </a:xfrm>
          <a:prstGeom prst="rect">
            <a:avLst/>
          </a:prstGeom>
          <a:solidFill>
            <a:srgbClr val="EEF2F7"/>
          </a:solidFill>
          <a:ln w="6350">
            <a:solidFill>
              <a:srgbClr val="CBD5E1"/>
            </a:solidFill>
            <a:prstDash val="solid"/>
          </a:ln>
        </p:spPr>
        <p:txBody>
          <a:bodyPr/>
          <a:lstStyle/>
          <a:p>
            <a:endParaRPr lang="en-CA"/>
          </a:p>
        </p:txBody>
      </p:sp>
      <p:sp>
        <p:nvSpPr>
          <p:cNvPr id="22" name="Text 20"/>
          <p:cNvSpPr/>
          <p:nvPr/>
        </p:nvSpPr>
        <p:spPr>
          <a:xfrm>
            <a:off x="621792" y="3784218"/>
            <a:ext cx="1645920" cy="310896"/>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quantity</a:t>
            </a:r>
            <a:endParaRPr lang="en-US" sz="1200" dirty="0"/>
          </a:p>
        </p:txBody>
      </p:sp>
      <p:sp>
        <p:nvSpPr>
          <p:cNvPr id="23" name="Text 21"/>
          <p:cNvSpPr/>
          <p:nvPr/>
        </p:nvSpPr>
        <p:spPr>
          <a:xfrm>
            <a:off x="2468880" y="3784218"/>
            <a:ext cx="2743200" cy="310896"/>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Available stock</a:t>
            </a:r>
            <a:endParaRPr lang="en-US" sz="1200" dirty="0"/>
          </a:p>
        </p:txBody>
      </p:sp>
      <p:sp>
        <p:nvSpPr>
          <p:cNvPr id="24" name="Shape 22"/>
          <p:cNvSpPr/>
          <p:nvPr/>
        </p:nvSpPr>
        <p:spPr>
          <a:xfrm>
            <a:off x="438912" y="4131690"/>
            <a:ext cx="5212080" cy="502920"/>
          </a:xfrm>
          <a:prstGeom prst="rect">
            <a:avLst/>
          </a:prstGeom>
          <a:solidFill>
            <a:srgbClr val="F8FAFC"/>
          </a:solidFill>
          <a:ln w="6350">
            <a:solidFill>
              <a:srgbClr val="CBD5E1"/>
            </a:solidFill>
            <a:prstDash val="solid"/>
          </a:ln>
        </p:spPr>
        <p:txBody>
          <a:bodyPr/>
          <a:lstStyle/>
          <a:p>
            <a:endParaRPr lang="en-CA"/>
          </a:p>
        </p:txBody>
      </p:sp>
      <p:sp>
        <p:nvSpPr>
          <p:cNvPr id="25" name="Text 23"/>
          <p:cNvSpPr/>
          <p:nvPr/>
        </p:nvSpPr>
        <p:spPr>
          <a:xfrm>
            <a:off x="621792" y="4287138"/>
            <a:ext cx="1645920" cy="310896"/>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category</a:t>
            </a:r>
            <a:endParaRPr lang="en-US" sz="1200" dirty="0"/>
          </a:p>
        </p:txBody>
      </p:sp>
      <p:sp>
        <p:nvSpPr>
          <p:cNvPr id="26" name="Text 24"/>
          <p:cNvSpPr/>
          <p:nvPr/>
        </p:nvSpPr>
        <p:spPr>
          <a:xfrm>
            <a:off x="2468880" y="4287138"/>
            <a:ext cx="2743200" cy="310896"/>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Grocery / Electronic / Other</a:t>
            </a:r>
            <a:endParaRPr lang="en-US" sz="1200" dirty="0"/>
          </a:p>
        </p:txBody>
      </p:sp>
      <p:sp>
        <p:nvSpPr>
          <p:cNvPr id="27" name="Shape 25"/>
          <p:cNvSpPr/>
          <p:nvPr/>
        </p:nvSpPr>
        <p:spPr>
          <a:xfrm>
            <a:off x="438912" y="4634610"/>
            <a:ext cx="5212080" cy="502920"/>
          </a:xfrm>
          <a:prstGeom prst="rect">
            <a:avLst/>
          </a:prstGeom>
          <a:solidFill>
            <a:srgbClr val="EEF2F7"/>
          </a:solidFill>
          <a:ln w="6350">
            <a:solidFill>
              <a:srgbClr val="CBD5E1"/>
            </a:solidFill>
            <a:prstDash val="solid"/>
          </a:ln>
        </p:spPr>
        <p:txBody>
          <a:bodyPr/>
          <a:lstStyle/>
          <a:p>
            <a:endParaRPr lang="en-CA"/>
          </a:p>
        </p:txBody>
      </p:sp>
      <p:sp>
        <p:nvSpPr>
          <p:cNvPr id="28" name="Text 26"/>
          <p:cNvSpPr/>
          <p:nvPr/>
        </p:nvSpPr>
        <p:spPr>
          <a:xfrm>
            <a:off x="621792" y="4790058"/>
            <a:ext cx="1645920" cy="310896"/>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expiry_date</a:t>
            </a:r>
            <a:endParaRPr lang="en-US" sz="1200" dirty="0"/>
          </a:p>
        </p:txBody>
      </p:sp>
      <p:sp>
        <p:nvSpPr>
          <p:cNvPr id="29" name="Text 27"/>
          <p:cNvSpPr/>
          <p:nvPr/>
        </p:nvSpPr>
        <p:spPr>
          <a:xfrm>
            <a:off x="2468880" y="4790058"/>
            <a:ext cx="2743200" cy="310896"/>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Only for grocery products</a:t>
            </a:r>
            <a:endParaRPr lang="en-US" sz="1200" dirty="0"/>
          </a:p>
        </p:txBody>
      </p:sp>
      <p:sp>
        <p:nvSpPr>
          <p:cNvPr id="30" name="Shape 28"/>
          <p:cNvSpPr/>
          <p:nvPr/>
        </p:nvSpPr>
        <p:spPr>
          <a:xfrm>
            <a:off x="438912" y="5137530"/>
            <a:ext cx="5212080" cy="502920"/>
          </a:xfrm>
          <a:prstGeom prst="rect">
            <a:avLst/>
          </a:prstGeom>
          <a:solidFill>
            <a:srgbClr val="F8FAFC"/>
          </a:solidFill>
          <a:ln w="6350">
            <a:solidFill>
              <a:srgbClr val="CBD5E1"/>
            </a:solidFill>
            <a:prstDash val="solid"/>
          </a:ln>
        </p:spPr>
        <p:txBody>
          <a:bodyPr/>
          <a:lstStyle/>
          <a:p>
            <a:endParaRPr lang="en-CA"/>
          </a:p>
        </p:txBody>
      </p:sp>
      <p:sp>
        <p:nvSpPr>
          <p:cNvPr id="31" name="Text 29"/>
          <p:cNvSpPr/>
          <p:nvPr/>
        </p:nvSpPr>
        <p:spPr>
          <a:xfrm>
            <a:off x="621792" y="5292978"/>
            <a:ext cx="1645920" cy="310896"/>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warranty_months</a:t>
            </a:r>
            <a:endParaRPr lang="en-US" sz="1200" dirty="0"/>
          </a:p>
        </p:txBody>
      </p:sp>
      <p:sp>
        <p:nvSpPr>
          <p:cNvPr id="32" name="Text 30"/>
          <p:cNvSpPr/>
          <p:nvPr/>
        </p:nvSpPr>
        <p:spPr>
          <a:xfrm>
            <a:off x="2468880" y="5292978"/>
            <a:ext cx="2743200" cy="310896"/>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Only for electronic products</a:t>
            </a:r>
            <a:endParaRPr lang="en-US" sz="1200" dirty="0"/>
          </a:p>
        </p:txBody>
      </p:sp>
      <p:sp>
        <p:nvSpPr>
          <p:cNvPr id="33" name="Shape 31"/>
          <p:cNvSpPr/>
          <p:nvPr/>
        </p:nvSpPr>
        <p:spPr>
          <a:xfrm>
            <a:off x="5758249" y="1600199"/>
            <a:ext cx="6055799" cy="4495795"/>
          </a:xfrm>
          <a:prstGeom prst="rect">
            <a:avLst/>
          </a:prstGeom>
          <a:solidFill>
            <a:srgbClr val="111827"/>
          </a:solidFill>
          <a:ln w="12700">
            <a:solidFill>
              <a:srgbClr val="111827"/>
            </a:solidFill>
            <a:prstDash val="solid"/>
          </a:ln>
        </p:spPr>
        <p:txBody>
          <a:bodyPr/>
          <a:lstStyle/>
          <a:p>
            <a:endParaRPr lang="en-CA"/>
          </a:p>
        </p:txBody>
      </p:sp>
      <p:sp>
        <p:nvSpPr>
          <p:cNvPr id="38" name="Text 36"/>
          <p:cNvSpPr/>
          <p:nvPr/>
        </p:nvSpPr>
        <p:spPr>
          <a:xfrm>
            <a:off x="363289" y="6398904"/>
            <a:ext cx="10789920" cy="146304"/>
          </a:xfrm>
          <a:prstGeom prst="rect">
            <a:avLst/>
          </a:prstGeom>
          <a:noFill/>
          <a:ln/>
        </p:spPr>
        <p:txBody>
          <a:bodyPr wrap="square" rtlCol="0" anchor="ctr"/>
          <a:lstStyle/>
          <a:p>
            <a:pPr marL="0" indent="0">
              <a:buNone/>
            </a:pPr>
            <a:r>
              <a:rPr lang="en-US" sz="1200" i="1" dirty="0">
                <a:solidFill>
                  <a:srgbClr val="6B7280"/>
                </a:solidFill>
                <a:latin typeface="Aptos" pitchFamily="34" charset="0"/>
                <a:ea typeface="Aptos" pitchFamily="34" charset="-122"/>
                <a:cs typeface="Aptos" pitchFamily="34" charset="-120"/>
              </a:rPr>
              <a:t>Database keeps the data permanently, so records do not disappear when the GUI is closed.</a:t>
            </a:r>
            <a:endParaRPr lang="en-US" sz="1200" dirty="0"/>
          </a:p>
        </p:txBody>
      </p:sp>
      <p:sp>
        <p:nvSpPr>
          <p:cNvPr id="39" name="Slide Number Placeholder 0"/>
          <p:cNvSpPr>
            <a:spLocks noGrp="1"/>
          </p:cNvSpPr>
          <p:nvPr>
            <p:ph type="sldNum" sz="quarter" idx="4294967295"/>
          </p:nvPr>
        </p:nvSpPr>
        <p:spPr>
          <a:xfrm>
            <a:off x="11475720" y="664768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8</a:t>
            </a:fld>
            <a:endParaRPr lang="en-US"/>
          </a:p>
        </p:txBody>
      </p:sp>
      <p:pic>
        <p:nvPicPr>
          <p:cNvPr id="41" name="Picture 40">
            <a:extLst>
              <a:ext uri="{FF2B5EF4-FFF2-40B4-BE49-F238E27FC236}">
                <a16:creationId xmlns:a16="http://schemas.microsoft.com/office/drawing/2014/main" id="{20A5F5B3-58B5-8F3B-0394-EFEC0ADB0B41}"/>
              </a:ext>
            </a:extLst>
          </p:cNvPr>
          <p:cNvPicPr>
            <a:picLocks noChangeAspect="1"/>
          </p:cNvPicPr>
          <p:nvPr/>
        </p:nvPicPr>
        <p:blipFill>
          <a:blip r:embed="rId3"/>
          <a:srcRect r="27503"/>
          <a:stretch>
            <a:fillRect/>
          </a:stretch>
        </p:blipFill>
        <p:spPr>
          <a:xfrm>
            <a:off x="5833872" y="1667118"/>
            <a:ext cx="5876743" cy="433183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3" name="Text 1"/>
          <p:cNvSpPr/>
          <p:nvPr/>
        </p:nvSpPr>
        <p:spPr>
          <a:xfrm>
            <a:off x="11494008" y="6656832"/>
            <a:ext cx="320040" cy="128016"/>
          </a:xfrm>
          <a:prstGeom prst="rect">
            <a:avLst/>
          </a:prstGeom>
          <a:noFill/>
          <a:ln/>
        </p:spPr>
        <p:txBody>
          <a:bodyPr wrap="square" rtlCol="0" anchor="ctr"/>
          <a:lstStyle/>
          <a:p>
            <a:pPr marL="0" indent="0" algn="r">
              <a:buNone/>
            </a:pPr>
            <a:r>
              <a:rPr lang="en-US" sz="750" dirty="0">
                <a:solidFill>
                  <a:srgbClr val="6B7280"/>
                </a:solidFill>
                <a:latin typeface="Aptos" pitchFamily="34" charset="0"/>
                <a:ea typeface="Aptos" pitchFamily="34" charset="-122"/>
                <a:cs typeface="Aptos" pitchFamily="34" charset="-120"/>
              </a:rPr>
              <a:t>9</a:t>
            </a:r>
            <a:endParaRPr lang="en-US" sz="750" dirty="0"/>
          </a:p>
        </p:txBody>
      </p:sp>
      <p:sp>
        <p:nvSpPr>
          <p:cNvPr id="4" name="Text 2"/>
          <p:cNvSpPr/>
          <p:nvPr/>
        </p:nvSpPr>
        <p:spPr>
          <a:xfrm>
            <a:off x="502920" y="384048"/>
            <a:ext cx="10789920" cy="320040"/>
          </a:xfrm>
          <a:prstGeom prst="rect">
            <a:avLst/>
          </a:prstGeom>
          <a:noFill/>
          <a:ln/>
        </p:spPr>
        <p:txBody>
          <a:bodyPr wrap="square" lIns="0" tIns="0" rIns="0" bIns="0" rtlCol="0" anchor="ctr"/>
          <a:lstStyle/>
          <a:p>
            <a:pPr marL="0" indent="0">
              <a:buNone/>
            </a:pPr>
            <a:r>
              <a:rPr lang="en-US" sz="2500" b="1" dirty="0">
                <a:solidFill>
                  <a:srgbClr val="1E3A5F"/>
                </a:solidFill>
                <a:latin typeface="Aptos Display" pitchFamily="34" charset="0"/>
                <a:ea typeface="Aptos Display" pitchFamily="34" charset="-122"/>
                <a:cs typeface="Aptos Display" pitchFamily="34" charset="-120"/>
              </a:rPr>
              <a:t>Features – Part 1</a:t>
            </a:r>
            <a:endParaRPr lang="en-US" sz="2500" dirty="0"/>
          </a:p>
        </p:txBody>
      </p:sp>
      <p:sp>
        <p:nvSpPr>
          <p:cNvPr id="5" name="Text 3"/>
          <p:cNvSpPr/>
          <p:nvPr/>
        </p:nvSpPr>
        <p:spPr>
          <a:xfrm>
            <a:off x="521208" y="758952"/>
            <a:ext cx="10424160" cy="201168"/>
          </a:xfrm>
          <a:prstGeom prst="rect">
            <a:avLst/>
          </a:prstGeom>
          <a:noFill/>
          <a:ln/>
        </p:spPr>
        <p:txBody>
          <a:bodyPr wrap="square" lIns="0" tIns="0" rIns="0" bIns="0" rtlCol="0" anchor="ctr"/>
          <a:lstStyle/>
          <a:p>
            <a:pPr marL="0" indent="0">
              <a:buNone/>
            </a:pPr>
            <a:r>
              <a:rPr lang="en-US" sz="1200" dirty="0">
                <a:solidFill>
                  <a:srgbClr val="667085"/>
                </a:solidFill>
                <a:latin typeface="Aptos" pitchFamily="34" charset="0"/>
                <a:ea typeface="Aptos" pitchFamily="34" charset="-122"/>
                <a:cs typeface="Aptos" pitchFamily="34" charset="-120"/>
              </a:rPr>
              <a:t>Add Product, View All Products, and Search Product</a:t>
            </a:r>
            <a:endParaRPr lang="en-US" sz="1200" dirty="0"/>
          </a:p>
        </p:txBody>
      </p:sp>
      <p:sp>
        <p:nvSpPr>
          <p:cNvPr id="6" name="Shape 4"/>
          <p:cNvSpPr/>
          <p:nvPr/>
        </p:nvSpPr>
        <p:spPr>
          <a:xfrm>
            <a:off x="521208" y="1005840"/>
            <a:ext cx="11155680" cy="0"/>
          </a:xfrm>
          <a:prstGeom prst="line">
            <a:avLst/>
          </a:prstGeom>
          <a:noFill/>
          <a:ln w="12700">
            <a:solidFill>
              <a:srgbClr val="CBD5E1"/>
            </a:solidFill>
            <a:prstDash val="solid"/>
          </a:ln>
        </p:spPr>
        <p:txBody>
          <a:bodyPr/>
          <a:lstStyle/>
          <a:p>
            <a:endParaRPr lang="en-CA"/>
          </a:p>
        </p:txBody>
      </p:sp>
      <p:sp>
        <p:nvSpPr>
          <p:cNvPr id="7" name="Shape 5"/>
          <p:cNvSpPr/>
          <p:nvPr/>
        </p:nvSpPr>
        <p:spPr>
          <a:xfrm>
            <a:off x="640080" y="1417320"/>
            <a:ext cx="3429000" cy="4069080"/>
          </a:xfrm>
          <a:prstGeom prst="rect">
            <a:avLst/>
          </a:prstGeom>
          <a:solidFill>
            <a:srgbClr val="FFFFFF"/>
          </a:solidFill>
          <a:ln w="12700">
            <a:solidFill>
              <a:srgbClr val="CBD5E1"/>
            </a:solidFill>
            <a:prstDash val="solid"/>
          </a:ln>
        </p:spPr>
        <p:txBody>
          <a:bodyPr/>
          <a:lstStyle/>
          <a:p>
            <a:endParaRPr lang="en-CA"/>
          </a:p>
        </p:txBody>
      </p:sp>
      <p:sp>
        <p:nvSpPr>
          <p:cNvPr id="8" name="Shape 6"/>
          <p:cNvSpPr/>
          <p:nvPr/>
        </p:nvSpPr>
        <p:spPr>
          <a:xfrm>
            <a:off x="640080" y="1417320"/>
            <a:ext cx="3429000" cy="347472"/>
          </a:xfrm>
          <a:prstGeom prst="rect">
            <a:avLst/>
          </a:prstGeom>
          <a:solidFill>
            <a:srgbClr val="F1F5F9"/>
          </a:solidFill>
          <a:ln w="12700">
            <a:solidFill>
              <a:srgbClr val="CBD5E1"/>
            </a:solidFill>
            <a:prstDash val="solid"/>
          </a:ln>
        </p:spPr>
        <p:txBody>
          <a:bodyPr/>
          <a:lstStyle/>
          <a:p>
            <a:endParaRPr lang="en-CA"/>
          </a:p>
        </p:txBody>
      </p:sp>
      <p:sp>
        <p:nvSpPr>
          <p:cNvPr id="9" name="Text 7"/>
          <p:cNvSpPr/>
          <p:nvPr/>
        </p:nvSpPr>
        <p:spPr>
          <a:xfrm>
            <a:off x="768096" y="1458468"/>
            <a:ext cx="3172968" cy="306324"/>
          </a:xfrm>
          <a:prstGeom prst="rect">
            <a:avLst/>
          </a:prstGeom>
          <a:noFill/>
          <a:ln/>
        </p:spPr>
        <p:txBody>
          <a:bodyPr wrap="square" lIns="0" tIns="0" rIns="0" bIns="0" rtlCol="0" anchor="ctr"/>
          <a:lstStyle/>
          <a:p>
            <a:pPr marL="0" indent="0">
              <a:buNone/>
            </a:pPr>
            <a:r>
              <a:rPr lang="en-US" sz="1400" dirty="0">
                <a:solidFill>
                  <a:srgbClr val="374151"/>
                </a:solidFill>
                <a:latin typeface="Aptos" pitchFamily="34" charset="0"/>
                <a:ea typeface="Aptos" pitchFamily="34" charset="-122"/>
                <a:cs typeface="Aptos" pitchFamily="34" charset="-120"/>
              </a:rPr>
              <a:t>Inventory Management System</a:t>
            </a:r>
            <a:endParaRPr lang="en-US" sz="1400" dirty="0"/>
          </a:p>
        </p:txBody>
      </p:sp>
      <p:sp>
        <p:nvSpPr>
          <p:cNvPr id="10" name="Text 8"/>
          <p:cNvSpPr/>
          <p:nvPr/>
        </p:nvSpPr>
        <p:spPr>
          <a:xfrm>
            <a:off x="804672" y="1984248"/>
            <a:ext cx="3099816" cy="182880"/>
          </a:xfrm>
          <a:prstGeom prst="rect">
            <a:avLst/>
          </a:prstGeom>
          <a:noFill/>
          <a:ln/>
        </p:spPr>
        <p:txBody>
          <a:bodyPr wrap="square" lIns="0" tIns="0" rIns="0" bIns="0" rtlCol="0" anchor="ctr"/>
          <a:lstStyle/>
          <a:p>
            <a:pPr marL="0" indent="0" algn="ctr">
              <a:buNone/>
            </a:pPr>
            <a:r>
              <a:rPr lang="en-US" sz="1400" b="1" dirty="0">
                <a:solidFill>
                  <a:srgbClr val="2B5C8A"/>
                </a:solidFill>
                <a:latin typeface="Aptos Display" pitchFamily="34" charset="0"/>
                <a:ea typeface="Aptos Display" pitchFamily="34" charset="-122"/>
                <a:cs typeface="Aptos Display" pitchFamily="34" charset="-120"/>
              </a:rPr>
              <a:t>Add Product</a:t>
            </a:r>
            <a:endParaRPr lang="en-US" sz="1400" dirty="0"/>
          </a:p>
        </p:txBody>
      </p:sp>
      <p:sp>
        <p:nvSpPr>
          <p:cNvPr id="11" name="Shape 9"/>
          <p:cNvSpPr/>
          <p:nvPr/>
        </p:nvSpPr>
        <p:spPr>
          <a:xfrm>
            <a:off x="841248" y="2350008"/>
            <a:ext cx="3026664" cy="256032"/>
          </a:xfrm>
          <a:prstGeom prst="rect">
            <a:avLst/>
          </a:prstGeom>
          <a:solidFill>
            <a:srgbClr val="F8FAFC"/>
          </a:solidFill>
          <a:ln w="12700">
            <a:solidFill>
              <a:srgbClr val="E2E8F0"/>
            </a:solidFill>
            <a:prstDash val="solid"/>
          </a:ln>
        </p:spPr>
        <p:txBody>
          <a:bodyPr/>
          <a:lstStyle/>
          <a:p>
            <a:endParaRPr lang="en-CA"/>
          </a:p>
        </p:txBody>
      </p:sp>
      <p:sp>
        <p:nvSpPr>
          <p:cNvPr id="12" name="Text 10"/>
          <p:cNvSpPr/>
          <p:nvPr/>
        </p:nvSpPr>
        <p:spPr>
          <a:xfrm>
            <a:off x="950976" y="2350008"/>
            <a:ext cx="2807208" cy="256032"/>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Name: 	Milk Pack</a:t>
            </a:r>
            <a:endParaRPr lang="en-US" sz="1200" dirty="0"/>
          </a:p>
        </p:txBody>
      </p:sp>
      <p:sp>
        <p:nvSpPr>
          <p:cNvPr id="13" name="Shape 11"/>
          <p:cNvSpPr/>
          <p:nvPr/>
        </p:nvSpPr>
        <p:spPr>
          <a:xfrm>
            <a:off x="841248" y="2752344"/>
            <a:ext cx="3026664" cy="256032"/>
          </a:xfrm>
          <a:prstGeom prst="rect">
            <a:avLst/>
          </a:prstGeom>
          <a:solidFill>
            <a:srgbClr val="F8FAFC"/>
          </a:solidFill>
          <a:ln w="12700">
            <a:solidFill>
              <a:srgbClr val="E2E8F0"/>
            </a:solidFill>
            <a:prstDash val="solid"/>
          </a:ln>
        </p:spPr>
        <p:txBody>
          <a:bodyPr/>
          <a:lstStyle/>
          <a:p>
            <a:endParaRPr lang="en-CA"/>
          </a:p>
        </p:txBody>
      </p:sp>
      <p:sp>
        <p:nvSpPr>
          <p:cNvPr id="14" name="Text 12"/>
          <p:cNvSpPr/>
          <p:nvPr/>
        </p:nvSpPr>
        <p:spPr>
          <a:xfrm>
            <a:off x="950976" y="2752344"/>
            <a:ext cx="2807208" cy="256032"/>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Price: 	250</a:t>
            </a:r>
            <a:endParaRPr lang="en-US" sz="1200" dirty="0"/>
          </a:p>
        </p:txBody>
      </p:sp>
      <p:sp>
        <p:nvSpPr>
          <p:cNvPr id="15" name="Shape 13"/>
          <p:cNvSpPr/>
          <p:nvPr/>
        </p:nvSpPr>
        <p:spPr>
          <a:xfrm>
            <a:off x="841248" y="3154680"/>
            <a:ext cx="3026664" cy="256032"/>
          </a:xfrm>
          <a:prstGeom prst="rect">
            <a:avLst/>
          </a:prstGeom>
          <a:solidFill>
            <a:srgbClr val="F8FAFC"/>
          </a:solidFill>
          <a:ln w="12700">
            <a:solidFill>
              <a:srgbClr val="E2E8F0"/>
            </a:solidFill>
            <a:prstDash val="solid"/>
          </a:ln>
        </p:spPr>
        <p:txBody>
          <a:bodyPr/>
          <a:lstStyle/>
          <a:p>
            <a:endParaRPr lang="en-CA"/>
          </a:p>
        </p:txBody>
      </p:sp>
      <p:sp>
        <p:nvSpPr>
          <p:cNvPr id="16" name="Text 14"/>
          <p:cNvSpPr/>
          <p:nvPr/>
        </p:nvSpPr>
        <p:spPr>
          <a:xfrm>
            <a:off x="950976" y="3154680"/>
            <a:ext cx="2807208" cy="256032"/>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Qty: 	12</a:t>
            </a:r>
            <a:endParaRPr lang="en-US" sz="1200" dirty="0"/>
          </a:p>
        </p:txBody>
      </p:sp>
      <p:sp>
        <p:nvSpPr>
          <p:cNvPr id="17" name="Shape 15"/>
          <p:cNvSpPr/>
          <p:nvPr/>
        </p:nvSpPr>
        <p:spPr>
          <a:xfrm>
            <a:off x="841248" y="3557016"/>
            <a:ext cx="3026664" cy="256032"/>
          </a:xfrm>
          <a:prstGeom prst="rect">
            <a:avLst/>
          </a:prstGeom>
          <a:solidFill>
            <a:srgbClr val="F8FAFC"/>
          </a:solidFill>
          <a:ln w="12700">
            <a:solidFill>
              <a:srgbClr val="E2E8F0"/>
            </a:solidFill>
            <a:prstDash val="solid"/>
          </a:ln>
        </p:spPr>
        <p:txBody>
          <a:bodyPr/>
          <a:lstStyle/>
          <a:p>
            <a:endParaRPr lang="en-CA"/>
          </a:p>
        </p:txBody>
      </p:sp>
      <p:sp>
        <p:nvSpPr>
          <p:cNvPr id="18" name="Text 16"/>
          <p:cNvSpPr/>
          <p:nvPr/>
        </p:nvSpPr>
        <p:spPr>
          <a:xfrm>
            <a:off x="950976" y="3557016"/>
            <a:ext cx="2807208" cy="256032"/>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Category: 	Grocery</a:t>
            </a:r>
            <a:endParaRPr lang="en-US" sz="1200" dirty="0"/>
          </a:p>
        </p:txBody>
      </p:sp>
      <p:sp>
        <p:nvSpPr>
          <p:cNvPr id="19" name="Shape 17"/>
          <p:cNvSpPr/>
          <p:nvPr/>
        </p:nvSpPr>
        <p:spPr>
          <a:xfrm>
            <a:off x="841248" y="3959352"/>
            <a:ext cx="3026664" cy="256032"/>
          </a:xfrm>
          <a:prstGeom prst="rect">
            <a:avLst/>
          </a:prstGeom>
          <a:solidFill>
            <a:srgbClr val="F8FAFC"/>
          </a:solidFill>
          <a:ln w="12700">
            <a:solidFill>
              <a:srgbClr val="E2E8F0"/>
            </a:solidFill>
            <a:prstDash val="solid"/>
          </a:ln>
        </p:spPr>
        <p:txBody>
          <a:bodyPr/>
          <a:lstStyle/>
          <a:p>
            <a:endParaRPr lang="en-CA"/>
          </a:p>
        </p:txBody>
      </p:sp>
      <p:sp>
        <p:nvSpPr>
          <p:cNvPr id="20" name="Text 18"/>
          <p:cNvSpPr/>
          <p:nvPr/>
        </p:nvSpPr>
        <p:spPr>
          <a:xfrm>
            <a:off x="950976" y="3959352"/>
            <a:ext cx="2807208" cy="256032"/>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Expiry: 	2026-06-15</a:t>
            </a:r>
            <a:endParaRPr lang="en-US" sz="1200" dirty="0"/>
          </a:p>
        </p:txBody>
      </p:sp>
      <p:sp>
        <p:nvSpPr>
          <p:cNvPr id="21" name="Shape 19"/>
          <p:cNvSpPr/>
          <p:nvPr/>
        </p:nvSpPr>
        <p:spPr>
          <a:xfrm>
            <a:off x="841248" y="4512564"/>
            <a:ext cx="3026664" cy="256032"/>
          </a:xfrm>
          <a:prstGeom prst="rect">
            <a:avLst/>
          </a:prstGeom>
          <a:solidFill>
            <a:srgbClr val="2B5C8A"/>
          </a:solidFill>
          <a:ln w="12700">
            <a:solidFill>
              <a:srgbClr val="2B5C8A"/>
            </a:solidFill>
            <a:prstDash val="solid"/>
          </a:ln>
        </p:spPr>
        <p:txBody>
          <a:bodyPr/>
          <a:lstStyle/>
          <a:p>
            <a:endParaRPr lang="en-CA"/>
          </a:p>
        </p:txBody>
      </p:sp>
      <p:sp>
        <p:nvSpPr>
          <p:cNvPr id="22" name="Text 20"/>
          <p:cNvSpPr/>
          <p:nvPr/>
        </p:nvSpPr>
        <p:spPr>
          <a:xfrm>
            <a:off x="950976" y="4512564"/>
            <a:ext cx="280720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ADD PRODUCT</a:t>
            </a:r>
            <a:endParaRPr lang="en-US" sz="1200" dirty="0"/>
          </a:p>
        </p:txBody>
      </p:sp>
      <p:sp>
        <p:nvSpPr>
          <p:cNvPr id="23" name="Shape 21"/>
          <p:cNvSpPr/>
          <p:nvPr/>
        </p:nvSpPr>
        <p:spPr>
          <a:xfrm>
            <a:off x="4416552" y="1417320"/>
            <a:ext cx="3429000" cy="4069080"/>
          </a:xfrm>
          <a:prstGeom prst="rect">
            <a:avLst/>
          </a:prstGeom>
          <a:solidFill>
            <a:srgbClr val="FFFFFF"/>
          </a:solidFill>
          <a:ln w="12700">
            <a:solidFill>
              <a:srgbClr val="CBD5E1"/>
            </a:solidFill>
            <a:prstDash val="solid"/>
          </a:ln>
        </p:spPr>
        <p:txBody>
          <a:bodyPr/>
          <a:lstStyle/>
          <a:p>
            <a:endParaRPr lang="en-CA"/>
          </a:p>
        </p:txBody>
      </p:sp>
      <p:sp>
        <p:nvSpPr>
          <p:cNvPr id="24" name="Shape 22"/>
          <p:cNvSpPr/>
          <p:nvPr/>
        </p:nvSpPr>
        <p:spPr>
          <a:xfrm>
            <a:off x="4416552" y="1417320"/>
            <a:ext cx="3429000" cy="347472"/>
          </a:xfrm>
          <a:prstGeom prst="rect">
            <a:avLst/>
          </a:prstGeom>
          <a:solidFill>
            <a:srgbClr val="F1F5F9"/>
          </a:solidFill>
          <a:ln w="12700">
            <a:solidFill>
              <a:srgbClr val="CBD5E1"/>
            </a:solidFill>
            <a:prstDash val="solid"/>
          </a:ln>
        </p:spPr>
        <p:txBody>
          <a:bodyPr/>
          <a:lstStyle/>
          <a:p>
            <a:endParaRPr lang="en-CA"/>
          </a:p>
        </p:txBody>
      </p:sp>
      <p:sp>
        <p:nvSpPr>
          <p:cNvPr id="25" name="Text 23"/>
          <p:cNvSpPr/>
          <p:nvPr/>
        </p:nvSpPr>
        <p:spPr>
          <a:xfrm>
            <a:off x="4544568" y="1458468"/>
            <a:ext cx="3172968" cy="306324"/>
          </a:xfrm>
          <a:prstGeom prst="rect">
            <a:avLst/>
          </a:prstGeom>
          <a:noFill/>
          <a:ln/>
        </p:spPr>
        <p:txBody>
          <a:bodyPr wrap="square" lIns="0" tIns="0" rIns="0" bIns="0" rtlCol="0" anchor="ctr"/>
          <a:lstStyle/>
          <a:p>
            <a:pPr marL="0" indent="0">
              <a:buNone/>
            </a:pPr>
            <a:r>
              <a:rPr lang="en-US" sz="1400" dirty="0">
                <a:solidFill>
                  <a:srgbClr val="374151"/>
                </a:solidFill>
                <a:latin typeface="Aptos" pitchFamily="34" charset="0"/>
                <a:ea typeface="Aptos" pitchFamily="34" charset="-122"/>
                <a:cs typeface="Aptos" pitchFamily="34" charset="-120"/>
              </a:rPr>
              <a:t>Inventory Management System</a:t>
            </a:r>
            <a:endParaRPr lang="en-US" sz="1400" dirty="0"/>
          </a:p>
        </p:txBody>
      </p:sp>
      <p:sp>
        <p:nvSpPr>
          <p:cNvPr id="26" name="Text 24"/>
          <p:cNvSpPr/>
          <p:nvPr/>
        </p:nvSpPr>
        <p:spPr>
          <a:xfrm>
            <a:off x="4581144" y="1984248"/>
            <a:ext cx="3099816" cy="182880"/>
          </a:xfrm>
          <a:prstGeom prst="rect">
            <a:avLst/>
          </a:prstGeom>
          <a:noFill/>
          <a:ln/>
        </p:spPr>
        <p:txBody>
          <a:bodyPr wrap="square" lIns="0" tIns="0" rIns="0" bIns="0" rtlCol="0" anchor="ctr"/>
          <a:lstStyle/>
          <a:p>
            <a:pPr marL="0" indent="0" algn="ctr">
              <a:buNone/>
            </a:pPr>
            <a:r>
              <a:rPr lang="en-US" sz="1400" b="1" dirty="0">
                <a:solidFill>
                  <a:srgbClr val="1F7A4D"/>
                </a:solidFill>
                <a:latin typeface="Aptos Display" pitchFamily="34" charset="0"/>
                <a:ea typeface="Aptos Display" pitchFamily="34" charset="-122"/>
                <a:cs typeface="Aptos Display" pitchFamily="34" charset="-120"/>
              </a:rPr>
              <a:t>View All Products</a:t>
            </a:r>
            <a:endParaRPr lang="en-US" sz="1400" dirty="0"/>
          </a:p>
        </p:txBody>
      </p:sp>
      <p:sp>
        <p:nvSpPr>
          <p:cNvPr id="27" name="Shape 25"/>
          <p:cNvSpPr/>
          <p:nvPr/>
        </p:nvSpPr>
        <p:spPr>
          <a:xfrm>
            <a:off x="4617720" y="2350008"/>
            <a:ext cx="3026664" cy="256032"/>
          </a:xfrm>
          <a:prstGeom prst="rect">
            <a:avLst/>
          </a:prstGeom>
          <a:solidFill>
            <a:srgbClr val="F8FAFC"/>
          </a:solidFill>
          <a:ln w="12700">
            <a:solidFill>
              <a:srgbClr val="E2E8F0"/>
            </a:solidFill>
            <a:prstDash val="solid"/>
          </a:ln>
        </p:spPr>
        <p:txBody>
          <a:bodyPr/>
          <a:lstStyle/>
          <a:p>
            <a:endParaRPr lang="en-CA"/>
          </a:p>
        </p:txBody>
      </p:sp>
      <p:sp>
        <p:nvSpPr>
          <p:cNvPr id="28" name="Text 26"/>
          <p:cNvSpPr/>
          <p:nvPr/>
        </p:nvSpPr>
        <p:spPr>
          <a:xfrm>
            <a:off x="4727448" y="2350008"/>
            <a:ext cx="2807208" cy="256032"/>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ID  |  Name  |  Qty         |  	Price</a:t>
            </a:r>
            <a:endParaRPr lang="en-US" sz="1200" dirty="0"/>
          </a:p>
        </p:txBody>
      </p:sp>
      <p:sp>
        <p:nvSpPr>
          <p:cNvPr id="29" name="Shape 27"/>
          <p:cNvSpPr/>
          <p:nvPr/>
        </p:nvSpPr>
        <p:spPr>
          <a:xfrm>
            <a:off x="4617720" y="2752344"/>
            <a:ext cx="3026664" cy="256032"/>
          </a:xfrm>
          <a:prstGeom prst="rect">
            <a:avLst/>
          </a:prstGeom>
          <a:solidFill>
            <a:srgbClr val="F8FAFC"/>
          </a:solidFill>
          <a:ln w="12700">
            <a:solidFill>
              <a:srgbClr val="E2E8F0"/>
            </a:solidFill>
            <a:prstDash val="solid"/>
          </a:ln>
        </p:spPr>
        <p:txBody>
          <a:bodyPr/>
          <a:lstStyle/>
          <a:p>
            <a:endParaRPr lang="en-CA"/>
          </a:p>
        </p:txBody>
      </p:sp>
      <p:sp>
        <p:nvSpPr>
          <p:cNvPr id="30" name="Text 28"/>
          <p:cNvSpPr/>
          <p:nvPr/>
        </p:nvSpPr>
        <p:spPr>
          <a:xfrm>
            <a:off x="4727448" y="2752344"/>
            <a:ext cx="2807208" cy="256032"/>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1    Milk Pack 	12 	250</a:t>
            </a:r>
            <a:endParaRPr lang="en-US" sz="1200" dirty="0"/>
          </a:p>
        </p:txBody>
      </p:sp>
      <p:sp>
        <p:nvSpPr>
          <p:cNvPr id="31" name="Shape 29"/>
          <p:cNvSpPr/>
          <p:nvPr/>
        </p:nvSpPr>
        <p:spPr>
          <a:xfrm>
            <a:off x="4617720" y="3154680"/>
            <a:ext cx="3026664" cy="256032"/>
          </a:xfrm>
          <a:prstGeom prst="rect">
            <a:avLst/>
          </a:prstGeom>
          <a:solidFill>
            <a:srgbClr val="F8FAFC"/>
          </a:solidFill>
          <a:ln w="12700">
            <a:solidFill>
              <a:srgbClr val="E2E8F0"/>
            </a:solidFill>
            <a:prstDash val="solid"/>
          </a:ln>
        </p:spPr>
        <p:txBody>
          <a:bodyPr/>
          <a:lstStyle/>
          <a:p>
            <a:endParaRPr lang="en-CA"/>
          </a:p>
        </p:txBody>
      </p:sp>
      <p:sp>
        <p:nvSpPr>
          <p:cNvPr id="32" name="Text 30"/>
          <p:cNvSpPr/>
          <p:nvPr/>
        </p:nvSpPr>
        <p:spPr>
          <a:xfrm>
            <a:off x="4727448" y="3154680"/>
            <a:ext cx="2807208" cy="256032"/>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2    Charger	8   	900</a:t>
            </a:r>
            <a:endParaRPr lang="en-US" sz="1200" dirty="0"/>
          </a:p>
        </p:txBody>
      </p:sp>
      <p:sp>
        <p:nvSpPr>
          <p:cNvPr id="33" name="Shape 31"/>
          <p:cNvSpPr/>
          <p:nvPr/>
        </p:nvSpPr>
        <p:spPr>
          <a:xfrm>
            <a:off x="4617720" y="3557016"/>
            <a:ext cx="3026664" cy="256032"/>
          </a:xfrm>
          <a:prstGeom prst="rect">
            <a:avLst/>
          </a:prstGeom>
          <a:solidFill>
            <a:srgbClr val="F8FAFC"/>
          </a:solidFill>
          <a:ln w="12700">
            <a:solidFill>
              <a:srgbClr val="E2E8F0"/>
            </a:solidFill>
            <a:prstDash val="solid"/>
          </a:ln>
        </p:spPr>
        <p:txBody>
          <a:bodyPr/>
          <a:lstStyle/>
          <a:p>
            <a:endParaRPr lang="en-CA"/>
          </a:p>
        </p:txBody>
      </p:sp>
      <p:sp>
        <p:nvSpPr>
          <p:cNvPr id="34" name="Text 32"/>
          <p:cNvSpPr/>
          <p:nvPr/>
        </p:nvSpPr>
        <p:spPr>
          <a:xfrm>
            <a:off x="4727448" y="3557016"/>
            <a:ext cx="2807208" cy="256032"/>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3    Blue Pen 	20  	180</a:t>
            </a:r>
            <a:endParaRPr lang="en-US" sz="1200" dirty="0"/>
          </a:p>
        </p:txBody>
      </p:sp>
      <p:sp>
        <p:nvSpPr>
          <p:cNvPr id="35" name="Shape 33"/>
          <p:cNvSpPr/>
          <p:nvPr/>
        </p:nvSpPr>
        <p:spPr>
          <a:xfrm>
            <a:off x="4617720" y="4506633"/>
            <a:ext cx="3026664" cy="256032"/>
          </a:xfrm>
          <a:prstGeom prst="rect">
            <a:avLst/>
          </a:prstGeom>
          <a:solidFill>
            <a:srgbClr val="1F7A4D"/>
          </a:solidFill>
          <a:ln w="12700">
            <a:solidFill>
              <a:srgbClr val="1F7A4D"/>
            </a:solidFill>
            <a:prstDash val="solid"/>
          </a:ln>
        </p:spPr>
        <p:txBody>
          <a:bodyPr/>
          <a:lstStyle/>
          <a:p>
            <a:endParaRPr lang="en-CA"/>
          </a:p>
        </p:txBody>
      </p:sp>
      <p:sp>
        <p:nvSpPr>
          <p:cNvPr id="36" name="Text 34"/>
          <p:cNvSpPr/>
          <p:nvPr/>
        </p:nvSpPr>
        <p:spPr>
          <a:xfrm>
            <a:off x="4727448" y="4506633"/>
            <a:ext cx="280720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REFRESH TABLE</a:t>
            </a:r>
            <a:endParaRPr lang="en-US" sz="1200" dirty="0"/>
          </a:p>
        </p:txBody>
      </p:sp>
      <p:sp>
        <p:nvSpPr>
          <p:cNvPr id="37" name="Shape 35"/>
          <p:cNvSpPr/>
          <p:nvPr/>
        </p:nvSpPr>
        <p:spPr>
          <a:xfrm>
            <a:off x="8183880" y="1417320"/>
            <a:ext cx="3429000" cy="4069080"/>
          </a:xfrm>
          <a:prstGeom prst="rect">
            <a:avLst/>
          </a:prstGeom>
          <a:solidFill>
            <a:srgbClr val="FFFFFF"/>
          </a:solidFill>
          <a:ln w="12700">
            <a:solidFill>
              <a:srgbClr val="CBD5E1"/>
            </a:solidFill>
            <a:prstDash val="solid"/>
          </a:ln>
        </p:spPr>
        <p:txBody>
          <a:bodyPr/>
          <a:lstStyle/>
          <a:p>
            <a:endParaRPr lang="en-CA"/>
          </a:p>
        </p:txBody>
      </p:sp>
      <p:sp>
        <p:nvSpPr>
          <p:cNvPr id="38" name="Shape 36"/>
          <p:cNvSpPr/>
          <p:nvPr/>
        </p:nvSpPr>
        <p:spPr>
          <a:xfrm>
            <a:off x="8183880" y="1417320"/>
            <a:ext cx="3429000" cy="347472"/>
          </a:xfrm>
          <a:prstGeom prst="rect">
            <a:avLst/>
          </a:prstGeom>
          <a:solidFill>
            <a:srgbClr val="F1F5F9"/>
          </a:solidFill>
          <a:ln w="12700">
            <a:solidFill>
              <a:srgbClr val="CBD5E1"/>
            </a:solidFill>
            <a:prstDash val="solid"/>
          </a:ln>
        </p:spPr>
        <p:txBody>
          <a:bodyPr/>
          <a:lstStyle/>
          <a:p>
            <a:endParaRPr lang="en-CA"/>
          </a:p>
        </p:txBody>
      </p:sp>
      <p:sp>
        <p:nvSpPr>
          <p:cNvPr id="39" name="Text 37"/>
          <p:cNvSpPr/>
          <p:nvPr/>
        </p:nvSpPr>
        <p:spPr>
          <a:xfrm>
            <a:off x="8311896" y="1458468"/>
            <a:ext cx="3172968" cy="306324"/>
          </a:xfrm>
          <a:prstGeom prst="rect">
            <a:avLst/>
          </a:prstGeom>
          <a:noFill/>
          <a:ln/>
        </p:spPr>
        <p:txBody>
          <a:bodyPr wrap="square" lIns="0" tIns="0" rIns="0" bIns="0" rtlCol="0" anchor="ctr"/>
          <a:lstStyle/>
          <a:p>
            <a:pPr marL="0" indent="0">
              <a:buNone/>
            </a:pPr>
            <a:r>
              <a:rPr lang="en-US" sz="1400" dirty="0">
                <a:solidFill>
                  <a:srgbClr val="374151"/>
                </a:solidFill>
                <a:latin typeface="Aptos" pitchFamily="34" charset="0"/>
                <a:ea typeface="Aptos" pitchFamily="34" charset="-122"/>
                <a:cs typeface="Aptos" pitchFamily="34" charset="-120"/>
              </a:rPr>
              <a:t>Inventory Management System</a:t>
            </a:r>
            <a:endParaRPr lang="en-US" sz="1400" dirty="0"/>
          </a:p>
        </p:txBody>
      </p:sp>
      <p:sp>
        <p:nvSpPr>
          <p:cNvPr id="40" name="Text 38"/>
          <p:cNvSpPr/>
          <p:nvPr/>
        </p:nvSpPr>
        <p:spPr>
          <a:xfrm>
            <a:off x="8348472" y="1984248"/>
            <a:ext cx="3099816" cy="182880"/>
          </a:xfrm>
          <a:prstGeom prst="rect">
            <a:avLst/>
          </a:prstGeom>
          <a:noFill/>
          <a:ln/>
        </p:spPr>
        <p:txBody>
          <a:bodyPr wrap="square" lIns="0" tIns="0" rIns="0" bIns="0" rtlCol="0" anchor="ctr"/>
          <a:lstStyle/>
          <a:p>
            <a:pPr marL="0" indent="0" algn="ctr">
              <a:buNone/>
            </a:pPr>
            <a:r>
              <a:rPr lang="en-US" sz="1400" b="1" dirty="0">
                <a:solidFill>
                  <a:srgbClr val="D97706"/>
                </a:solidFill>
                <a:latin typeface="Aptos Display" pitchFamily="34" charset="0"/>
                <a:ea typeface="Aptos Display" pitchFamily="34" charset="-122"/>
                <a:cs typeface="Aptos Display" pitchFamily="34" charset="-120"/>
              </a:rPr>
              <a:t>Search Product</a:t>
            </a:r>
            <a:endParaRPr lang="en-US" sz="1400" dirty="0"/>
          </a:p>
        </p:txBody>
      </p:sp>
      <p:sp>
        <p:nvSpPr>
          <p:cNvPr id="41" name="Shape 39"/>
          <p:cNvSpPr/>
          <p:nvPr/>
        </p:nvSpPr>
        <p:spPr>
          <a:xfrm>
            <a:off x="8385048" y="2350008"/>
            <a:ext cx="3026664" cy="256032"/>
          </a:xfrm>
          <a:prstGeom prst="rect">
            <a:avLst/>
          </a:prstGeom>
          <a:solidFill>
            <a:srgbClr val="F8FAFC"/>
          </a:solidFill>
          <a:ln w="12700">
            <a:solidFill>
              <a:srgbClr val="E2E8F0"/>
            </a:solidFill>
            <a:prstDash val="solid"/>
          </a:ln>
        </p:spPr>
        <p:txBody>
          <a:bodyPr/>
          <a:lstStyle/>
          <a:p>
            <a:endParaRPr lang="en-CA"/>
          </a:p>
        </p:txBody>
      </p:sp>
      <p:sp>
        <p:nvSpPr>
          <p:cNvPr id="42" name="Text 40"/>
          <p:cNvSpPr/>
          <p:nvPr/>
        </p:nvSpPr>
        <p:spPr>
          <a:xfrm>
            <a:off x="8494776" y="2350008"/>
            <a:ext cx="2807208" cy="256032"/>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Search By: ID / Name</a:t>
            </a:r>
            <a:endParaRPr lang="en-US" sz="1200" dirty="0"/>
          </a:p>
        </p:txBody>
      </p:sp>
      <p:sp>
        <p:nvSpPr>
          <p:cNvPr id="43" name="Shape 41"/>
          <p:cNvSpPr/>
          <p:nvPr/>
        </p:nvSpPr>
        <p:spPr>
          <a:xfrm>
            <a:off x="8385048" y="2752344"/>
            <a:ext cx="3026664" cy="256032"/>
          </a:xfrm>
          <a:prstGeom prst="rect">
            <a:avLst/>
          </a:prstGeom>
          <a:solidFill>
            <a:srgbClr val="F8FAFC"/>
          </a:solidFill>
          <a:ln w="12700">
            <a:solidFill>
              <a:srgbClr val="E2E8F0"/>
            </a:solidFill>
            <a:prstDash val="solid"/>
          </a:ln>
        </p:spPr>
        <p:txBody>
          <a:bodyPr/>
          <a:lstStyle/>
          <a:p>
            <a:endParaRPr lang="en-CA"/>
          </a:p>
        </p:txBody>
      </p:sp>
      <p:sp>
        <p:nvSpPr>
          <p:cNvPr id="44" name="Text 42"/>
          <p:cNvSpPr/>
          <p:nvPr/>
        </p:nvSpPr>
        <p:spPr>
          <a:xfrm>
            <a:off x="8494776" y="2752344"/>
            <a:ext cx="2807208" cy="256032"/>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Enter: Milk Pack</a:t>
            </a:r>
            <a:endParaRPr lang="en-US" sz="1200" dirty="0"/>
          </a:p>
        </p:txBody>
      </p:sp>
      <p:sp>
        <p:nvSpPr>
          <p:cNvPr id="45" name="Shape 43"/>
          <p:cNvSpPr/>
          <p:nvPr/>
        </p:nvSpPr>
        <p:spPr>
          <a:xfrm>
            <a:off x="8385048" y="3154680"/>
            <a:ext cx="3026664" cy="256032"/>
          </a:xfrm>
          <a:prstGeom prst="rect">
            <a:avLst/>
          </a:prstGeom>
          <a:solidFill>
            <a:srgbClr val="F8FAFC"/>
          </a:solidFill>
          <a:ln w="12700">
            <a:solidFill>
              <a:srgbClr val="E2E8F0"/>
            </a:solidFill>
            <a:prstDash val="solid"/>
          </a:ln>
        </p:spPr>
        <p:txBody>
          <a:bodyPr/>
          <a:lstStyle/>
          <a:p>
            <a:endParaRPr lang="en-CA"/>
          </a:p>
        </p:txBody>
      </p:sp>
      <p:sp>
        <p:nvSpPr>
          <p:cNvPr id="46" name="Text 44"/>
          <p:cNvSpPr/>
          <p:nvPr/>
        </p:nvSpPr>
        <p:spPr>
          <a:xfrm>
            <a:off x="8494776" y="3154680"/>
            <a:ext cx="2807208" cy="256032"/>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Result:</a:t>
            </a:r>
            <a:endParaRPr lang="en-US" sz="1200" dirty="0"/>
          </a:p>
        </p:txBody>
      </p:sp>
      <p:sp>
        <p:nvSpPr>
          <p:cNvPr id="47" name="Shape 45"/>
          <p:cNvSpPr/>
          <p:nvPr/>
        </p:nvSpPr>
        <p:spPr>
          <a:xfrm>
            <a:off x="8385048" y="3557016"/>
            <a:ext cx="3026664" cy="256032"/>
          </a:xfrm>
          <a:prstGeom prst="rect">
            <a:avLst/>
          </a:prstGeom>
          <a:solidFill>
            <a:srgbClr val="F8FAFC"/>
          </a:solidFill>
          <a:ln w="12700">
            <a:solidFill>
              <a:srgbClr val="E2E8F0"/>
            </a:solidFill>
            <a:prstDash val="solid"/>
          </a:ln>
        </p:spPr>
        <p:txBody>
          <a:bodyPr/>
          <a:lstStyle/>
          <a:p>
            <a:endParaRPr lang="en-CA"/>
          </a:p>
        </p:txBody>
      </p:sp>
      <p:sp>
        <p:nvSpPr>
          <p:cNvPr id="48" name="Text 46"/>
          <p:cNvSpPr/>
          <p:nvPr/>
        </p:nvSpPr>
        <p:spPr>
          <a:xfrm>
            <a:off x="8494776" y="3557016"/>
            <a:ext cx="2807208" cy="256032"/>
          </a:xfrm>
          <a:prstGeom prst="rect">
            <a:avLst/>
          </a:prstGeom>
          <a:noFill/>
          <a:ln/>
        </p:spPr>
        <p:txBody>
          <a:bodyPr wrap="square" lIns="0" tIns="0" rIns="0" bIns="0" rtlCol="0" anchor="ctr"/>
          <a:lstStyle/>
          <a:p>
            <a:pPr marL="0" indent="0">
              <a:buNone/>
            </a:pPr>
            <a:r>
              <a:rPr lang="en-US" sz="1200" dirty="0">
                <a:solidFill>
                  <a:srgbClr val="374151"/>
                </a:solidFill>
                <a:latin typeface="Aptos" pitchFamily="34" charset="0"/>
                <a:ea typeface="Aptos" pitchFamily="34" charset="-122"/>
                <a:cs typeface="Aptos" pitchFamily="34" charset="-120"/>
              </a:rPr>
              <a:t>Milk Pack   |   Qty 12</a:t>
            </a:r>
            <a:endParaRPr lang="en-US" sz="1200" dirty="0"/>
          </a:p>
        </p:txBody>
      </p:sp>
      <p:sp>
        <p:nvSpPr>
          <p:cNvPr id="49" name="Shape 47"/>
          <p:cNvSpPr/>
          <p:nvPr/>
        </p:nvSpPr>
        <p:spPr>
          <a:xfrm>
            <a:off x="8385048" y="4512564"/>
            <a:ext cx="3026664" cy="256032"/>
          </a:xfrm>
          <a:prstGeom prst="rect">
            <a:avLst/>
          </a:prstGeom>
          <a:solidFill>
            <a:srgbClr val="D97706"/>
          </a:solidFill>
          <a:ln w="12700">
            <a:solidFill>
              <a:srgbClr val="D97706"/>
            </a:solidFill>
            <a:prstDash val="solid"/>
          </a:ln>
        </p:spPr>
        <p:txBody>
          <a:bodyPr/>
          <a:lstStyle/>
          <a:p>
            <a:endParaRPr lang="en-CA"/>
          </a:p>
        </p:txBody>
      </p:sp>
      <p:sp>
        <p:nvSpPr>
          <p:cNvPr id="50" name="Text 48"/>
          <p:cNvSpPr/>
          <p:nvPr/>
        </p:nvSpPr>
        <p:spPr>
          <a:xfrm>
            <a:off x="8494776" y="4512564"/>
            <a:ext cx="280720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SEARCH</a:t>
            </a:r>
            <a:endParaRPr lang="en-US" sz="1200" dirty="0"/>
          </a:p>
        </p:txBody>
      </p:sp>
      <p:sp>
        <p:nvSpPr>
          <p:cNvPr id="52" name="Slide Number Placeholder 0"/>
          <p:cNvSpPr>
            <a:spLocks noGrp="1"/>
          </p:cNvSpPr>
          <p:nvPr>
            <p:ph type="sldNum" sz="quarter" idx="4294967295"/>
          </p:nvPr>
        </p:nvSpPr>
        <p:spPr>
          <a:xfrm>
            <a:off x="11475720" y="664768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3" name="Text 1"/>
          <p:cNvSpPr/>
          <p:nvPr/>
        </p:nvSpPr>
        <p:spPr>
          <a:xfrm>
            <a:off x="11494008" y="6656832"/>
            <a:ext cx="320040" cy="128016"/>
          </a:xfrm>
          <a:prstGeom prst="rect">
            <a:avLst/>
          </a:prstGeom>
          <a:noFill/>
          <a:ln/>
        </p:spPr>
        <p:txBody>
          <a:bodyPr wrap="square" rtlCol="0" anchor="ctr"/>
          <a:lstStyle/>
          <a:p>
            <a:pPr marL="0" indent="0" algn="r">
              <a:buNone/>
            </a:pPr>
            <a:r>
              <a:rPr lang="en-US" sz="750" dirty="0">
                <a:solidFill>
                  <a:srgbClr val="6B7280"/>
                </a:solidFill>
                <a:latin typeface="Aptos" pitchFamily="34" charset="0"/>
                <a:ea typeface="Aptos" pitchFamily="34" charset="-122"/>
                <a:cs typeface="Aptos" pitchFamily="34" charset="-120"/>
              </a:rPr>
              <a:t>10</a:t>
            </a:r>
            <a:endParaRPr lang="en-US" sz="750" dirty="0"/>
          </a:p>
        </p:txBody>
      </p:sp>
      <p:sp>
        <p:nvSpPr>
          <p:cNvPr id="4" name="Text 2"/>
          <p:cNvSpPr/>
          <p:nvPr/>
        </p:nvSpPr>
        <p:spPr>
          <a:xfrm>
            <a:off x="502920" y="384048"/>
            <a:ext cx="10789920" cy="320040"/>
          </a:xfrm>
          <a:prstGeom prst="rect">
            <a:avLst/>
          </a:prstGeom>
          <a:noFill/>
          <a:ln/>
        </p:spPr>
        <p:txBody>
          <a:bodyPr wrap="square" lIns="0" tIns="0" rIns="0" bIns="0" rtlCol="0" anchor="ctr"/>
          <a:lstStyle/>
          <a:p>
            <a:pPr marL="0" indent="0">
              <a:buNone/>
            </a:pPr>
            <a:r>
              <a:rPr lang="en-US" sz="2500" b="1" dirty="0">
                <a:solidFill>
                  <a:srgbClr val="1E3A5F"/>
                </a:solidFill>
                <a:latin typeface="Aptos Display" pitchFamily="34" charset="0"/>
                <a:ea typeface="Aptos Display" pitchFamily="34" charset="-122"/>
                <a:cs typeface="Aptos Display" pitchFamily="34" charset="-120"/>
              </a:rPr>
              <a:t>Features – Part 2</a:t>
            </a:r>
            <a:endParaRPr lang="en-US" sz="2500" dirty="0"/>
          </a:p>
        </p:txBody>
      </p:sp>
      <p:sp>
        <p:nvSpPr>
          <p:cNvPr id="5" name="Text 3"/>
          <p:cNvSpPr/>
          <p:nvPr/>
        </p:nvSpPr>
        <p:spPr>
          <a:xfrm>
            <a:off x="521208" y="758952"/>
            <a:ext cx="10424160" cy="201168"/>
          </a:xfrm>
          <a:prstGeom prst="rect">
            <a:avLst/>
          </a:prstGeom>
          <a:noFill/>
          <a:ln/>
        </p:spPr>
        <p:txBody>
          <a:bodyPr wrap="square" lIns="0" tIns="0" rIns="0" bIns="0" rtlCol="0" anchor="ctr"/>
          <a:lstStyle/>
          <a:p>
            <a:pPr marL="0" indent="0">
              <a:buNone/>
            </a:pPr>
            <a:r>
              <a:rPr lang="en-US" sz="1200" dirty="0">
                <a:solidFill>
                  <a:srgbClr val="667085"/>
                </a:solidFill>
                <a:latin typeface="Aptos" pitchFamily="34" charset="0"/>
                <a:ea typeface="Aptos" pitchFamily="34" charset="-122"/>
                <a:cs typeface="Aptos" pitchFamily="34" charset="-120"/>
              </a:rPr>
              <a:t>Sell, Restock and Low Stock Alert popup</a:t>
            </a:r>
            <a:endParaRPr lang="en-US" sz="1200" dirty="0"/>
          </a:p>
        </p:txBody>
      </p:sp>
      <p:sp>
        <p:nvSpPr>
          <p:cNvPr id="6" name="Shape 4"/>
          <p:cNvSpPr/>
          <p:nvPr/>
        </p:nvSpPr>
        <p:spPr>
          <a:xfrm>
            <a:off x="521208" y="1005840"/>
            <a:ext cx="11155680" cy="0"/>
          </a:xfrm>
          <a:prstGeom prst="line">
            <a:avLst/>
          </a:prstGeom>
          <a:noFill/>
          <a:ln w="12700">
            <a:solidFill>
              <a:srgbClr val="CBD5E1"/>
            </a:solidFill>
            <a:prstDash val="solid"/>
          </a:ln>
        </p:spPr>
        <p:txBody>
          <a:bodyPr/>
          <a:lstStyle/>
          <a:p>
            <a:endParaRPr lang="en-CA"/>
          </a:p>
        </p:txBody>
      </p:sp>
      <p:sp>
        <p:nvSpPr>
          <p:cNvPr id="7" name="Shape 5"/>
          <p:cNvSpPr/>
          <p:nvPr/>
        </p:nvSpPr>
        <p:spPr>
          <a:xfrm>
            <a:off x="594360" y="1325880"/>
            <a:ext cx="3291840" cy="2011680"/>
          </a:xfrm>
          <a:prstGeom prst="roundRect">
            <a:avLst>
              <a:gd name="adj" fmla="val 3636"/>
            </a:avLst>
          </a:prstGeom>
          <a:solidFill>
            <a:srgbClr val="FFFFFF"/>
          </a:solidFill>
          <a:ln w="12700">
            <a:solidFill>
              <a:srgbClr val="D0D7E2"/>
            </a:solidFill>
            <a:prstDash val="solid"/>
          </a:ln>
        </p:spPr>
        <p:txBody>
          <a:bodyPr/>
          <a:lstStyle/>
          <a:p>
            <a:endParaRPr lang="en-CA"/>
          </a:p>
        </p:txBody>
      </p:sp>
      <p:sp>
        <p:nvSpPr>
          <p:cNvPr id="8" name="Text 6"/>
          <p:cNvSpPr/>
          <p:nvPr/>
        </p:nvSpPr>
        <p:spPr>
          <a:xfrm>
            <a:off x="740664" y="1435608"/>
            <a:ext cx="2999232" cy="228600"/>
          </a:xfrm>
          <a:prstGeom prst="rect">
            <a:avLst/>
          </a:prstGeom>
          <a:noFill/>
          <a:ln/>
        </p:spPr>
        <p:txBody>
          <a:bodyPr wrap="square" lIns="0" tIns="0" rIns="0" bIns="0" rtlCol="0" anchor="ctr"/>
          <a:lstStyle/>
          <a:p>
            <a:pPr marL="0" indent="0">
              <a:buNone/>
            </a:pPr>
            <a:r>
              <a:rPr lang="en-US" sz="1400" b="1" dirty="0">
                <a:solidFill>
                  <a:srgbClr val="1E3A5F"/>
                </a:solidFill>
                <a:latin typeface="Aptos Display" pitchFamily="34" charset="0"/>
                <a:ea typeface="Aptos Display" pitchFamily="34" charset="-122"/>
                <a:cs typeface="Aptos Display" pitchFamily="34" charset="-120"/>
              </a:rPr>
              <a:t>Sell Product</a:t>
            </a:r>
            <a:endParaRPr lang="en-US" sz="1400" dirty="0"/>
          </a:p>
        </p:txBody>
      </p:sp>
      <p:sp>
        <p:nvSpPr>
          <p:cNvPr id="9" name="Text 7"/>
          <p:cNvSpPr/>
          <p:nvPr/>
        </p:nvSpPr>
        <p:spPr>
          <a:xfrm>
            <a:off x="758952" y="1783080"/>
            <a:ext cx="2971800" cy="1463040"/>
          </a:xfrm>
          <a:prstGeom prst="rect">
            <a:avLst/>
          </a:prstGeom>
          <a:noFill/>
          <a:ln/>
        </p:spPr>
        <p:txBody>
          <a:bodyPr wrap="square" lIns="254" tIns="254" rIns="254" bIns="254" rtlCol="0" anchor="t">
            <a:normAutofit fontScale="92500"/>
          </a:bodyPr>
          <a:lstStyle/>
          <a:p>
            <a:pPr marL="0" indent="0">
              <a:buNone/>
            </a:pPr>
            <a:r>
              <a:rPr lang="en-US" sz="1400" dirty="0">
                <a:solidFill>
                  <a:srgbClr val="374151"/>
                </a:solidFill>
                <a:latin typeface="Aptos" pitchFamily="34" charset="0"/>
                <a:ea typeface="Aptos" pitchFamily="34" charset="-122"/>
                <a:cs typeface="Aptos" pitchFamily="34" charset="-120"/>
              </a:rPr>
              <a:t>• User enters product ID</a:t>
            </a:r>
          </a:p>
          <a:p>
            <a:pPr marL="0" indent="0">
              <a:buNone/>
            </a:pPr>
            <a:endParaRPr lang="en-US" sz="1400" dirty="0"/>
          </a:p>
          <a:p>
            <a:pPr marL="0" indent="0">
              <a:buNone/>
            </a:pPr>
            <a:r>
              <a:rPr lang="en-US" sz="1400" dirty="0">
                <a:solidFill>
                  <a:srgbClr val="374151"/>
                </a:solidFill>
                <a:latin typeface="Aptos" pitchFamily="34" charset="0"/>
                <a:ea typeface="Aptos" pitchFamily="34" charset="-122"/>
                <a:cs typeface="Aptos" pitchFamily="34" charset="-120"/>
              </a:rPr>
              <a:t>• System checks available quantity</a:t>
            </a:r>
          </a:p>
          <a:p>
            <a:pPr marL="0" indent="0">
              <a:buNone/>
            </a:pPr>
            <a:endParaRPr lang="en-US" sz="1400" dirty="0"/>
          </a:p>
          <a:p>
            <a:pPr marL="0" indent="0">
              <a:buNone/>
            </a:pPr>
            <a:r>
              <a:rPr lang="en-US" sz="1400" dirty="0">
                <a:solidFill>
                  <a:srgbClr val="374151"/>
                </a:solidFill>
                <a:latin typeface="Aptos" pitchFamily="34" charset="0"/>
                <a:ea typeface="Aptos" pitchFamily="34" charset="-122"/>
                <a:cs typeface="Aptos" pitchFamily="34" charset="-120"/>
              </a:rPr>
              <a:t>• Quantity is reduced after sale</a:t>
            </a:r>
          </a:p>
          <a:p>
            <a:pPr marL="0" indent="0">
              <a:buNone/>
            </a:pPr>
            <a:endParaRPr lang="en-US" sz="1400" dirty="0"/>
          </a:p>
          <a:p>
            <a:pPr marL="0" indent="0">
              <a:buNone/>
            </a:pPr>
            <a:r>
              <a:rPr lang="en-US" sz="1400" dirty="0">
                <a:solidFill>
                  <a:srgbClr val="374151"/>
                </a:solidFill>
                <a:latin typeface="Aptos" pitchFamily="34" charset="0"/>
                <a:ea typeface="Aptos" pitchFamily="34" charset="-122"/>
                <a:cs typeface="Aptos" pitchFamily="34" charset="-120"/>
              </a:rPr>
              <a:t>• If remaining stock is low, alert appears</a:t>
            </a:r>
            <a:endParaRPr lang="en-US" sz="1400" dirty="0"/>
          </a:p>
        </p:txBody>
      </p:sp>
      <p:sp>
        <p:nvSpPr>
          <p:cNvPr id="10" name="Shape 8"/>
          <p:cNvSpPr/>
          <p:nvPr/>
        </p:nvSpPr>
        <p:spPr>
          <a:xfrm>
            <a:off x="594360" y="3566160"/>
            <a:ext cx="3291840" cy="1874520"/>
          </a:xfrm>
          <a:prstGeom prst="roundRect">
            <a:avLst>
              <a:gd name="adj" fmla="val 3902"/>
            </a:avLst>
          </a:prstGeom>
          <a:solidFill>
            <a:srgbClr val="EFF6FF"/>
          </a:solidFill>
          <a:ln w="12700">
            <a:solidFill>
              <a:srgbClr val="D0D7E2"/>
            </a:solidFill>
            <a:prstDash val="solid"/>
          </a:ln>
        </p:spPr>
        <p:txBody>
          <a:bodyPr/>
          <a:lstStyle/>
          <a:p>
            <a:endParaRPr lang="en-CA"/>
          </a:p>
        </p:txBody>
      </p:sp>
      <p:sp>
        <p:nvSpPr>
          <p:cNvPr id="11" name="Text 9"/>
          <p:cNvSpPr/>
          <p:nvPr/>
        </p:nvSpPr>
        <p:spPr>
          <a:xfrm>
            <a:off x="740664" y="3675888"/>
            <a:ext cx="2999232" cy="228600"/>
          </a:xfrm>
          <a:prstGeom prst="rect">
            <a:avLst/>
          </a:prstGeom>
          <a:noFill/>
          <a:ln/>
        </p:spPr>
        <p:txBody>
          <a:bodyPr wrap="square" lIns="0" tIns="0" rIns="0" bIns="0" rtlCol="0" anchor="ctr"/>
          <a:lstStyle/>
          <a:p>
            <a:pPr marL="0" indent="0">
              <a:buNone/>
            </a:pPr>
            <a:r>
              <a:rPr lang="en-US" sz="1400" b="1" dirty="0">
                <a:solidFill>
                  <a:srgbClr val="1E3A5F"/>
                </a:solidFill>
                <a:latin typeface="Aptos Display" pitchFamily="34" charset="0"/>
                <a:ea typeface="Aptos Display" pitchFamily="34" charset="-122"/>
                <a:cs typeface="Aptos Display" pitchFamily="34" charset="-120"/>
              </a:rPr>
              <a:t>Restock Product</a:t>
            </a:r>
            <a:endParaRPr lang="en-US" sz="1400" dirty="0"/>
          </a:p>
        </p:txBody>
      </p:sp>
      <p:sp>
        <p:nvSpPr>
          <p:cNvPr id="12" name="Text 10"/>
          <p:cNvSpPr/>
          <p:nvPr/>
        </p:nvSpPr>
        <p:spPr>
          <a:xfrm>
            <a:off x="758952" y="4023360"/>
            <a:ext cx="2971800" cy="1325880"/>
          </a:xfrm>
          <a:prstGeom prst="rect">
            <a:avLst/>
          </a:prstGeom>
          <a:noFill/>
          <a:ln/>
        </p:spPr>
        <p:txBody>
          <a:bodyPr wrap="square" lIns="254" tIns="254" rIns="254" bIns="254" rtlCol="0" anchor="t">
            <a:normAutofit fontScale="92500" lnSpcReduction="10000"/>
          </a:bodyPr>
          <a:lstStyle/>
          <a:p>
            <a:pPr marL="0" indent="0">
              <a:buNone/>
            </a:pPr>
            <a:r>
              <a:rPr lang="en-US" sz="1400" dirty="0">
                <a:solidFill>
                  <a:srgbClr val="374151"/>
                </a:solidFill>
                <a:latin typeface="Aptos" pitchFamily="34" charset="0"/>
                <a:ea typeface="Aptos" pitchFamily="34" charset="-122"/>
                <a:cs typeface="Aptos" pitchFamily="34" charset="-120"/>
              </a:rPr>
              <a:t>• User enters product ID</a:t>
            </a:r>
          </a:p>
          <a:p>
            <a:pPr marL="0" indent="0">
              <a:buNone/>
            </a:pPr>
            <a:endParaRPr lang="en-US" sz="1400" dirty="0"/>
          </a:p>
          <a:p>
            <a:pPr marL="0" indent="0">
              <a:buNone/>
            </a:pPr>
            <a:r>
              <a:rPr lang="en-US" sz="1400" dirty="0">
                <a:solidFill>
                  <a:srgbClr val="374151"/>
                </a:solidFill>
                <a:latin typeface="Aptos" pitchFamily="34" charset="0"/>
                <a:ea typeface="Aptos" pitchFamily="34" charset="-122"/>
                <a:cs typeface="Aptos" pitchFamily="34" charset="-120"/>
              </a:rPr>
              <a:t>• New stock quantity is added</a:t>
            </a:r>
          </a:p>
          <a:p>
            <a:pPr marL="0" indent="0">
              <a:buNone/>
            </a:pPr>
            <a:endParaRPr lang="en-US" sz="1400" dirty="0"/>
          </a:p>
          <a:p>
            <a:pPr marL="0" indent="0">
              <a:buNone/>
            </a:pPr>
            <a:r>
              <a:rPr lang="en-US" sz="1400" dirty="0">
                <a:solidFill>
                  <a:srgbClr val="374151"/>
                </a:solidFill>
                <a:latin typeface="Aptos" pitchFamily="34" charset="0"/>
                <a:ea typeface="Aptos" pitchFamily="34" charset="-122"/>
                <a:cs typeface="Aptos" pitchFamily="34" charset="-120"/>
              </a:rPr>
              <a:t>• Updated value is saved in database</a:t>
            </a:r>
          </a:p>
          <a:p>
            <a:pPr marL="0" indent="0">
              <a:buNone/>
            </a:pPr>
            <a:endParaRPr lang="en-US" sz="1400" dirty="0"/>
          </a:p>
          <a:p>
            <a:pPr marL="0" indent="0">
              <a:buNone/>
            </a:pPr>
            <a:r>
              <a:rPr lang="en-US" sz="1400" dirty="0">
                <a:solidFill>
                  <a:srgbClr val="374151"/>
                </a:solidFill>
                <a:latin typeface="Aptos" pitchFamily="34" charset="0"/>
                <a:ea typeface="Aptos" pitchFamily="34" charset="-122"/>
                <a:cs typeface="Aptos" pitchFamily="34" charset="-120"/>
              </a:rPr>
              <a:t>• Table shows latest quantity</a:t>
            </a:r>
            <a:endParaRPr lang="en-US" sz="1400" dirty="0"/>
          </a:p>
        </p:txBody>
      </p:sp>
      <p:sp>
        <p:nvSpPr>
          <p:cNvPr id="13" name="Shape 11"/>
          <p:cNvSpPr/>
          <p:nvPr/>
        </p:nvSpPr>
        <p:spPr>
          <a:xfrm>
            <a:off x="4251960" y="1508760"/>
            <a:ext cx="2880360" cy="3977640"/>
          </a:xfrm>
          <a:prstGeom prst="rect">
            <a:avLst/>
          </a:prstGeom>
          <a:solidFill>
            <a:srgbClr val="FFFFFF"/>
          </a:solidFill>
          <a:ln w="12700">
            <a:solidFill>
              <a:srgbClr val="CBD5E1"/>
            </a:solidFill>
            <a:prstDash val="solid"/>
          </a:ln>
        </p:spPr>
        <p:txBody>
          <a:bodyPr/>
          <a:lstStyle/>
          <a:p>
            <a:endParaRPr lang="en-CA"/>
          </a:p>
        </p:txBody>
      </p:sp>
      <p:sp>
        <p:nvSpPr>
          <p:cNvPr id="14" name="Shape 12"/>
          <p:cNvSpPr/>
          <p:nvPr/>
        </p:nvSpPr>
        <p:spPr>
          <a:xfrm>
            <a:off x="4251960" y="1508760"/>
            <a:ext cx="2880360" cy="347472"/>
          </a:xfrm>
          <a:prstGeom prst="rect">
            <a:avLst/>
          </a:prstGeom>
          <a:solidFill>
            <a:srgbClr val="F1F5F9"/>
          </a:solidFill>
          <a:ln w="12700">
            <a:solidFill>
              <a:srgbClr val="CBD5E1"/>
            </a:solidFill>
            <a:prstDash val="solid"/>
          </a:ln>
        </p:spPr>
        <p:txBody>
          <a:bodyPr/>
          <a:lstStyle/>
          <a:p>
            <a:endParaRPr lang="en-CA" dirty="0"/>
          </a:p>
        </p:txBody>
      </p:sp>
      <p:sp>
        <p:nvSpPr>
          <p:cNvPr id="15" name="Text 13"/>
          <p:cNvSpPr/>
          <p:nvPr/>
        </p:nvSpPr>
        <p:spPr>
          <a:xfrm>
            <a:off x="4407408" y="1508760"/>
            <a:ext cx="2423160" cy="347472"/>
          </a:xfrm>
          <a:prstGeom prst="rect">
            <a:avLst/>
          </a:prstGeom>
          <a:noFill/>
          <a:ln/>
        </p:spPr>
        <p:txBody>
          <a:bodyPr wrap="square" lIns="0" tIns="0" rIns="0" bIns="0" rtlCol="0" anchor="ctr"/>
          <a:lstStyle/>
          <a:p>
            <a:pPr marL="0" indent="0">
              <a:buNone/>
            </a:pPr>
            <a:r>
              <a:rPr lang="en-US" sz="1400" dirty="0">
                <a:solidFill>
                  <a:srgbClr val="374151"/>
                </a:solidFill>
                <a:latin typeface="Aptos" pitchFamily="34" charset="0"/>
                <a:ea typeface="Aptos" pitchFamily="34" charset="-122"/>
                <a:cs typeface="Aptos" pitchFamily="34" charset="-120"/>
              </a:rPr>
              <a:t>Stock Operation Window</a:t>
            </a:r>
            <a:endParaRPr lang="en-US" sz="1400" dirty="0"/>
          </a:p>
        </p:txBody>
      </p:sp>
      <p:sp>
        <p:nvSpPr>
          <p:cNvPr id="16" name="Text 14"/>
          <p:cNvSpPr/>
          <p:nvPr/>
        </p:nvSpPr>
        <p:spPr>
          <a:xfrm>
            <a:off x="4681728" y="2139696"/>
            <a:ext cx="1828800" cy="210312"/>
          </a:xfrm>
          <a:prstGeom prst="rect">
            <a:avLst/>
          </a:prstGeom>
          <a:noFill/>
          <a:ln/>
        </p:spPr>
        <p:txBody>
          <a:bodyPr wrap="square" lIns="0" tIns="0" rIns="0" bIns="0" rtlCol="0" anchor="ctr"/>
          <a:lstStyle/>
          <a:p>
            <a:pPr marL="0" indent="0" algn="ctr">
              <a:buNone/>
            </a:pPr>
            <a:r>
              <a:rPr lang="en-US" sz="1400" b="1" dirty="0">
                <a:solidFill>
                  <a:srgbClr val="1E3A5F"/>
                </a:solidFill>
                <a:latin typeface="Aptos Display" pitchFamily="34" charset="0"/>
                <a:ea typeface="Aptos Display" pitchFamily="34" charset="-122"/>
                <a:cs typeface="Aptos Display" pitchFamily="34" charset="-120"/>
              </a:rPr>
              <a:t>Sell / Restock</a:t>
            </a:r>
            <a:endParaRPr lang="en-US" sz="1400" dirty="0"/>
          </a:p>
        </p:txBody>
      </p:sp>
      <p:sp>
        <p:nvSpPr>
          <p:cNvPr id="17" name="Shape 15"/>
          <p:cNvSpPr/>
          <p:nvPr/>
        </p:nvSpPr>
        <p:spPr>
          <a:xfrm>
            <a:off x="4617720" y="2651760"/>
            <a:ext cx="2121408" cy="310896"/>
          </a:xfrm>
          <a:prstGeom prst="rect">
            <a:avLst/>
          </a:prstGeom>
          <a:solidFill>
            <a:srgbClr val="F8FAFC"/>
          </a:solidFill>
          <a:ln w="12700">
            <a:solidFill>
              <a:srgbClr val="E2E8F0"/>
            </a:solidFill>
            <a:prstDash val="solid"/>
          </a:ln>
        </p:spPr>
        <p:txBody>
          <a:bodyPr/>
          <a:lstStyle/>
          <a:p>
            <a:endParaRPr lang="en-CA"/>
          </a:p>
        </p:txBody>
      </p:sp>
      <p:sp>
        <p:nvSpPr>
          <p:cNvPr id="18" name="Text 16"/>
          <p:cNvSpPr/>
          <p:nvPr/>
        </p:nvSpPr>
        <p:spPr>
          <a:xfrm>
            <a:off x="4727448" y="2643988"/>
            <a:ext cx="1920240" cy="312724"/>
          </a:xfrm>
          <a:prstGeom prst="rect">
            <a:avLst/>
          </a:prstGeom>
          <a:noFill/>
          <a:ln/>
        </p:spPr>
        <p:txBody>
          <a:bodyPr wrap="square" lIns="0" tIns="0" rIns="0" bIns="0" rtlCol="0" anchor="ctr"/>
          <a:lstStyle/>
          <a:p>
            <a:pPr marL="0" indent="0">
              <a:buNone/>
            </a:pPr>
            <a:r>
              <a:rPr lang="en-US" sz="1100" dirty="0">
                <a:solidFill>
                  <a:srgbClr val="374151"/>
                </a:solidFill>
                <a:latin typeface="Aptos" pitchFamily="34" charset="0"/>
                <a:ea typeface="Aptos" pitchFamily="34" charset="-122"/>
                <a:cs typeface="Aptos" pitchFamily="34" charset="-120"/>
              </a:rPr>
              <a:t>Product ID: 4</a:t>
            </a:r>
            <a:endParaRPr lang="en-US" sz="1100" dirty="0"/>
          </a:p>
        </p:txBody>
      </p:sp>
      <p:sp>
        <p:nvSpPr>
          <p:cNvPr id="19" name="Shape 17"/>
          <p:cNvSpPr/>
          <p:nvPr/>
        </p:nvSpPr>
        <p:spPr>
          <a:xfrm>
            <a:off x="4617720" y="3182112"/>
            <a:ext cx="2121408" cy="310896"/>
          </a:xfrm>
          <a:prstGeom prst="rect">
            <a:avLst/>
          </a:prstGeom>
          <a:solidFill>
            <a:srgbClr val="F8FAFC"/>
          </a:solidFill>
          <a:ln w="12700">
            <a:solidFill>
              <a:srgbClr val="E2E8F0"/>
            </a:solidFill>
            <a:prstDash val="solid"/>
          </a:ln>
        </p:spPr>
        <p:txBody>
          <a:bodyPr/>
          <a:lstStyle/>
          <a:p>
            <a:endParaRPr lang="en-CA"/>
          </a:p>
        </p:txBody>
      </p:sp>
      <p:sp>
        <p:nvSpPr>
          <p:cNvPr id="20" name="Text 18"/>
          <p:cNvSpPr/>
          <p:nvPr/>
        </p:nvSpPr>
        <p:spPr>
          <a:xfrm>
            <a:off x="4727448" y="3174340"/>
            <a:ext cx="1920240" cy="312724"/>
          </a:xfrm>
          <a:prstGeom prst="rect">
            <a:avLst/>
          </a:prstGeom>
          <a:noFill/>
          <a:ln/>
        </p:spPr>
        <p:txBody>
          <a:bodyPr wrap="square" lIns="0" tIns="0" rIns="0" bIns="0" rtlCol="0" anchor="ctr"/>
          <a:lstStyle/>
          <a:p>
            <a:pPr marL="0" indent="0">
              <a:buNone/>
            </a:pPr>
            <a:r>
              <a:rPr lang="en-US" sz="1100" dirty="0">
                <a:solidFill>
                  <a:srgbClr val="374151"/>
                </a:solidFill>
                <a:latin typeface="Aptos" pitchFamily="34" charset="0"/>
                <a:ea typeface="Aptos" pitchFamily="34" charset="-122"/>
                <a:cs typeface="Aptos" pitchFamily="34" charset="-120"/>
              </a:rPr>
              <a:t>Quantity: 3</a:t>
            </a:r>
            <a:endParaRPr lang="en-US" sz="1100" dirty="0"/>
          </a:p>
        </p:txBody>
      </p:sp>
      <p:sp>
        <p:nvSpPr>
          <p:cNvPr id="21" name="Shape 19"/>
          <p:cNvSpPr/>
          <p:nvPr/>
        </p:nvSpPr>
        <p:spPr>
          <a:xfrm>
            <a:off x="4617720" y="3712464"/>
            <a:ext cx="2121408" cy="310896"/>
          </a:xfrm>
          <a:prstGeom prst="rect">
            <a:avLst/>
          </a:prstGeom>
          <a:solidFill>
            <a:srgbClr val="F8FAFC"/>
          </a:solidFill>
          <a:ln w="12700">
            <a:solidFill>
              <a:srgbClr val="E2E8F0"/>
            </a:solidFill>
            <a:prstDash val="solid"/>
          </a:ln>
        </p:spPr>
        <p:txBody>
          <a:bodyPr/>
          <a:lstStyle/>
          <a:p>
            <a:endParaRPr lang="en-CA"/>
          </a:p>
        </p:txBody>
      </p:sp>
      <p:sp>
        <p:nvSpPr>
          <p:cNvPr id="22" name="Text 20"/>
          <p:cNvSpPr/>
          <p:nvPr/>
        </p:nvSpPr>
        <p:spPr>
          <a:xfrm>
            <a:off x="4727448" y="3704692"/>
            <a:ext cx="1920240" cy="312724"/>
          </a:xfrm>
          <a:prstGeom prst="rect">
            <a:avLst/>
          </a:prstGeom>
          <a:noFill/>
          <a:ln/>
        </p:spPr>
        <p:txBody>
          <a:bodyPr wrap="square" lIns="0" tIns="0" rIns="0" bIns="0" rtlCol="0" anchor="ctr"/>
          <a:lstStyle/>
          <a:p>
            <a:pPr marL="0" indent="0">
              <a:buNone/>
            </a:pPr>
            <a:r>
              <a:rPr lang="en-US" sz="1100" dirty="0">
                <a:solidFill>
                  <a:srgbClr val="374151"/>
                </a:solidFill>
                <a:latin typeface="Aptos" pitchFamily="34" charset="0"/>
                <a:ea typeface="Aptos" pitchFamily="34" charset="-122"/>
                <a:cs typeface="Aptos" pitchFamily="34" charset="-120"/>
              </a:rPr>
              <a:t>Action: Sell Product</a:t>
            </a:r>
            <a:endParaRPr lang="en-US" sz="1100" dirty="0"/>
          </a:p>
        </p:txBody>
      </p:sp>
      <p:sp>
        <p:nvSpPr>
          <p:cNvPr id="23" name="Shape 21"/>
          <p:cNvSpPr/>
          <p:nvPr/>
        </p:nvSpPr>
        <p:spPr>
          <a:xfrm>
            <a:off x="4617720" y="4498848"/>
            <a:ext cx="2121408" cy="347472"/>
          </a:xfrm>
          <a:prstGeom prst="rect">
            <a:avLst/>
          </a:prstGeom>
          <a:solidFill>
            <a:srgbClr val="2B5C8A"/>
          </a:solidFill>
          <a:ln w="12700">
            <a:solidFill>
              <a:srgbClr val="2B5C8A"/>
            </a:solidFill>
            <a:prstDash val="solid"/>
          </a:ln>
        </p:spPr>
        <p:txBody>
          <a:bodyPr/>
          <a:lstStyle/>
          <a:p>
            <a:endParaRPr lang="en-CA"/>
          </a:p>
        </p:txBody>
      </p:sp>
      <p:sp>
        <p:nvSpPr>
          <p:cNvPr id="24" name="Text 22"/>
          <p:cNvSpPr/>
          <p:nvPr/>
        </p:nvSpPr>
        <p:spPr>
          <a:xfrm>
            <a:off x="4617720" y="4498848"/>
            <a:ext cx="2121408"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SUBMIT</a:t>
            </a:r>
            <a:endParaRPr lang="en-US" sz="1200" dirty="0"/>
          </a:p>
        </p:txBody>
      </p:sp>
      <p:sp>
        <p:nvSpPr>
          <p:cNvPr id="33" name="Text 31"/>
          <p:cNvSpPr/>
          <p:nvPr/>
        </p:nvSpPr>
        <p:spPr>
          <a:xfrm>
            <a:off x="411480" y="6455664"/>
            <a:ext cx="10789920" cy="146304"/>
          </a:xfrm>
          <a:prstGeom prst="rect">
            <a:avLst/>
          </a:prstGeom>
          <a:noFill/>
          <a:ln/>
        </p:spPr>
        <p:txBody>
          <a:bodyPr wrap="square" rtlCol="0" anchor="ctr"/>
          <a:lstStyle/>
          <a:p>
            <a:pPr marL="0" indent="0">
              <a:buNone/>
            </a:pPr>
            <a:endParaRPr lang="en-US" sz="750" dirty="0"/>
          </a:p>
        </p:txBody>
      </p:sp>
      <p:sp>
        <p:nvSpPr>
          <p:cNvPr id="34" name="Slide Number Placeholder 0"/>
          <p:cNvSpPr>
            <a:spLocks noGrp="1"/>
          </p:cNvSpPr>
          <p:nvPr>
            <p:ph type="sldNum" sz="quarter" idx="4294967295"/>
          </p:nvPr>
        </p:nvSpPr>
        <p:spPr>
          <a:xfrm>
            <a:off x="11475720" y="664768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10</a:t>
            </a:fld>
            <a:endParaRPr lang="en-US"/>
          </a:p>
        </p:txBody>
      </p:sp>
      <p:pic>
        <p:nvPicPr>
          <p:cNvPr id="36" name="Picture 35">
            <a:extLst>
              <a:ext uri="{FF2B5EF4-FFF2-40B4-BE49-F238E27FC236}">
                <a16:creationId xmlns:a16="http://schemas.microsoft.com/office/drawing/2014/main" id="{EDF060E5-DCD7-4321-7734-BD941038D0A7}"/>
              </a:ext>
            </a:extLst>
          </p:cNvPr>
          <p:cNvPicPr>
            <a:picLocks noChangeAspect="1"/>
          </p:cNvPicPr>
          <p:nvPr/>
        </p:nvPicPr>
        <p:blipFill>
          <a:blip r:embed="rId3"/>
          <a:stretch>
            <a:fillRect/>
          </a:stretch>
        </p:blipFill>
        <p:spPr>
          <a:xfrm>
            <a:off x="7562088" y="2171700"/>
            <a:ext cx="4190793" cy="2331720"/>
          </a:xfrm>
          <a:prstGeom prst="rect">
            <a:avLst/>
          </a:prstGeom>
          <a:ln w="50800">
            <a:solidFill>
              <a:schemeClr val="tx1"/>
            </a:solidFill>
          </a:ln>
        </p:spPr>
      </p:pic>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3" name="Text 1"/>
          <p:cNvSpPr/>
          <p:nvPr/>
        </p:nvSpPr>
        <p:spPr>
          <a:xfrm>
            <a:off x="11494008" y="6656832"/>
            <a:ext cx="320040" cy="128016"/>
          </a:xfrm>
          <a:prstGeom prst="rect">
            <a:avLst/>
          </a:prstGeom>
          <a:noFill/>
          <a:ln/>
        </p:spPr>
        <p:txBody>
          <a:bodyPr wrap="square" rtlCol="0" anchor="ctr"/>
          <a:lstStyle/>
          <a:p>
            <a:pPr marL="0" indent="0" algn="r">
              <a:buNone/>
            </a:pPr>
            <a:r>
              <a:rPr lang="en-US" sz="750" dirty="0">
                <a:solidFill>
                  <a:srgbClr val="6B7280"/>
                </a:solidFill>
                <a:latin typeface="Aptos" pitchFamily="34" charset="0"/>
                <a:ea typeface="Aptos" pitchFamily="34" charset="-122"/>
                <a:cs typeface="Aptos" pitchFamily="34" charset="-120"/>
              </a:rPr>
              <a:t>11</a:t>
            </a:r>
            <a:endParaRPr lang="en-US" sz="750" dirty="0"/>
          </a:p>
        </p:txBody>
      </p:sp>
      <p:sp>
        <p:nvSpPr>
          <p:cNvPr id="4" name="Text 2"/>
          <p:cNvSpPr/>
          <p:nvPr/>
        </p:nvSpPr>
        <p:spPr>
          <a:xfrm>
            <a:off x="502920" y="384048"/>
            <a:ext cx="10789920" cy="320040"/>
          </a:xfrm>
          <a:prstGeom prst="rect">
            <a:avLst/>
          </a:prstGeom>
          <a:noFill/>
          <a:ln/>
        </p:spPr>
        <p:txBody>
          <a:bodyPr wrap="square" lIns="0" tIns="0" rIns="0" bIns="0" rtlCol="0" anchor="ctr"/>
          <a:lstStyle/>
          <a:p>
            <a:pPr marL="0" indent="0">
              <a:buNone/>
            </a:pPr>
            <a:r>
              <a:rPr lang="en-US" sz="2500" b="1" dirty="0">
                <a:solidFill>
                  <a:srgbClr val="1E3A5F"/>
                </a:solidFill>
                <a:latin typeface="Aptos Display" pitchFamily="34" charset="0"/>
                <a:ea typeface="Aptos Display" pitchFamily="34" charset="-122"/>
                <a:cs typeface="Aptos Display" pitchFamily="34" charset="-120"/>
              </a:rPr>
              <a:t>InventoryManager.java</a:t>
            </a:r>
            <a:endParaRPr lang="en-US" sz="2500" dirty="0"/>
          </a:p>
        </p:txBody>
      </p:sp>
      <p:sp>
        <p:nvSpPr>
          <p:cNvPr id="5" name="Text 3"/>
          <p:cNvSpPr/>
          <p:nvPr/>
        </p:nvSpPr>
        <p:spPr>
          <a:xfrm>
            <a:off x="521208" y="758952"/>
            <a:ext cx="10424160" cy="201168"/>
          </a:xfrm>
          <a:prstGeom prst="rect">
            <a:avLst/>
          </a:prstGeom>
          <a:noFill/>
          <a:ln/>
        </p:spPr>
        <p:txBody>
          <a:bodyPr wrap="square" lIns="0" tIns="0" rIns="0" bIns="0" rtlCol="0" anchor="ctr"/>
          <a:lstStyle/>
          <a:p>
            <a:pPr marL="0" indent="0">
              <a:buNone/>
            </a:pPr>
            <a:r>
              <a:rPr lang="en-US" sz="1200" dirty="0">
                <a:solidFill>
                  <a:srgbClr val="667085"/>
                </a:solidFill>
                <a:latin typeface="Aptos" pitchFamily="34" charset="0"/>
                <a:ea typeface="Aptos" pitchFamily="34" charset="-122"/>
                <a:cs typeface="Aptos" pitchFamily="34" charset="-120"/>
              </a:rPr>
              <a:t>Business logic class: implements StockOperations and talks to the database</a:t>
            </a:r>
            <a:endParaRPr lang="en-US" sz="1200" dirty="0"/>
          </a:p>
        </p:txBody>
      </p:sp>
      <p:sp>
        <p:nvSpPr>
          <p:cNvPr id="6" name="Shape 4"/>
          <p:cNvSpPr/>
          <p:nvPr/>
        </p:nvSpPr>
        <p:spPr>
          <a:xfrm>
            <a:off x="521208" y="1005840"/>
            <a:ext cx="11155680" cy="0"/>
          </a:xfrm>
          <a:prstGeom prst="line">
            <a:avLst/>
          </a:prstGeom>
          <a:noFill/>
          <a:ln w="12700">
            <a:solidFill>
              <a:srgbClr val="CBD5E1"/>
            </a:solidFill>
            <a:prstDash val="solid"/>
          </a:ln>
        </p:spPr>
        <p:txBody>
          <a:bodyPr/>
          <a:lstStyle/>
          <a:p>
            <a:endParaRPr lang="en-CA"/>
          </a:p>
        </p:txBody>
      </p:sp>
      <p:sp>
        <p:nvSpPr>
          <p:cNvPr id="7" name="Shape 5"/>
          <p:cNvSpPr/>
          <p:nvPr/>
        </p:nvSpPr>
        <p:spPr>
          <a:xfrm>
            <a:off x="502921" y="1280160"/>
            <a:ext cx="5840214" cy="4818888"/>
          </a:xfrm>
          <a:prstGeom prst="roundRect">
            <a:avLst>
              <a:gd name="adj" fmla="val 2133"/>
            </a:avLst>
          </a:prstGeom>
          <a:solidFill>
            <a:srgbClr val="FFFFFF"/>
          </a:solidFill>
          <a:ln w="12700">
            <a:solidFill>
              <a:srgbClr val="D0D7E2"/>
            </a:solidFill>
            <a:prstDash val="solid"/>
          </a:ln>
        </p:spPr>
        <p:txBody>
          <a:bodyPr/>
          <a:lstStyle/>
          <a:p>
            <a:endParaRPr lang="en-CA"/>
          </a:p>
        </p:txBody>
      </p:sp>
      <p:sp>
        <p:nvSpPr>
          <p:cNvPr id="8" name="Text 6"/>
          <p:cNvSpPr/>
          <p:nvPr/>
        </p:nvSpPr>
        <p:spPr>
          <a:xfrm>
            <a:off x="657027" y="1389888"/>
            <a:ext cx="5341849" cy="259080"/>
          </a:xfrm>
          <a:prstGeom prst="rect">
            <a:avLst/>
          </a:prstGeom>
          <a:noFill/>
          <a:ln/>
        </p:spPr>
        <p:txBody>
          <a:bodyPr wrap="square" lIns="0" tIns="0" rIns="0" bIns="0" rtlCol="0" anchor="ctr"/>
          <a:lstStyle/>
          <a:p>
            <a:pPr marL="0" indent="0">
              <a:buNone/>
            </a:pPr>
            <a:r>
              <a:rPr lang="en-US" b="1" dirty="0">
                <a:solidFill>
                  <a:srgbClr val="1E3A5F"/>
                </a:solidFill>
                <a:latin typeface="Aptos Display" pitchFamily="34" charset="0"/>
                <a:ea typeface="Aptos Display" pitchFamily="34" charset="-122"/>
                <a:cs typeface="Aptos Display" pitchFamily="34" charset="-120"/>
              </a:rPr>
              <a:t>Main Responsibilities</a:t>
            </a:r>
            <a:endParaRPr lang="en-US" dirty="0"/>
          </a:p>
        </p:txBody>
      </p:sp>
      <p:sp>
        <p:nvSpPr>
          <p:cNvPr id="9" name="Text 7"/>
          <p:cNvSpPr/>
          <p:nvPr/>
        </p:nvSpPr>
        <p:spPr>
          <a:xfrm>
            <a:off x="988541" y="1923286"/>
            <a:ext cx="4982634" cy="4011169"/>
          </a:xfrm>
          <a:prstGeom prst="rect">
            <a:avLst/>
          </a:prstGeom>
          <a:noFill/>
          <a:ln/>
        </p:spPr>
        <p:txBody>
          <a:bodyPr wrap="square" lIns="254" tIns="254" rIns="254" bIns="254" rtlCol="0" anchor="t">
            <a:normAutofit/>
          </a:bodyPr>
          <a:lstStyle/>
          <a:p>
            <a:pPr marL="0" indent="0">
              <a:buNone/>
            </a:pPr>
            <a:r>
              <a:rPr lang="en-US" sz="1600" dirty="0">
                <a:solidFill>
                  <a:srgbClr val="374151"/>
                </a:solidFill>
                <a:latin typeface="Aptos" pitchFamily="34" charset="0"/>
                <a:ea typeface="Aptos" pitchFamily="34" charset="-122"/>
                <a:cs typeface="Aptos" pitchFamily="34" charset="-120"/>
              </a:rPr>
              <a:t>• Implements </a:t>
            </a:r>
            <a:r>
              <a:rPr lang="en-US" sz="1600" dirty="0" err="1">
                <a:solidFill>
                  <a:srgbClr val="374151"/>
                </a:solidFill>
                <a:latin typeface="Aptos" pitchFamily="34" charset="0"/>
                <a:ea typeface="Aptos" pitchFamily="34" charset="-122"/>
                <a:cs typeface="Aptos" pitchFamily="34" charset="-120"/>
              </a:rPr>
              <a:t>StockOperations</a:t>
            </a:r>
            <a:r>
              <a:rPr lang="en-US" sz="1600" dirty="0">
                <a:solidFill>
                  <a:srgbClr val="374151"/>
                </a:solidFill>
                <a:latin typeface="Aptos" pitchFamily="34" charset="0"/>
                <a:ea typeface="Aptos" pitchFamily="34" charset="-122"/>
                <a:cs typeface="Aptos" pitchFamily="34" charset="-120"/>
              </a:rPr>
              <a:t> interface</a:t>
            </a:r>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 Handles 9 inventory methods</a:t>
            </a:r>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 Validates product and quantity data</a:t>
            </a:r>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 Runs INSERT, SELECT, UPDATE, DELETE queries</a:t>
            </a:r>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 Maps ResultSet data into Product objects</a:t>
            </a:r>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 Throws ProductException for errors / alerts</a:t>
            </a:r>
            <a:endParaRPr lang="en-US" sz="1600" dirty="0"/>
          </a:p>
        </p:txBody>
      </p:sp>
      <p:sp>
        <p:nvSpPr>
          <p:cNvPr id="15" name="Text 13"/>
          <p:cNvSpPr/>
          <p:nvPr/>
        </p:nvSpPr>
        <p:spPr>
          <a:xfrm>
            <a:off x="411480" y="6455664"/>
            <a:ext cx="10789920" cy="146304"/>
          </a:xfrm>
          <a:prstGeom prst="rect">
            <a:avLst/>
          </a:prstGeom>
          <a:noFill/>
          <a:ln/>
        </p:spPr>
        <p:txBody>
          <a:bodyPr wrap="square" rtlCol="0" anchor="ctr"/>
          <a:lstStyle/>
          <a:p>
            <a:pPr marL="0" indent="0">
              <a:buNone/>
            </a:pPr>
            <a:endParaRPr lang="en-US" sz="750" dirty="0"/>
          </a:p>
        </p:txBody>
      </p:sp>
      <p:sp>
        <p:nvSpPr>
          <p:cNvPr id="25" name="Slide Number Placeholder 0"/>
          <p:cNvSpPr>
            <a:spLocks noGrp="1"/>
          </p:cNvSpPr>
          <p:nvPr>
            <p:ph type="sldNum" sz="quarter" idx="4294967295"/>
          </p:nvPr>
        </p:nvSpPr>
        <p:spPr>
          <a:xfrm>
            <a:off x="11475720" y="664768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3" name="Text 1"/>
          <p:cNvSpPr/>
          <p:nvPr/>
        </p:nvSpPr>
        <p:spPr>
          <a:xfrm>
            <a:off x="11494008" y="6656832"/>
            <a:ext cx="320040" cy="128016"/>
          </a:xfrm>
          <a:prstGeom prst="rect">
            <a:avLst/>
          </a:prstGeom>
          <a:noFill/>
          <a:ln/>
        </p:spPr>
        <p:txBody>
          <a:bodyPr wrap="square" rtlCol="0" anchor="ctr"/>
          <a:lstStyle/>
          <a:p>
            <a:pPr marL="0" indent="0" algn="r">
              <a:buNone/>
            </a:pPr>
            <a:r>
              <a:rPr lang="en-US" sz="750" dirty="0">
                <a:solidFill>
                  <a:srgbClr val="6B7280"/>
                </a:solidFill>
                <a:latin typeface="Aptos" pitchFamily="34" charset="0"/>
                <a:ea typeface="Aptos" pitchFamily="34" charset="-122"/>
                <a:cs typeface="Aptos" pitchFamily="34" charset="-120"/>
              </a:rPr>
              <a:t>12</a:t>
            </a:r>
            <a:endParaRPr lang="en-US" sz="750" dirty="0"/>
          </a:p>
        </p:txBody>
      </p:sp>
      <p:sp>
        <p:nvSpPr>
          <p:cNvPr id="4" name="Text 2"/>
          <p:cNvSpPr/>
          <p:nvPr/>
        </p:nvSpPr>
        <p:spPr>
          <a:xfrm>
            <a:off x="502920" y="384048"/>
            <a:ext cx="10789920" cy="320040"/>
          </a:xfrm>
          <a:prstGeom prst="rect">
            <a:avLst/>
          </a:prstGeom>
          <a:noFill/>
          <a:ln/>
        </p:spPr>
        <p:txBody>
          <a:bodyPr wrap="square" lIns="0" tIns="0" rIns="0" bIns="0" rtlCol="0" anchor="ctr"/>
          <a:lstStyle/>
          <a:p>
            <a:pPr marL="0" indent="0">
              <a:buNone/>
            </a:pPr>
            <a:r>
              <a:rPr lang="en-US" sz="2500" b="1" dirty="0">
                <a:solidFill>
                  <a:srgbClr val="1E3A5F"/>
                </a:solidFill>
                <a:latin typeface="Aptos Display" pitchFamily="34" charset="0"/>
                <a:ea typeface="Aptos Display" pitchFamily="34" charset="-122"/>
                <a:cs typeface="Aptos Display" pitchFamily="34" charset="-120"/>
              </a:rPr>
              <a:t>Low Stock Alert Logic</a:t>
            </a:r>
            <a:endParaRPr lang="en-US" sz="2500" dirty="0"/>
          </a:p>
        </p:txBody>
      </p:sp>
      <p:sp>
        <p:nvSpPr>
          <p:cNvPr id="5" name="Text 3"/>
          <p:cNvSpPr/>
          <p:nvPr/>
        </p:nvSpPr>
        <p:spPr>
          <a:xfrm>
            <a:off x="521208" y="832796"/>
            <a:ext cx="10424160" cy="201168"/>
          </a:xfrm>
          <a:prstGeom prst="rect">
            <a:avLst/>
          </a:prstGeom>
          <a:noFill/>
          <a:ln/>
        </p:spPr>
        <p:txBody>
          <a:bodyPr wrap="square" lIns="0" tIns="0" rIns="0" bIns="0" rtlCol="0" anchor="ctr"/>
          <a:lstStyle/>
          <a:p>
            <a:pPr marL="0" indent="0">
              <a:buNone/>
            </a:pPr>
            <a:r>
              <a:rPr lang="en-US" sz="1200" dirty="0">
                <a:solidFill>
                  <a:srgbClr val="667085"/>
                </a:solidFill>
                <a:latin typeface="Aptos" pitchFamily="34" charset="0"/>
                <a:ea typeface="Aptos" pitchFamily="34" charset="-122"/>
                <a:cs typeface="Aptos" pitchFamily="34" charset="-120"/>
              </a:rPr>
              <a:t>Threshold = 5, alert after sale if remaining quantity becomes low</a:t>
            </a:r>
            <a:endParaRPr lang="en-US" sz="1200" dirty="0"/>
          </a:p>
        </p:txBody>
      </p:sp>
      <p:sp>
        <p:nvSpPr>
          <p:cNvPr id="6" name="Shape 4"/>
          <p:cNvSpPr/>
          <p:nvPr/>
        </p:nvSpPr>
        <p:spPr>
          <a:xfrm>
            <a:off x="521208" y="1195014"/>
            <a:ext cx="11155680" cy="0"/>
          </a:xfrm>
          <a:prstGeom prst="line">
            <a:avLst/>
          </a:prstGeom>
          <a:noFill/>
          <a:ln w="12700">
            <a:solidFill>
              <a:srgbClr val="CBD5E1"/>
            </a:solidFill>
            <a:prstDash val="solid"/>
          </a:ln>
        </p:spPr>
        <p:txBody>
          <a:bodyPr/>
          <a:lstStyle/>
          <a:p>
            <a:endParaRPr lang="en-CA"/>
          </a:p>
        </p:txBody>
      </p:sp>
      <p:sp>
        <p:nvSpPr>
          <p:cNvPr id="7" name="Shape 5"/>
          <p:cNvSpPr/>
          <p:nvPr/>
        </p:nvSpPr>
        <p:spPr>
          <a:xfrm>
            <a:off x="731520" y="1666959"/>
            <a:ext cx="1737360" cy="658368"/>
          </a:xfrm>
          <a:prstGeom prst="roundRect">
            <a:avLst>
              <a:gd name="adj" fmla="val 11111"/>
            </a:avLst>
          </a:prstGeom>
          <a:solidFill>
            <a:srgbClr val="FFFFFF"/>
          </a:solidFill>
          <a:ln w="12700">
            <a:solidFill>
              <a:srgbClr val="CBD5E1"/>
            </a:solidFill>
            <a:prstDash val="solid"/>
          </a:ln>
        </p:spPr>
        <p:txBody>
          <a:bodyPr/>
          <a:lstStyle/>
          <a:p>
            <a:endParaRPr lang="en-CA"/>
          </a:p>
        </p:txBody>
      </p:sp>
      <p:sp>
        <p:nvSpPr>
          <p:cNvPr id="8" name="Text 6"/>
          <p:cNvSpPr/>
          <p:nvPr/>
        </p:nvSpPr>
        <p:spPr>
          <a:xfrm>
            <a:off x="822960" y="1716834"/>
            <a:ext cx="1554480" cy="598517"/>
          </a:xfrm>
          <a:prstGeom prst="rect">
            <a:avLst/>
          </a:prstGeom>
          <a:noFill/>
          <a:ln/>
        </p:spPr>
        <p:txBody>
          <a:bodyPr wrap="square" lIns="0" tIns="0" rIns="0" bIns="0" rtlCol="0" anchor="ctr">
            <a:normAutofit/>
          </a:bodyPr>
          <a:lstStyle/>
          <a:p>
            <a:pPr marL="0" indent="0" algn="ctr">
              <a:buNone/>
            </a:pPr>
            <a:r>
              <a:rPr lang="en-US" sz="1200" b="1" dirty="0">
                <a:solidFill>
                  <a:srgbClr val="1E3A5F"/>
                </a:solidFill>
                <a:latin typeface="Aptos" pitchFamily="34" charset="0"/>
                <a:ea typeface="Aptos" pitchFamily="34" charset="-122"/>
                <a:cs typeface="Aptos" pitchFamily="34" charset="-120"/>
              </a:rPr>
              <a:t>Sell button clicked</a:t>
            </a:r>
            <a:endParaRPr lang="en-US" sz="1200" dirty="0"/>
          </a:p>
        </p:txBody>
      </p:sp>
      <p:sp>
        <p:nvSpPr>
          <p:cNvPr id="9" name="Shape 7"/>
          <p:cNvSpPr/>
          <p:nvPr/>
        </p:nvSpPr>
        <p:spPr>
          <a:xfrm>
            <a:off x="731520" y="3052481"/>
            <a:ext cx="1737360" cy="658368"/>
          </a:xfrm>
          <a:prstGeom prst="roundRect">
            <a:avLst>
              <a:gd name="adj" fmla="val 11111"/>
            </a:avLst>
          </a:prstGeom>
          <a:solidFill>
            <a:srgbClr val="EFF6FF"/>
          </a:solidFill>
          <a:ln w="12700">
            <a:solidFill>
              <a:srgbClr val="CBD5E1"/>
            </a:solidFill>
            <a:prstDash val="solid"/>
          </a:ln>
        </p:spPr>
        <p:txBody>
          <a:bodyPr/>
          <a:lstStyle/>
          <a:p>
            <a:endParaRPr lang="en-CA"/>
          </a:p>
        </p:txBody>
      </p:sp>
      <p:sp>
        <p:nvSpPr>
          <p:cNvPr id="10" name="Text 8"/>
          <p:cNvSpPr/>
          <p:nvPr/>
        </p:nvSpPr>
        <p:spPr>
          <a:xfrm>
            <a:off x="822960" y="3102356"/>
            <a:ext cx="1554480" cy="598517"/>
          </a:xfrm>
          <a:prstGeom prst="rect">
            <a:avLst/>
          </a:prstGeom>
          <a:noFill/>
          <a:ln/>
        </p:spPr>
        <p:txBody>
          <a:bodyPr wrap="square" lIns="0" tIns="0" rIns="0" bIns="0" rtlCol="0" anchor="ctr">
            <a:normAutofit/>
          </a:bodyPr>
          <a:lstStyle/>
          <a:p>
            <a:pPr marL="0" indent="0" algn="ctr">
              <a:buNone/>
            </a:pPr>
            <a:r>
              <a:rPr lang="en-US" sz="1200" b="1" dirty="0">
                <a:solidFill>
                  <a:srgbClr val="1E3A5F"/>
                </a:solidFill>
                <a:latin typeface="Aptos" pitchFamily="34" charset="0"/>
                <a:ea typeface="Aptos" pitchFamily="34" charset="-122"/>
                <a:cs typeface="Aptos" pitchFamily="34" charset="-120"/>
              </a:rPr>
              <a:t>reduceStock() called</a:t>
            </a:r>
            <a:endParaRPr lang="en-US" sz="1200" dirty="0"/>
          </a:p>
        </p:txBody>
      </p:sp>
      <p:sp>
        <p:nvSpPr>
          <p:cNvPr id="11" name="Shape 9"/>
          <p:cNvSpPr/>
          <p:nvPr/>
        </p:nvSpPr>
        <p:spPr>
          <a:xfrm>
            <a:off x="3180877" y="3061625"/>
            <a:ext cx="1737360" cy="658368"/>
          </a:xfrm>
          <a:prstGeom prst="roundRect">
            <a:avLst>
              <a:gd name="adj" fmla="val 11111"/>
            </a:avLst>
          </a:prstGeom>
          <a:solidFill>
            <a:srgbClr val="FFFFFF"/>
          </a:solidFill>
          <a:ln w="12700">
            <a:solidFill>
              <a:srgbClr val="CBD5E1"/>
            </a:solidFill>
            <a:prstDash val="solid"/>
          </a:ln>
        </p:spPr>
        <p:txBody>
          <a:bodyPr/>
          <a:lstStyle/>
          <a:p>
            <a:endParaRPr lang="en-CA"/>
          </a:p>
        </p:txBody>
      </p:sp>
      <p:sp>
        <p:nvSpPr>
          <p:cNvPr id="12" name="Text 10"/>
          <p:cNvSpPr/>
          <p:nvPr/>
        </p:nvSpPr>
        <p:spPr>
          <a:xfrm>
            <a:off x="3272317" y="3111500"/>
            <a:ext cx="1554480" cy="598517"/>
          </a:xfrm>
          <a:prstGeom prst="rect">
            <a:avLst/>
          </a:prstGeom>
          <a:noFill/>
          <a:ln/>
        </p:spPr>
        <p:txBody>
          <a:bodyPr wrap="square" lIns="0" tIns="0" rIns="0" bIns="0" rtlCol="0" anchor="ctr">
            <a:noAutofit/>
          </a:bodyPr>
          <a:lstStyle/>
          <a:p>
            <a:pPr marL="0" indent="0" algn="ctr">
              <a:buNone/>
            </a:pPr>
            <a:r>
              <a:rPr lang="en-US" sz="1000" b="1" dirty="0">
                <a:solidFill>
                  <a:srgbClr val="1E3A5F"/>
                </a:solidFill>
                <a:latin typeface="Aptos" pitchFamily="34" charset="0"/>
                <a:ea typeface="Aptos" pitchFamily="34" charset="-122"/>
                <a:cs typeface="Aptos" pitchFamily="34" charset="-120"/>
              </a:rPr>
              <a:t>Update database</a:t>
            </a:r>
          </a:p>
          <a:p>
            <a:pPr marL="0" indent="0" algn="ctr">
              <a:buNone/>
            </a:pPr>
            <a:endParaRPr lang="en-US" sz="1000" dirty="0"/>
          </a:p>
          <a:p>
            <a:pPr marL="0" indent="0" algn="ctr">
              <a:buNone/>
            </a:pPr>
            <a:r>
              <a:rPr lang="en-US" sz="900" b="1" dirty="0">
                <a:solidFill>
                  <a:srgbClr val="1E3A5F"/>
                </a:solidFill>
                <a:latin typeface="Aptos" pitchFamily="34" charset="0"/>
                <a:ea typeface="Aptos" pitchFamily="34" charset="-122"/>
                <a:cs typeface="Aptos" pitchFamily="34" charset="-120"/>
              </a:rPr>
              <a:t>quantity = quantity - soldQty</a:t>
            </a:r>
            <a:endParaRPr lang="en-US" sz="900" dirty="0"/>
          </a:p>
        </p:txBody>
      </p:sp>
      <p:sp>
        <p:nvSpPr>
          <p:cNvPr id="13" name="Shape 11"/>
          <p:cNvSpPr/>
          <p:nvPr/>
        </p:nvSpPr>
        <p:spPr>
          <a:xfrm>
            <a:off x="3178611" y="1676103"/>
            <a:ext cx="1737360" cy="658368"/>
          </a:xfrm>
          <a:prstGeom prst="roundRect">
            <a:avLst>
              <a:gd name="adj" fmla="val 11111"/>
            </a:avLst>
          </a:prstGeom>
          <a:solidFill>
            <a:srgbClr val="EFF6FF"/>
          </a:solidFill>
          <a:ln w="12700">
            <a:solidFill>
              <a:srgbClr val="CBD5E1"/>
            </a:solidFill>
            <a:prstDash val="solid"/>
          </a:ln>
        </p:spPr>
        <p:txBody>
          <a:bodyPr/>
          <a:lstStyle/>
          <a:p>
            <a:endParaRPr lang="en-CA"/>
          </a:p>
        </p:txBody>
      </p:sp>
      <p:sp>
        <p:nvSpPr>
          <p:cNvPr id="14" name="Text 12"/>
          <p:cNvSpPr/>
          <p:nvPr/>
        </p:nvSpPr>
        <p:spPr>
          <a:xfrm>
            <a:off x="3270051" y="1725978"/>
            <a:ext cx="1554480" cy="598517"/>
          </a:xfrm>
          <a:prstGeom prst="rect">
            <a:avLst/>
          </a:prstGeom>
          <a:noFill/>
          <a:ln/>
        </p:spPr>
        <p:txBody>
          <a:bodyPr wrap="square" lIns="0" tIns="0" rIns="0" bIns="0" rtlCol="0" anchor="ctr">
            <a:normAutofit/>
          </a:bodyPr>
          <a:lstStyle/>
          <a:p>
            <a:pPr marL="0" indent="0" algn="ctr">
              <a:buNone/>
            </a:pPr>
            <a:r>
              <a:rPr lang="en-US" sz="1200" b="1" dirty="0">
                <a:solidFill>
                  <a:srgbClr val="1E3A5F"/>
                </a:solidFill>
                <a:latin typeface="Aptos" pitchFamily="34" charset="0"/>
                <a:ea typeface="Aptos" pitchFamily="34" charset="-122"/>
                <a:cs typeface="Aptos" pitchFamily="34" charset="-120"/>
              </a:rPr>
              <a:t>Fetch updated product</a:t>
            </a:r>
            <a:endParaRPr lang="en-US" sz="1200" dirty="0"/>
          </a:p>
        </p:txBody>
      </p:sp>
      <p:sp>
        <p:nvSpPr>
          <p:cNvPr id="15" name="Shape 13"/>
          <p:cNvSpPr/>
          <p:nvPr/>
        </p:nvSpPr>
        <p:spPr>
          <a:xfrm>
            <a:off x="5936968" y="1665785"/>
            <a:ext cx="1737360" cy="658368"/>
          </a:xfrm>
          <a:prstGeom prst="roundRect">
            <a:avLst>
              <a:gd name="adj" fmla="val 11111"/>
            </a:avLst>
          </a:prstGeom>
          <a:solidFill>
            <a:srgbClr val="FEF3C7"/>
          </a:solidFill>
          <a:ln w="12700">
            <a:solidFill>
              <a:srgbClr val="CBD5E1"/>
            </a:solidFill>
            <a:prstDash val="solid"/>
          </a:ln>
        </p:spPr>
        <p:txBody>
          <a:bodyPr/>
          <a:lstStyle/>
          <a:p>
            <a:endParaRPr lang="en-CA"/>
          </a:p>
        </p:txBody>
      </p:sp>
      <p:sp>
        <p:nvSpPr>
          <p:cNvPr id="16" name="Text 14"/>
          <p:cNvSpPr/>
          <p:nvPr/>
        </p:nvSpPr>
        <p:spPr>
          <a:xfrm>
            <a:off x="6028408" y="1715660"/>
            <a:ext cx="1554480" cy="598517"/>
          </a:xfrm>
          <a:prstGeom prst="rect">
            <a:avLst/>
          </a:prstGeom>
          <a:noFill/>
          <a:ln/>
        </p:spPr>
        <p:txBody>
          <a:bodyPr wrap="square" lIns="0" tIns="0" rIns="0" bIns="0" rtlCol="0" anchor="ctr">
            <a:normAutofit/>
          </a:bodyPr>
          <a:lstStyle/>
          <a:p>
            <a:pPr marL="0" indent="0" algn="ctr">
              <a:buNone/>
            </a:pPr>
            <a:r>
              <a:rPr lang="en-US" sz="1200" b="1" dirty="0">
                <a:solidFill>
                  <a:srgbClr val="1E3A5F"/>
                </a:solidFill>
                <a:latin typeface="Aptos" pitchFamily="34" charset="0"/>
                <a:ea typeface="Aptos" pitchFamily="34" charset="-122"/>
                <a:cs typeface="Aptos" pitchFamily="34" charset="-120"/>
              </a:rPr>
              <a:t>quantity ≤ 5?</a:t>
            </a:r>
            <a:endParaRPr lang="en-US" sz="1200" dirty="0"/>
          </a:p>
        </p:txBody>
      </p:sp>
      <p:sp>
        <p:nvSpPr>
          <p:cNvPr id="17" name="Shape 15"/>
          <p:cNvSpPr/>
          <p:nvPr/>
        </p:nvSpPr>
        <p:spPr>
          <a:xfrm>
            <a:off x="1570956" y="2325327"/>
            <a:ext cx="0" cy="727154"/>
          </a:xfrm>
          <a:prstGeom prst="line">
            <a:avLst/>
          </a:prstGeom>
          <a:noFill/>
          <a:ln w="15240">
            <a:solidFill>
              <a:srgbClr val="2B5C8A"/>
            </a:solidFill>
            <a:prstDash val="solid"/>
            <a:headEnd type="none"/>
            <a:tailEnd type="triangle"/>
          </a:ln>
        </p:spPr>
        <p:txBody>
          <a:bodyPr/>
          <a:lstStyle/>
          <a:p>
            <a:endParaRPr lang="en-CA"/>
          </a:p>
        </p:txBody>
      </p:sp>
      <p:sp>
        <p:nvSpPr>
          <p:cNvPr id="18" name="Shape 16"/>
          <p:cNvSpPr/>
          <p:nvPr/>
        </p:nvSpPr>
        <p:spPr>
          <a:xfrm>
            <a:off x="2468879" y="3413051"/>
            <a:ext cx="711997" cy="0"/>
          </a:xfrm>
          <a:prstGeom prst="line">
            <a:avLst/>
          </a:prstGeom>
          <a:noFill/>
          <a:ln w="15240">
            <a:solidFill>
              <a:srgbClr val="2B5C8A"/>
            </a:solidFill>
            <a:prstDash val="solid"/>
            <a:headEnd type="none"/>
            <a:tailEnd type="triangle"/>
          </a:ln>
        </p:spPr>
        <p:txBody>
          <a:bodyPr/>
          <a:lstStyle/>
          <a:p>
            <a:endParaRPr lang="en-CA"/>
          </a:p>
        </p:txBody>
      </p:sp>
      <p:sp>
        <p:nvSpPr>
          <p:cNvPr id="19" name="Shape 17"/>
          <p:cNvSpPr/>
          <p:nvPr/>
        </p:nvSpPr>
        <p:spPr>
          <a:xfrm flipV="1">
            <a:off x="3948436" y="2343615"/>
            <a:ext cx="0" cy="724095"/>
          </a:xfrm>
          <a:prstGeom prst="line">
            <a:avLst/>
          </a:prstGeom>
          <a:noFill/>
          <a:ln w="15240">
            <a:solidFill>
              <a:srgbClr val="2B5C8A"/>
            </a:solidFill>
            <a:prstDash val="solid"/>
            <a:headEnd type="none"/>
            <a:tailEnd type="triangle"/>
          </a:ln>
        </p:spPr>
        <p:txBody>
          <a:bodyPr/>
          <a:lstStyle/>
          <a:p>
            <a:endParaRPr lang="en-CA"/>
          </a:p>
        </p:txBody>
      </p:sp>
      <p:sp>
        <p:nvSpPr>
          <p:cNvPr id="20" name="Shape 18"/>
          <p:cNvSpPr/>
          <p:nvPr/>
        </p:nvSpPr>
        <p:spPr>
          <a:xfrm flipV="1">
            <a:off x="4918237" y="2005979"/>
            <a:ext cx="1019183" cy="1"/>
          </a:xfrm>
          <a:prstGeom prst="line">
            <a:avLst/>
          </a:prstGeom>
          <a:noFill/>
          <a:ln w="15240">
            <a:solidFill>
              <a:srgbClr val="2B5C8A"/>
            </a:solidFill>
            <a:prstDash val="solid"/>
            <a:headEnd type="none"/>
            <a:tailEnd type="triangle"/>
          </a:ln>
        </p:spPr>
        <p:txBody>
          <a:bodyPr/>
          <a:lstStyle/>
          <a:p>
            <a:endParaRPr lang="en-CA"/>
          </a:p>
        </p:txBody>
      </p:sp>
      <p:sp>
        <p:nvSpPr>
          <p:cNvPr id="21" name="Shape 19"/>
          <p:cNvSpPr/>
          <p:nvPr/>
        </p:nvSpPr>
        <p:spPr>
          <a:xfrm>
            <a:off x="8749819" y="1685941"/>
            <a:ext cx="1737360" cy="658368"/>
          </a:xfrm>
          <a:prstGeom prst="roundRect">
            <a:avLst>
              <a:gd name="adj" fmla="val 11111"/>
            </a:avLst>
          </a:prstGeom>
          <a:solidFill>
            <a:srgbClr val="FEE2E2"/>
          </a:solidFill>
          <a:ln w="12700">
            <a:solidFill>
              <a:srgbClr val="FCA5A5"/>
            </a:solidFill>
            <a:prstDash val="solid"/>
          </a:ln>
        </p:spPr>
        <p:txBody>
          <a:bodyPr/>
          <a:lstStyle/>
          <a:p>
            <a:endParaRPr lang="en-CA"/>
          </a:p>
        </p:txBody>
      </p:sp>
      <p:sp>
        <p:nvSpPr>
          <p:cNvPr id="22" name="Text 20"/>
          <p:cNvSpPr/>
          <p:nvPr/>
        </p:nvSpPr>
        <p:spPr>
          <a:xfrm>
            <a:off x="8841259" y="1685941"/>
            <a:ext cx="1554480" cy="658368"/>
          </a:xfrm>
          <a:prstGeom prst="rect">
            <a:avLst/>
          </a:prstGeom>
          <a:noFill/>
          <a:ln/>
        </p:spPr>
        <p:txBody>
          <a:bodyPr wrap="square" lIns="0" tIns="0" rIns="0" bIns="0" rtlCol="0" anchor="ctr"/>
          <a:lstStyle/>
          <a:p>
            <a:pPr marL="0" indent="0" algn="ctr">
              <a:buNone/>
            </a:pPr>
            <a:r>
              <a:rPr lang="en-US" sz="1200" b="1" dirty="0">
                <a:solidFill>
                  <a:srgbClr val="B91C1C"/>
                </a:solidFill>
                <a:latin typeface="Aptos" pitchFamily="34" charset="0"/>
                <a:ea typeface="Aptos" pitchFamily="34" charset="-122"/>
                <a:cs typeface="Aptos" pitchFamily="34" charset="-120"/>
              </a:rPr>
              <a:t>Throw</a:t>
            </a:r>
            <a:endParaRPr lang="en-US" sz="1200" dirty="0"/>
          </a:p>
          <a:p>
            <a:pPr marL="0" indent="0" algn="ctr">
              <a:buNone/>
            </a:pPr>
            <a:r>
              <a:rPr lang="en-US" sz="1200" b="1" dirty="0">
                <a:solidFill>
                  <a:srgbClr val="B91C1C"/>
                </a:solidFill>
                <a:latin typeface="Aptos" pitchFamily="34" charset="0"/>
                <a:ea typeface="Aptos" pitchFamily="34" charset="-122"/>
                <a:cs typeface="Aptos" pitchFamily="34" charset="-120"/>
              </a:rPr>
              <a:t>ProductException</a:t>
            </a:r>
            <a:endParaRPr lang="en-US" sz="1200" dirty="0"/>
          </a:p>
        </p:txBody>
      </p:sp>
      <p:sp>
        <p:nvSpPr>
          <p:cNvPr id="23" name="Shape 21"/>
          <p:cNvSpPr/>
          <p:nvPr/>
        </p:nvSpPr>
        <p:spPr>
          <a:xfrm flipV="1">
            <a:off x="7674780" y="2005980"/>
            <a:ext cx="1075039" cy="0"/>
          </a:xfrm>
          <a:prstGeom prst="line">
            <a:avLst/>
          </a:prstGeom>
          <a:noFill/>
          <a:ln w="15240">
            <a:solidFill>
              <a:srgbClr val="B91C1C"/>
            </a:solidFill>
            <a:prstDash val="solid"/>
            <a:headEnd type="none"/>
            <a:tailEnd type="triangle"/>
          </a:ln>
        </p:spPr>
        <p:txBody>
          <a:bodyPr/>
          <a:lstStyle/>
          <a:p>
            <a:endParaRPr lang="en-CA"/>
          </a:p>
        </p:txBody>
      </p:sp>
      <p:sp>
        <p:nvSpPr>
          <p:cNvPr id="24" name="Shape 22"/>
          <p:cNvSpPr/>
          <p:nvPr/>
        </p:nvSpPr>
        <p:spPr>
          <a:xfrm>
            <a:off x="5937421" y="3062319"/>
            <a:ext cx="1737360" cy="658368"/>
          </a:xfrm>
          <a:prstGeom prst="roundRect">
            <a:avLst>
              <a:gd name="adj" fmla="val 11111"/>
            </a:avLst>
          </a:prstGeom>
          <a:solidFill>
            <a:srgbClr val="DCFCE7"/>
          </a:solidFill>
          <a:ln w="12700">
            <a:solidFill>
              <a:srgbClr val="86EFAC"/>
            </a:solidFill>
            <a:prstDash val="solid"/>
          </a:ln>
        </p:spPr>
        <p:txBody>
          <a:bodyPr/>
          <a:lstStyle/>
          <a:p>
            <a:endParaRPr lang="en-CA"/>
          </a:p>
        </p:txBody>
      </p:sp>
      <p:sp>
        <p:nvSpPr>
          <p:cNvPr id="25" name="Text 23"/>
          <p:cNvSpPr/>
          <p:nvPr/>
        </p:nvSpPr>
        <p:spPr>
          <a:xfrm>
            <a:off x="6047149" y="3062319"/>
            <a:ext cx="1508760" cy="658368"/>
          </a:xfrm>
          <a:prstGeom prst="rect">
            <a:avLst/>
          </a:prstGeom>
          <a:noFill/>
          <a:ln/>
        </p:spPr>
        <p:txBody>
          <a:bodyPr wrap="square" lIns="0" tIns="0" rIns="0" bIns="0" rtlCol="0" anchor="ctr"/>
          <a:lstStyle/>
          <a:p>
            <a:pPr marL="0" indent="0" algn="ctr">
              <a:buNone/>
            </a:pPr>
            <a:r>
              <a:rPr lang="en-US" sz="1200" b="1" dirty="0">
                <a:solidFill>
                  <a:srgbClr val="1F7A4D"/>
                </a:solidFill>
                <a:latin typeface="Aptos" pitchFamily="34" charset="0"/>
                <a:ea typeface="Aptos" pitchFamily="34" charset="-122"/>
                <a:cs typeface="Aptos" pitchFamily="34" charset="-120"/>
              </a:rPr>
              <a:t>Continue</a:t>
            </a:r>
            <a:endParaRPr lang="en-US" sz="1200" dirty="0"/>
          </a:p>
          <a:p>
            <a:pPr marL="0" indent="0" algn="ctr">
              <a:buNone/>
            </a:pPr>
            <a:r>
              <a:rPr lang="en-US" sz="1200" b="1" dirty="0">
                <a:solidFill>
                  <a:srgbClr val="1F7A4D"/>
                </a:solidFill>
                <a:latin typeface="Aptos" pitchFamily="34" charset="0"/>
                <a:ea typeface="Aptos" pitchFamily="34" charset="-122"/>
                <a:cs typeface="Aptos" pitchFamily="34" charset="-120"/>
              </a:rPr>
              <a:t>normal message</a:t>
            </a:r>
            <a:endParaRPr lang="en-US" sz="1200" dirty="0"/>
          </a:p>
        </p:txBody>
      </p:sp>
      <p:sp>
        <p:nvSpPr>
          <p:cNvPr id="27" name="Text 25"/>
          <p:cNvSpPr/>
          <p:nvPr/>
        </p:nvSpPr>
        <p:spPr>
          <a:xfrm>
            <a:off x="6921020" y="2644192"/>
            <a:ext cx="369466" cy="194305"/>
          </a:xfrm>
          <a:prstGeom prst="rect">
            <a:avLst/>
          </a:prstGeom>
          <a:noFill/>
          <a:ln/>
        </p:spPr>
        <p:txBody>
          <a:bodyPr wrap="square" lIns="0" tIns="0" rIns="0" bIns="0" rtlCol="0" anchor="ctr"/>
          <a:lstStyle/>
          <a:p>
            <a:pPr marL="0" indent="0">
              <a:buNone/>
            </a:pPr>
            <a:r>
              <a:rPr lang="en-US" sz="1000" b="1" dirty="0">
                <a:solidFill>
                  <a:srgbClr val="1F7A4D"/>
                </a:solidFill>
                <a:latin typeface="Aptos" pitchFamily="34" charset="0"/>
                <a:ea typeface="Aptos" pitchFamily="34" charset="-122"/>
                <a:cs typeface="Aptos" pitchFamily="34" charset="-120"/>
              </a:rPr>
              <a:t>No</a:t>
            </a:r>
            <a:endParaRPr lang="en-US" sz="1000" dirty="0"/>
          </a:p>
        </p:txBody>
      </p:sp>
      <p:sp>
        <p:nvSpPr>
          <p:cNvPr id="28" name="Text 26"/>
          <p:cNvSpPr/>
          <p:nvPr/>
        </p:nvSpPr>
        <p:spPr>
          <a:xfrm>
            <a:off x="7921216" y="1850532"/>
            <a:ext cx="256032" cy="109728"/>
          </a:xfrm>
          <a:prstGeom prst="rect">
            <a:avLst/>
          </a:prstGeom>
          <a:noFill/>
          <a:ln/>
        </p:spPr>
        <p:txBody>
          <a:bodyPr wrap="square" lIns="0" tIns="0" rIns="0" bIns="0" rtlCol="0" anchor="ctr"/>
          <a:lstStyle/>
          <a:p>
            <a:pPr marL="0" indent="0">
              <a:buNone/>
            </a:pPr>
            <a:r>
              <a:rPr lang="en-US" sz="1000" b="1" dirty="0">
                <a:solidFill>
                  <a:srgbClr val="B91C1C"/>
                </a:solidFill>
                <a:latin typeface="Aptos" pitchFamily="34" charset="0"/>
                <a:ea typeface="Aptos" pitchFamily="34" charset="-122"/>
                <a:cs typeface="Aptos" pitchFamily="34" charset="-120"/>
              </a:rPr>
              <a:t>Yes</a:t>
            </a:r>
            <a:endParaRPr lang="en-US" sz="1000" dirty="0"/>
          </a:p>
        </p:txBody>
      </p:sp>
      <p:sp>
        <p:nvSpPr>
          <p:cNvPr id="35" name="Slide Number Placeholder 0"/>
          <p:cNvSpPr>
            <a:spLocks noGrp="1"/>
          </p:cNvSpPr>
          <p:nvPr>
            <p:ph type="sldNum" sz="quarter" idx="4294967295"/>
          </p:nvPr>
        </p:nvSpPr>
        <p:spPr>
          <a:xfrm>
            <a:off x="11475720" y="664768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12</a:t>
            </a:fld>
            <a:endParaRPr lang="en-US"/>
          </a:p>
        </p:txBody>
      </p:sp>
      <p:sp>
        <p:nvSpPr>
          <p:cNvPr id="36" name="Shape 15">
            <a:extLst>
              <a:ext uri="{FF2B5EF4-FFF2-40B4-BE49-F238E27FC236}">
                <a16:creationId xmlns:a16="http://schemas.microsoft.com/office/drawing/2014/main" id="{083AF582-B34D-8B16-1C95-C3AC82EA9CEB}"/>
              </a:ext>
            </a:extLst>
          </p:cNvPr>
          <p:cNvSpPr/>
          <p:nvPr/>
        </p:nvSpPr>
        <p:spPr>
          <a:xfrm>
            <a:off x="6761988" y="2337348"/>
            <a:ext cx="0" cy="727154"/>
          </a:xfrm>
          <a:prstGeom prst="line">
            <a:avLst/>
          </a:prstGeom>
          <a:noFill/>
          <a:ln w="15240">
            <a:solidFill>
              <a:srgbClr val="2B5C8A"/>
            </a:solidFill>
            <a:prstDash val="solid"/>
            <a:headEnd type="none"/>
            <a:tailEnd type="triangle"/>
          </a:ln>
        </p:spPr>
        <p:txBody>
          <a:bodyPr/>
          <a:lstStyle/>
          <a:p>
            <a:endParaRPr lang="en-CA"/>
          </a:p>
        </p:txBody>
      </p:sp>
      <p:pic>
        <p:nvPicPr>
          <p:cNvPr id="34" name="Picture 33">
            <a:extLst>
              <a:ext uri="{FF2B5EF4-FFF2-40B4-BE49-F238E27FC236}">
                <a16:creationId xmlns:a16="http://schemas.microsoft.com/office/drawing/2014/main" id="{310E282D-4966-47DC-DB70-2918277A1855}"/>
              </a:ext>
            </a:extLst>
          </p:cNvPr>
          <p:cNvPicPr>
            <a:picLocks noChangeAspect="1"/>
          </p:cNvPicPr>
          <p:nvPr/>
        </p:nvPicPr>
        <p:blipFill>
          <a:blip r:embed="rId3"/>
          <a:stretch>
            <a:fillRect/>
          </a:stretch>
        </p:blipFill>
        <p:spPr>
          <a:xfrm>
            <a:off x="731520" y="4296032"/>
            <a:ext cx="6690142" cy="175046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4" name="Text 2"/>
          <p:cNvSpPr/>
          <p:nvPr/>
        </p:nvSpPr>
        <p:spPr>
          <a:xfrm>
            <a:off x="502920" y="384048"/>
            <a:ext cx="10789920" cy="320040"/>
          </a:xfrm>
          <a:prstGeom prst="rect">
            <a:avLst/>
          </a:prstGeom>
          <a:noFill/>
          <a:ln/>
        </p:spPr>
        <p:txBody>
          <a:bodyPr wrap="square" lIns="0" tIns="0" rIns="0" bIns="0" rtlCol="0" anchor="ctr"/>
          <a:lstStyle/>
          <a:p>
            <a:pPr marL="0" indent="0">
              <a:buNone/>
            </a:pPr>
            <a:r>
              <a:rPr lang="en-US" sz="2500" b="1" dirty="0">
                <a:solidFill>
                  <a:srgbClr val="1E3A5F"/>
                </a:solidFill>
                <a:latin typeface="Aptos Display" pitchFamily="34" charset="0"/>
                <a:ea typeface="Aptos Display" pitchFamily="34" charset="-122"/>
                <a:cs typeface="Aptos Display" pitchFamily="34" charset="-120"/>
              </a:rPr>
              <a:t>InventoryGUI.java + How Everything Connects</a:t>
            </a:r>
            <a:endParaRPr lang="en-US" sz="2500" dirty="0"/>
          </a:p>
        </p:txBody>
      </p:sp>
      <p:sp>
        <p:nvSpPr>
          <p:cNvPr id="5" name="Text 3"/>
          <p:cNvSpPr/>
          <p:nvPr/>
        </p:nvSpPr>
        <p:spPr>
          <a:xfrm>
            <a:off x="521208" y="758952"/>
            <a:ext cx="10424160" cy="384008"/>
          </a:xfrm>
          <a:prstGeom prst="rect">
            <a:avLst/>
          </a:prstGeom>
          <a:noFill/>
          <a:ln/>
        </p:spPr>
        <p:txBody>
          <a:bodyPr wrap="square" lIns="0" tIns="0" rIns="0" bIns="0" rtlCol="0" anchor="ctr"/>
          <a:lstStyle/>
          <a:p>
            <a:pPr marL="0" indent="0">
              <a:buNone/>
            </a:pPr>
            <a:r>
              <a:rPr lang="en-US" sz="1200" dirty="0">
                <a:solidFill>
                  <a:srgbClr val="667085"/>
                </a:solidFill>
                <a:latin typeface="Aptos" pitchFamily="34" charset="0"/>
                <a:ea typeface="Aptos" pitchFamily="34" charset="-122"/>
                <a:cs typeface="Aptos" pitchFamily="34" charset="-120"/>
              </a:rPr>
              <a:t>Swing windows collect input, manager handles logic, database stores records</a:t>
            </a:r>
            <a:endParaRPr lang="en-US" sz="1200" dirty="0"/>
          </a:p>
        </p:txBody>
      </p:sp>
      <p:sp>
        <p:nvSpPr>
          <p:cNvPr id="6" name="Shape 4"/>
          <p:cNvSpPr/>
          <p:nvPr/>
        </p:nvSpPr>
        <p:spPr>
          <a:xfrm>
            <a:off x="502920" y="1112932"/>
            <a:ext cx="11155680" cy="0"/>
          </a:xfrm>
          <a:prstGeom prst="line">
            <a:avLst/>
          </a:prstGeom>
          <a:noFill/>
          <a:ln w="12700">
            <a:solidFill>
              <a:srgbClr val="CBD5E1"/>
            </a:solidFill>
            <a:prstDash val="solid"/>
          </a:ln>
        </p:spPr>
        <p:txBody>
          <a:bodyPr/>
          <a:lstStyle/>
          <a:p>
            <a:endParaRPr lang="en-CA"/>
          </a:p>
        </p:txBody>
      </p:sp>
      <p:sp>
        <p:nvSpPr>
          <p:cNvPr id="7" name="Shape 5"/>
          <p:cNvSpPr/>
          <p:nvPr/>
        </p:nvSpPr>
        <p:spPr>
          <a:xfrm>
            <a:off x="685800" y="1417320"/>
            <a:ext cx="2148840" cy="960120"/>
          </a:xfrm>
          <a:prstGeom prst="roundRect">
            <a:avLst>
              <a:gd name="adj" fmla="val 7619"/>
            </a:avLst>
          </a:prstGeom>
          <a:solidFill>
            <a:srgbClr val="EFF6FF"/>
          </a:solidFill>
          <a:ln w="12700">
            <a:solidFill>
              <a:srgbClr val="CBD5E1"/>
            </a:solidFill>
            <a:prstDash val="solid"/>
          </a:ln>
        </p:spPr>
        <p:txBody>
          <a:bodyPr/>
          <a:lstStyle/>
          <a:p>
            <a:endParaRPr lang="en-CA"/>
          </a:p>
        </p:txBody>
      </p:sp>
      <p:sp>
        <p:nvSpPr>
          <p:cNvPr id="8" name="Text 6"/>
          <p:cNvSpPr/>
          <p:nvPr/>
        </p:nvSpPr>
        <p:spPr>
          <a:xfrm>
            <a:off x="777240" y="1447347"/>
            <a:ext cx="1965960" cy="292608"/>
          </a:xfrm>
          <a:prstGeom prst="rect">
            <a:avLst/>
          </a:prstGeom>
          <a:noFill/>
          <a:ln/>
        </p:spPr>
        <p:txBody>
          <a:bodyPr wrap="square" lIns="0" tIns="0" rIns="0" bIns="0" rtlCol="0" anchor="ctr"/>
          <a:lstStyle/>
          <a:p>
            <a:pPr marL="0" indent="0" algn="ctr">
              <a:buNone/>
            </a:pPr>
            <a:r>
              <a:rPr lang="en-US" sz="1600" b="1" dirty="0">
                <a:solidFill>
                  <a:srgbClr val="1E3A5F"/>
                </a:solidFill>
                <a:latin typeface="Aptos Display" pitchFamily="34" charset="0"/>
                <a:ea typeface="Aptos Display" pitchFamily="34" charset="-122"/>
                <a:cs typeface="Aptos Display" pitchFamily="34" charset="-120"/>
              </a:rPr>
              <a:t>InventoryGUI.java</a:t>
            </a:r>
            <a:endParaRPr lang="en-US" sz="1600" dirty="0"/>
          </a:p>
        </p:txBody>
      </p:sp>
      <p:sp>
        <p:nvSpPr>
          <p:cNvPr id="9" name="Text 7"/>
          <p:cNvSpPr/>
          <p:nvPr/>
        </p:nvSpPr>
        <p:spPr>
          <a:xfrm>
            <a:off x="813816" y="1739955"/>
            <a:ext cx="1901952" cy="637485"/>
          </a:xfrm>
          <a:prstGeom prst="rect">
            <a:avLst/>
          </a:prstGeom>
          <a:noFill/>
          <a:ln/>
        </p:spPr>
        <p:txBody>
          <a:bodyPr wrap="square" lIns="0" tIns="0" rIns="0" bIns="0" rtlCol="0" anchor="ctr">
            <a:normAutofit/>
          </a:bodyPr>
          <a:lstStyle/>
          <a:p>
            <a:pPr marL="0" indent="0" algn="ctr">
              <a:buNone/>
            </a:pPr>
            <a:r>
              <a:rPr lang="en-US" sz="1200" dirty="0">
                <a:solidFill>
                  <a:srgbClr val="374151"/>
                </a:solidFill>
                <a:latin typeface="Aptos" pitchFamily="34" charset="0"/>
                <a:ea typeface="Aptos" pitchFamily="34" charset="-122"/>
                <a:cs typeface="Aptos" pitchFamily="34" charset="-120"/>
              </a:rPr>
              <a:t>Buttons, forms, JTable, dialogs</a:t>
            </a:r>
            <a:endParaRPr lang="en-US" sz="1200" dirty="0"/>
          </a:p>
        </p:txBody>
      </p:sp>
      <p:sp>
        <p:nvSpPr>
          <p:cNvPr id="10" name="Shape 8"/>
          <p:cNvSpPr/>
          <p:nvPr/>
        </p:nvSpPr>
        <p:spPr>
          <a:xfrm>
            <a:off x="2834640" y="1874520"/>
            <a:ext cx="548640" cy="0"/>
          </a:xfrm>
          <a:prstGeom prst="line">
            <a:avLst/>
          </a:prstGeom>
          <a:noFill/>
          <a:ln w="15240">
            <a:solidFill>
              <a:srgbClr val="2B5C8A"/>
            </a:solidFill>
            <a:prstDash val="solid"/>
            <a:headEnd type="none"/>
            <a:tailEnd type="triangle"/>
          </a:ln>
        </p:spPr>
        <p:txBody>
          <a:bodyPr/>
          <a:lstStyle/>
          <a:p>
            <a:endParaRPr lang="en-CA"/>
          </a:p>
        </p:txBody>
      </p:sp>
      <p:sp>
        <p:nvSpPr>
          <p:cNvPr id="11" name="Shape 9"/>
          <p:cNvSpPr/>
          <p:nvPr/>
        </p:nvSpPr>
        <p:spPr>
          <a:xfrm>
            <a:off x="3383280" y="1417320"/>
            <a:ext cx="2148840" cy="960120"/>
          </a:xfrm>
          <a:prstGeom prst="roundRect">
            <a:avLst>
              <a:gd name="adj" fmla="val 7619"/>
            </a:avLst>
          </a:prstGeom>
          <a:solidFill>
            <a:srgbClr val="FFFFFF"/>
          </a:solidFill>
          <a:ln w="12700">
            <a:solidFill>
              <a:srgbClr val="CBD5E1"/>
            </a:solidFill>
            <a:prstDash val="solid"/>
          </a:ln>
        </p:spPr>
        <p:txBody>
          <a:bodyPr/>
          <a:lstStyle/>
          <a:p>
            <a:endParaRPr lang="en-CA"/>
          </a:p>
        </p:txBody>
      </p:sp>
      <p:sp>
        <p:nvSpPr>
          <p:cNvPr id="12" name="Text 10"/>
          <p:cNvSpPr/>
          <p:nvPr/>
        </p:nvSpPr>
        <p:spPr>
          <a:xfrm>
            <a:off x="3474720" y="1447347"/>
            <a:ext cx="1965960" cy="292608"/>
          </a:xfrm>
          <a:prstGeom prst="rect">
            <a:avLst/>
          </a:prstGeom>
          <a:noFill/>
          <a:ln/>
        </p:spPr>
        <p:txBody>
          <a:bodyPr wrap="square" lIns="0" tIns="0" rIns="0" bIns="0" rtlCol="0" anchor="ctr"/>
          <a:lstStyle/>
          <a:p>
            <a:pPr marL="0" indent="0" algn="ctr">
              <a:buNone/>
            </a:pPr>
            <a:r>
              <a:rPr lang="en-US" sz="1600" b="1" dirty="0">
                <a:solidFill>
                  <a:srgbClr val="1E3A5F"/>
                </a:solidFill>
                <a:latin typeface="Aptos Display" pitchFamily="34" charset="0"/>
                <a:ea typeface="Aptos Display" pitchFamily="34" charset="-122"/>
                <a:cs typeface="Aptos Display" pitchFamily="34" charset="-120"/>
              </a:rPr>
              <a:t>InventoryManager.java</a:t>
            </a:r>
            <a:endParaRPr lang="en-US" sz="1600" dirty="0"/>
          </a:p>
        </p:txBody>
      </p:sp>
      <p:sp>
        <p:nvSpPr>
          <p:cNvPr id="13" name="Text 11"/>
          <p:cNvSpPr/>
          <p:nvPr/>
        </p:nvSpPr>
        <p:spPr>
          <a:xfrm>
            <a:off x="3511296" y="1739955"/>
            <a:ext cx="1901952" cy="637485"/>
          </a:xfrm>
          <a:prstGeom prst="rect">
            <a:avLst/>
          </a:prstGeom>
          <a:noFill/>
          <a:ln/>
        </p:spPr>
        <p:txBody>
          <a:bodyPr wrap="square" lIns="0" tIns="0" rIns="0" bIns="0" rtlCol="0" anchor="ctr">
            <a:normAutofit/>
          </a:bodyPr>
          <a:lstStyle/>
          <a:p>
            <a:pPr marL="0" indent="0" algn="ctr">
              <a:buNone/>
            </a:pPr>
            <a:r>
              <a:rPr lang="en-US" sz="1200" dirty="0">
                <a:solidFill>
                  <a:srgbClr val="374151"/>
                </a:solidFill>
                <a:latin typeface="Aptos" pitchFamily="34" charset="0"/>
                <a:ea typeface="Aptos" pitchFamily="34" charset="-122"/>
                <a:cs typeface="Aptos" pitchFamily="34" charset="-120"/>
              </a:rPr>
              <a:t>Business logic + StockOperations methods</a:t>
            </a:r>
            <a:endParaRPr lang="en-US" sz="1200" dirty="0"/>
          </a:p>
        </p:txBody>
      </p:sp>
      <p:sp>
        <p:nvSpPr>
          <p:cNvPr id="14" name="Shape 12"/>
          <p:cNvSpPr/>
          <p:nvPr/>
        </p:nvSpPr>
        <p:spPr>
          <a:xfrm>
            <a:off x="5532120" y="1874520"/>
            <a:ext cx="731520" cy="0"/>
          </a:xfrm>
          <a:prstGeom prst="line">
            <a:avLst/>
          </a:prstGeom>
          <a:noFill/>
          <a:ln w="15240">
            <a:solidFill>
              <a:srgbClr val="2B5C8A"/>
            </a:solidFill>
            <a:prstDash val="solid"/>
            <a:headEnd type="none"/>
            <a:tailEnd type="triangle"/>
          </a:ln>
        </p:spPr>
        <p:txBody>
          <a:bodyPr/>
          <a:lstStyle/>
          <a:p>
            <a:endParaRPr lang="en-CA"/>
          </a:p>
        </p:txBody>
      </p:sp>
      <p:sp>
        <p:nvSpPr>
          <p:cNvPr id="15" name="Shape 13"/>
          <p:cNvSpPr/>
          <p:nvPr/>
        </p:nvSpPr>
        <p:spPr>
          <a:xfrm>
            <a:off x="6263640" y="1417320"/>
            <a:ext cx="2148840" cy="960120"/>
          </a:xfrm>
          <a:prstGeom prst="roundRect">
            <a:avLst>
              <a:gd name="adj" fmla="val 7619"/>
            </a:avLst>
          </a:prstGeom>
          <a:solidFill>
            <a:srgbClr val="EFF6FF"/>
          </a:solidFill>
          <a:ln w="12700">
            <a:solidFill>
              <a:srgbClr val="CBD5E1"/>
            </a:solidFill>
            <a:prstDash val="solid"/>
          </a:ln>
        </p:spPr>
        <p:txBody>
          <a:bodyPr/>
          <a:lstStyle/>
          <a:p>
            <a:endParaRPr lang="en-CA"/>
          </a:p>
        </p:txBody>
      </p:sp>
      <p:sp>
        <p:nvSpPr>
          <p:cNvPr id="16" name="Text 14"/>
          <p:cNvSpPr/>
          <p:nvPr/>
        </p:nvSpPr>
        <p:spPr>
          <a:xfrm>
            <a:off x="6355080" y="1447347"/>
            <a:ext cx="1965960" cy="292608"/>
          </a:xfrm>
          <a:prstGeom prst="rect">
            <a:avLst/>
          </a:prstGeom>
          <a:noFill/>
          <a:ln/>
        </p:spPr>
        <p:txBody>
          <a:bodyPr wrap="square" lIns="0" tIns="0" rIns="0" bIns="0" rtlCol="0" anchor="ctr"/>
          <a:lstStyle/>
          <a:p>
            <a:pPr marL="0" indent="0" algn="ctr">
              <a:buNone/>
            </a:pPr>
            <a:r>
              <a:rPr lang="en-US" sz="1600" b="1" dirty="0">
                <a:solidFill>
                  <a:srgbClr val="1E3A5F"/>
                </a:solidFill>
                <a:latin typeface="Aptos Display" pitchFamily="34" charset="0"/>
                <a:ea typeface="Aptos Display" pitchFamily="34" charset="-122"/>
                <a:cs typeface="Aptos Display" pitchFamily="34" charset="-120"/>
              </a:rPr>
              <a:t>DBConnection.java</a:t>
            </a:r>
            <a:endParaRPr lang="en-US" sz="1600" dirty="0"/>
          </a:p>
        </p:txBody>
      </p:sp>
      <p:sp>
        <p:nvSpPr>
          <p:cNvPr id="17" name="Text 15"/>
          <p:cNvSpPr/>
          <p:nvPr/>
        </p:nvSpPr>
        <p:spPr>
          <a:xfrm>
            <a:off x="6391656" y="1739955"/>
            <a:ext cx="1901952" cy="637485"/>
          </a:xfrm>
          <a:prstGeom prst="rect">
            <a:avLst/>
          </a:prstGeom>
          <a:noFill/>
          <a:ln/>
        </p:spPr>
        <p:txBody>
          <a:bodyPr wrap="square" lIns="0" tIns="0" rIns="0" bIns="0" rtlCol="0" anchor="ctr">
            <a:normAutofit/>
          </a:bodyPr>
          <a:lstStyle/>
          <a:p>
            <a:pPr marL="0" indent="0" algn="ctr">
              <a:buNone/>
            </a:pPr>
            <a:r>
              <a:rPr lang="en-US" sz="1200" dirty="0">
                <a:solidFill>
                  <a:srgbClr val="374151"/>
                </a:solidFill>
                <a:latin typeface="Aptos" pitchFamily="34" charset="0"/>
                <a:ea typeface="Aptos" pitchFamily="34" charset="-122"/>
                <a:cs typeface="Aptos" pitchFamily="34" charset="-120"/>
              </a:rPr>
              <a:t>Creates JDBC connection to MySQL</a:t>
            </a:r>
            <a:endParaRPr lang="en-US" sz="1200" dirty="0"/>
          </a:p>
        </p:txBody>
      </p:sp>
      <p:sp>
        <p:nvSpPr>
          <p:cNvPr id="18" name="Shape 16"/>
          <p:cNvSpPr/>
          <p:nvPr/>
        </p:nvSpPr>
        <p:spPr>
          <a:xfrm>
            <a:off x="8412480" y="1874520"/>
            <a:ext cx="685800" cy="0"/>
          </a:xfrm>
          <a:prstGeom prst="line">
            <a:avLst/>
          </a:prstGeom>
          <a:noFill/>
          <a:ln w="15240">
            <a:solidFill>
              <a:srgbClr val="2B5C8A"/>
            </a:solidFill>
            <a:prstDash val="solid"/>
            <a:headEnd type="none"/>
            <a:tailEnd type="triangle"/>
          </a:ln>
        </p:spPr>
        <p:txBody>
          <a:bodyPr/>
          <a:lstStyle/>
          <a:p>
            <a:endParaRPr lang="en-CA"/>
          </a:p>
        </p:txBody>
      </p:sp>
      <p:sp>
        <p:nvSpPr>
          <p:cNvPr id="19" name="Shape 17"/>
          <p:cNvSpPr/>
          <p:nvPr/>
        </p:nvSpPr>
        <p:spPr>
          <a:xfrm>
            <a:off x="9098280" y="1417320"/>
            <a:ext cx="2148840" cy="960120"/>
          </a:xfrm>
          <a:prstGeom prst="roundRect">
            <a:avLst>
              <a:gd name="adj" fmla="val 7619"/>
            </a:avLst>
          </a:prstGeom>
          <a:solidFill>
            <a:srgbClr val="FFFFFF"/>
          </a:solidFill>
          <a:ln w="12700">
            <a:solidFill>
              <a:srgbClr val="CBD5E1"/>
            </a:solidFill>
            <a:prstDash val="solid"/>
          </a:ln>
        </p:spPr>
        <p:txBody>
          <a:bodyPr/>
          <a:lstStyle/>
          <a:p>
            <a:endParaRPr lang="en-CA"/>
          </a:p>
        </p:txBody>
      </p:sp>
      <p:sp>
        <p:nvSpPr>
          <p:cNvPr id="20" name="Text 18"/>
          <p:cNvSpPr/>
          <p:nvPr/>
        </p:nvSpPr>
        <p:spPr>
          <a:xfrm>
            <a:off x="9189720" y="1447347"/>
            <a:ext cx="1965960" cy="292608"/>
          </a:xfrm>
          <a:prstGeom prst="rect">
            <a:avLst/>
          </a:prstGeom>
          <a:noFill/>
          <a:ln/>
        </p:spPr>
        <p:txBody>
          <a:bodyPr wrap="square" lIns="0" tIns="0" rIns="0" bIns="0" rtlCol="0" anchor="ctr"/>
          <a:lstStyle/>
          <a:p>
            <a:pPr marL="0" indent="0" algn="ctr">
              <a:buNone/>
            </a:pPr>
            <a:r>
              <a:rPr lang="en-US" sz="1600" b="1" dirty="0">
                <a:solidFill>
                  <a:srgbClr val="1E3A5F"/>
                </a:solidFill>
                <a:latin typeface="Aptos Display" pitchFamily="34" charset="0"/>
                <a:ea typeface="Aptos Display" pitchFamily="34" charset="-122"/>
                <a:cs typeface="Aptos Display" pitchFamily="34" charset="-120"/>
              </a:rPr>
              <a:t>MySQL Database</a:t>
            </a:r>
            <a:endParaRPr lang="en-US" sz="1600" dirty="0"/>
          </a:p>
        </p:txBody>
      </p:sp>
      <p:sp>
        <p:nvSpPr>
          <p:cNvPr id="21" name="Text 19"/>
          <p:cNvSpPr/>
          <p:nvPr/>
        </p:nvSpPr>
        <p:spPr>
          <a:xfrm>
            <a:off x="9226296" y="1739955"/>
            <a:ext cx="1901952" cy="637485"/>
          </a:xfrm>
          <a:prstGeom prst="rect">
            <a:avLst/>
          </a:prstGeom>
          <a:noFill/>
          <a:ln/>
        </p:spPr>
        <p:txBody>
          <a:bodyPr wrap="square" lIns="0" tIns="0" rIns="0" bIns="0" rtlCol="0" anchor="ctr">
            <a:normAutofit/>
          </a:bodyPr>
          <a:lstStyle/>
          <a:p>
            <a:pPr marL="0" indent="0" algn="ctr">
              <a:buNone/>
            </a:pPr>
            <a:r>
              <a:rPr lang="en-US" sz="1200" dirty="0">
                <a:solidFill>
                  <a:srgbClr val="374151"/>
                </a:solidFill>
                <a:latin typeface="Aptos" pitchFamily="34" charset="0"/>
                <a:ea typeface="Aptos" pitchFamily="34" charset="-122"/>
                <a:cs typeface="Aptos" pitchFamily="34" charset="-120"/>
              </a:rPr>
              <a:t>products table stores all inventory data</a:t>
            </a:r>
            <a:endParaRPr lang="en-US" sz="1200" dirty="0"/>
          </a:p>
        </p:txBody>
      </p:sp>
      <p:sp>
        <p:nvSpPr>
          <p:cNvPr id="27" name="Shape 25"/>
          <p:cNvSpPr/>
          <p:nvPr/>
        </p:nvSpPr>
        <p:spPr>
          <a:xfrm>
            <a:off x="685800" y="3080127"/>
            <a:ext cx="4983480" cy="2753497"/>
          </a:xfrm>
          <a:prstGeom prst="roundRect">
            <a:avLst>
              <a:gd name="adj" fmla="val 3019"/>
            </a:avLst>
          </a:prstGeom>
          <a:solidFill>
            <a:srgbClr val="FFFFFF"/>
          </a:solidFill>
          <a:ln w="12700">
            <a:solidFill>
              <a:srgbClr val="D0D7E2"/>
            </a:solidFill>
            <a:prstDash val="solid"/>
          </a:ln>
        </p:spPr>
        <p:txBody>
          <a:bodyPr/>
          <a:lstStyle/>
          <a:p>
            <a:endParaRPr lang="en-CA"/>
          </a:p>
        </p:txBody>
      </p:sp>
      <p:sp>
        <p:nvSpPr>
          <p:cNvPr id="28" name="Text 26"/>
          <p:cNvSpPr/>
          <p:nvPr/>
        </p:nvSpPr>
        <p:spPr>
          <a:xfrm>
            <a:off x="832104" y="3189856"/>
            <a:ext cx="4690872" cy="259764"/>
          </a:xfrm>
          <a:prstGeom prst="rect">
            <a:avLst/>
          </a:prstGeom>
          <a:noFill/>
          <a:ln/>
        </p:spPr>
        <p:txBody>
          <a:bodyPr wrap="square" lIns="0" tIns="0" rIns="0" bIns="0" rtlCol="0" anchor="ctr"/>
          <a:lstStyle/>
          <a:p>
            <a:pPr marL="0" indent="0">
              <a:buNone/>
            </a:pPr>
            <a:r>
              <a:rPr lang="en-US" sz="1600" b="1" dirty="0">
                <a:solidFill>
                  <a:srgbClr val="1E3A5F"/>
                </a:solidFill>
                <a:latin typeface="Aptos Display" pitchFamily="34" charset="0"/>
                <a:ea typeface="Aptos Display" pitchFamily="34" charset="-122"/>
                <a:cs typeface="Aptos Display" pitchFamily="34" charset="-120"/>
              </a:rPr>
              <a:t>Data Flow Summary</a:t>
            </a:r>
            <a:endParaRPr lang="en-US" sz="1600" dirty="0"/>
          </a:p>
        </p:txBody>
      </p:sp>
      <p:sp>
        <p:nvSpPr>
          <p:cNvPr id="29" name="Text 27"/>
          <p:cNvSpPr/>
          <p:nvPr/>
        </p:nvSpPr>
        <p:spPr>
          <a:xfrm>
            <a:off x="850392" y="3537328"/>
            <a:ext cx="4663440" cy="2130064"/>
          </a:xfrm>
          <a:prstGeom prst="rect">
            <a:avLst/>
          </a:prstGeom>
          <a:noFill/>
          <a:ln/>
        </p:spPr>
        <p:txBody>
          <a:bodyPr wrap="square" lIns="254" tIns="254" rIns="254" bIns="254" rtlCol="0" anchor="t">
            <a:normAutofit/>
          </a:bodyPr>
          <a:lstStyle/>
          <a:p>
            <a:pPr marL="0" indent="0">
              <a:buNone/>
            </a:pPr>
            <a:r>
              <a:rPr lang="en-US" sz="1400" dirty="0">
                <a:solidFill>
                  <a:srgbClr val="374151"/>
                </a:solidFill>
                <a:latin typeface="Aptos" pitchFamily="34" charset="0"/>
                <a:ea typeface="Aptos" pitchFamily="34" charset="-122"/>
                <a:cs typeface="Aptos" pitchFamily="34" charset="-120"/>
              </a:rPr>
              <a:t>• User fills form in Java Swing GUI</a:t>
            </a:r>
          </a:p>
          <a:p>
            <a:pPr marL="0" indent="0">
              <a:buNone/>
            </a:pPr>
            <a:endParaRPr lang="en-US" sz="1400" dirty="0"/>
          </a:p>
          <a:p>
            <a:pPr marL="0" indent="0">
              <a:buNone/>
            </a:pPr>
            <a:r>
              <a:rPr lang="en-US" sz="1400" dirty="0">
                <a:solidFill>
                  <a:srgbClr val="374151"/>
                </a:solidFill>
                <a:latin typeface="Aptos" pitchFamily="34" charset="0"/>
                <a:ea typeface="Aptos" pitchFamily="34" charset="-122"/>
                <a:cs typeface="Aptos" pitchFamily="34" charset="-120"/>
              </a:rPr>
              <a:t>• Button listener calls InventoryManager method</a:t>
            </a:r>
          </a:p>
          <a:p>
            <a:pPr marL="0" indent="0">
              <a:buNone/>
            </a:pPr>
            <a:endParaRPr lang="en-US" sz="1400" dirty="0"/>
          </a:p>
          <a:p>
            <a:pPr marL="0" indent="0">
              <a:buNone/>
            </a:pPr>
            <a:r>
              <a:rPr lang="en-US" sz="1400" dirty="0">
                <a:solidFill>
                  <a:srgbClr val="374151"/>
                </a:solidFill>
                <a:latin typeface="Aptos" pitchFamily="34" charset="0"/>
                <a:ea typeface="Aptos" pitchFamily="34" charset="-122"/>
                <a:cs typeface="Aptos" pitchFamily="34" charset="-120"/>
              </a:rPr>
              <a:t>• Manager validates and runs SQL through </a:t>
            </a:r>
            <a:r>
              <a:rPr lang="en-US" sz="1400" dirty="0" err="1">
                <a:solidFill>
                  <a:srgbClr val="374151"/>
                </a:solidFill>
                <a:latin typeface="Aptos" pitchFamily="34" charset="0"/>
                <a:ea typeface="Aptos" pitchFamily="34" charset="-122"/>
                <a:cs typeface="Aptos" pitchFamily="34" charset="-120"/>
              </a:rPr>
              <a:t>DBConnection</a:t>
            </a:r>
            <a:endParaRPr lang="en-US" sz="1400" dirty="0">
              <a:solidFill>
                <a:srgbClr val="374151"/>
              </a:solidFill>
              <a:latin typeface="Aptos" pitchFamily="34" charset="0"/>
              <a:ea typeface="Aptos" pitchFamily="34" charset="-122"/>
              <a:cs typeface="Aptos" pitchFamily="34" charset="-120"/>
            </a:endParaRPr>
          </a:p>
          <a:p>
            <a:pPr marL="0" indent="0">
              <a:buNone/>
            </a:pPr>
            <a:endParaRPr lang="en-US" sz="1400" dirty="0"/>
          </a:p>
          <a:p>
            <a:pPr marL="0" indent="0">
              <a:buNone/>
            </a:pPr>
            <a:r>
              <a:rPr lang="en-US" sz="1400" dirty="0">
                <a:solidFill>
                  <a:srgbClr val="374151"/>
                </a:solidFill>
                <a:latin typeface="Aptos" pitchFamily="34" charset="0"/>
                <a:ea typeface="Aptos" pitchFamily="34" charset="-122"/>
                <a:cs typeface="Aptos" pitchFamily="34" charset="-120"/>
              </a:rPr>
              <a:t>• MySQL sends result back to manager</a:t>
            </a:r>
          </a:p>
          <a:p>
            <a:pPr marL="0" indent="0">
              <a:buNone/>
            </a:pPr>
            <a:endParaRPr lang="en-US" sz="1400" dirty="0"/>
          </a:p>
          <a:p>
            <a:pPr marL="0" indent="0">
              <a:buNone/>
            </a:pPr>
            <a:r>
              <a:rPr lang="en-US" sz="1400" dirty="0">
                <a:solidFill>
                  <a:srgbClr val="374151"/>
                </a:solidFill>
                <a:latin typeface="Aptos" pitchFamily="34" charset="0"/>
                <a:ea typeface="Aptos" pitchFamily="34" charset="-122"/>
                <a:cs typeface="Aptos" pitchFamily="34" charset="-120"/>
              </a:rPr>
              <a:t>• GUI refreshes table or shows message popup</a:t>
            </a:r>
            <a:endParaRPr lang="en-US" sz="1400" dirty="0"/>
          </a:p>
        </p:txBody>
      </p:sp>
      <p:sp>
        <p:nvSpPr>
          <p:cNvPr id="31" name="Slide Number Placeholder 0"/>
          <p:cNvSpPr>
            <a:spLocks noGrp="1"/>
          </p:cNvSpPr>
          <p:nvPr>
            <p:ph type="sldNum" sz="quarter" idx="4294967295"/>
          </p:nvPr>
        </p:nvSpPr>
        <p:spPr>
          <a:xfrm>
            <a:off x="11475720" y="664768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13</a:t>
            </a:fld>
            <a:endParaRPr lang="en-US" dirty="0"/>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4" name="Text 2"/>
          <p:cNvSpPr/>
          <p:nvPr/>
        </p:nvSpPr>
        <p:spPr>
          <a:xfrm>
            <a:off x="502920" y="384048"/>
            <a:ext cx="10789920" cy="320040"/>
          </a:xfrm>
          <a:prstGeom prst="rect">
            <a:avLst/>
          </a:prstGeom>
          <a:noFill/>
          <a:ln/>
        </p:spPr>
        <p:txBody>
          <a:bodyPr wrap="square" lIns="0" tIns="0" rIns="0" bIns="0" rtlCol="0" anchor="ctr"/>
          <a:lstStyle/>
          <a:p>
            <a:pPr marL="0" indent="0">
              <a:buNone/>
            </a:pPr>
            <a:r>
              <a:rPr lang="en-US" sz="2500" b="1" dirty="0">
                <a:solidFill>
                  <a:srgbClr val="1E3A5F"/>
                </a:solidFill>
                <a:latin typeface="Aptos Display" pitchFamily="34" charset="0"/>
                <a:ea typeface="Aptos Display" pitchFamily="34" charset="-122"/>
                <a:cs typeface="Aptos Display" pitchFamily="34" charset="-120"/>
              </a:rPr>
              <a:t>Challenges &amp; Solutions</a:t>
            </a:r>
            <a:endParaRPr lang="en-US" sz="2500" dirty="0"/>
          </a:p>
        </p:txBody>
      </p:sp>
      <p:sp>
        <p:nvSpPr>
          <p:cNvPr id="5" name="Text 3"/>
          <p:cNvSpPr/>
          <p:nvPr/>
        </p:nvSpPr>
        <p:spPr>
          <a:xfrm>
            <a:off x="521208" y="758952"/>
            <a:ext cx="10424160" cy="201168"/>
          </a:xfrm>
          <a:prstGeom prst="rect">
            <a:avLst/>
          </a:prstGeom>
          <a:noFill/>
          <a:ln/>
        </p:spPr>
        <p:txBody>
          <a:bodyPr wrap="square" lIns="0" tIns="0" rIns="0" bIns="0" rtlCol="0" anchor="ctr"/>
          <a:lstStyle/>
          <a:p>
            <a:pPr marL="0" indent="0">
              <a:buNone/>
            </a:pPr>
            <a:r>
              <a:rPr lang="en-US" sz="1200" dirty="0">
                <a:solidFill>
                  <a:srgbClr val="667085"/>
                </a:solidFill>
                <a:latin typeface="Aptos" pitchFamily="34" charset="0"/>
                <a:ea typeface="Aptos" pitchFamily="34" charset="-122"/>
                <a:cs typeface="Aptos" pitchFamily="34" charset="-120"/>
              </a:rPr>
              <a:t>Problems faced during development and how we solved them</a:t>
            </a:r>
            <a:endParaRPr lang="en-US" sz="1200" dirty="0"/>
          </a:p>
        </p:txBody>
      </p:sp>
      <p:sp>
        <p:nvSpPr>
          <p:cNvPr id="6" name="Shape 4"/>
          <p:cNvSpPr/>
          <p:nvPr/>
        </p:nvSpPr>
        <p:spPr>
          <a:xfrm>
            <a:off x="521208" y="1005840"/>
            <a:ext cx="11155680" cy="0"/>
          </a:xfrm>
          <a:prstGeom prst="line">
            <a:avLst/>
          </a:prstGeom>
          <a:noFill/>
          <a:ln w="12700">
            <a:solidFill>
              <a:srgbClr val="CBD5E1"/>
            </a:solidFill>
            <a:prstDash val="solid"/>
          </a:ln>
        </p:spPr>
        <p:txBody>
          <a:bodyPr/>
          <a:lstStyle/>
          <a:p>
            <a:endParaRPr lang="en-CA"/>
          </a:p>
        </p:txBody>
      </p:sp>
      <p:sp>
        <p:nvSpPr>
          <p:cNvPr id="7" name="Shape 5"/>
          <p:cNvSpPr/>
          <p:nvPr/>
        </p:nvSpPr>
        <p:spPr>
          <a:xfrm>
            <a:off x="685800" y="1325880"/>
            <a:ext cx="2880360" cy="457200"/>
          </a:xfrm>
          <a:prstGeom prst="rect">
            <a:avLst/>
          </a:prstGeom>
          <a:solidFill>
            <a:srgbClr val="1E3A5F"/>
          </a:solidFill>
          <a:ln w="12700">
            <a:solidFill>
              <a:srgbClr val="1E3A5F"/>
            </a:solidFill>
            <a:prstDash val="solid"/>
          </a:ln>
        </p:spPr>
        <p:txBody>
          <a:bodyPr/>
          <a:lstStyle/>
          <a:p>
            <a:endParaRPr lang="en-CA"/>
          </a:p>
        </p:txBody>
      </p:sp>
      <p:sp>
        <p:nvSpPr>
          <p:cNvPr id="8" name="Text 6"/>
          <p:cNvSpPr/>
          <p:nvPr/>
        </p:nvSpPr>
        <p:spPr>
          <a:xfrm>
            <a:off x="795528" y="1481328"/>
            <a:ext cx="2660904" cy="100584"/>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Challenge</a:t>
            </a:r>
            <a:endParaRPr lang="en-US" sz="1600" dirty="0"/>
          </a:p>
        </p:txBody>
      </p:sp>
      <p:sp>
        <p:nvSpPr>
          <p:cNvPr id="9" name="Shape 7"/>
          <p:cNvSpPr/>
          <p:nvPr/>
        </p:nvSpPr>
        <p:spPr>
          <a:xfrm>
            <a:off x="3566160" y="1325880"/>
            <a:ext cx="4160520" cy="457200"/>
          </a:xfrm>
          <a:prstGeom prst="rect">
            <a:avLst/>
          </a:prstGeom>
          <a:solidFill>
            <a:srgbClr val="1E3A5F"/>
          </a:solidFill>
          <a:ln w="12700">
            <a:solidFill>
              <a:srgbClr val="1E3A5F"/>
            </a:solidFill>
            <a:prstDash val="solid"/>
          </a:ln>
        </p:spPr>
        <p:txBody>
          <a:bodyPr/>
          <a:lstStyle/>
          <a:p>
            <a:endParaRPr lang="en-CA"/>
          </a:p>
        </p:txBody>
      </p:sp>
      <p:sp>
        <p:nvSpPr>
          <p:cNvPr id="10" name="Text 8"/>
          <p:cNvSpPr/>
          <p:nvPr/>
        </p:nvSpPr>
        <p:spPr>
          <a:xfrm>
            <a:off x="3675888" y="1481328"/>
            <a:ext cx="3941064" cy="100584"/>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Solution Applied</a:t>
            </a:r>
            <a:endParaRPr lang="en-US" sz="1600" dirty="0"/>
          </a:p>
        </p:txBody>
      </p:sp>
      <p:sp>
        <p:nvSpPr>
          <p:cNvPr id="11" name="Shape 9"/>
          <p:cNvSpPr/>
          <p:nvPr/>
        </p:nvSpPr>
        <p:spPr>
          <a:xfrm>
            <a:off x="7726680" y="1325880"/>
            <a:ext cx="3794760" cy="457200"/>
          </a:xfrm>
          <a:prstGeom prst="rect">
            <a:avLst/>
          </a:prstGeom>
          <a:solidFill>
            <a:srgbClr val="1E3A5F"/>
          </a:solidFill>
          <a:ln w="12700">
            <a:solidFill>
              <a:srgbClr val="1E3A5F"/>
            </a:solidFill>
            <a:prstDash val="solid"/>
          </a:ln>
        </p:spPr>
        <p:txBody>
          <a:bodyPr/>
          <a:lstStyle/>
          <a:p>
            <a:endParaRPr lang="en-CA"/>
          </a:p>
        </p:txBody>
      </p:sp>
      <p:sp>
        <p:nvSpPr>
          <p:cNvPr id="12" name="Text 10"/>
          <p:cNvSpPr/>
          <p:nvPr/>
        </p:nvSpPr>
        <p:spPr>
          <a:xfrm>
            <a:off x="7836408" y="1481328"/>
            <a:ext cx="3575304" cy="100584"/>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What We Learned</a:t>
            </a:r>
            <a:endParaRPr lang="en-US" sz="1600" dirty="0"/>
          </a:p>
        </p:txBody>
      </p:sp>
      <p:sp>
        <p:nvSpPr>
          <p:cNvPr id="13" name="Shape 11"/>
          <p:cNvSpPr/>
          <p:nvPr/>
        </p:nvSpPr>
        <p:spPr>
          <a:xfrm>
            <a:off x="685800" y="1783080"/>
            <a:ext cx="2880360" cy="1143000"/>
          </a:xfrm>
          <a:prstGeom prst="rect">
            <a:avLst/>
          </a:prstGeom>
          <a:solidFill>
            <a:srgbClr val="FFFFFF"/>
          </a:solidFill>
          <a:ln w="10160">
            <a:solidFill>
              <a:srgbClr val="CBD5E1"/>
            </a:solidFill>
            <a:prstDash val="solid"/>
          </a:ln>
        </p:spPr>
        <p:txBody>
          <a:bodyPr/>
          <a:lstStyle/>
          <a:p>
            <a:endParaRPr lang="en-CA"/>
          </a:p>
        </p:txBody>
      </p:sp>
      <p:sp>
        <p:nvSpPr>
          <p:cNvPr id="14" name="Text 12"/>
          <p:cNvSpPr/>
          <p:nvPr/>
        </p:nvSpPr>
        <p:spPr>
          <a:xfrm>
            <a:off x="832104" y="1956816"/>
            <a:ext cx="2587752" cy="694944"/>
          </a:xfrm>
          <a:prstGeom prst="rect">
            <a:avLst/>
          </a:prstGeom>
          <a:noFill/>
          <a:ln/>
        </p:spPr>
        <p:txBody>
          <a:bodyPr wrap="square" lIns="0" tIns="0" rIns="0" bIns="0" rtlCol="0" anchor="ctr">
            <a:normAutofit/>
          </a:bodyPr>
          <a:lstStyle/>
          <a:p>
            <a:pPr marL="0" indent="0">
              <a:buNone/>
            </a:pPr>
            <a:r>
              <a:rPr lang="en-US" sz="1400" b="1" dirty="0">
                <a:solidFill>
                  <a:srgbClr val="374151"/>
                </a:solidFill>
                <a:latin typeface="Aptos" pitchFamily="34" charset="0"/>
                <a:ea typeface="Aptos" pitchFamily="34" charset="-122"/>
                <a:cs typeface="Aptos" pitchFamily="34" charset="-120"/>
              </a:rPr>
              <a:t>Understanding JDBC</a:t>
            </a:r>
            <a:endParaRPr lang="en-US" sz="1400" dirty="0"/>
          </a:p>
        </p:txBody>
      </p:sp>
      <p:sp>
        <p:nvSpPr>
          <p:cNvPr id="15" name="Shape 13"/>
          <p:cNvSpPr/>
          <p:nvPr/>
        </p:nvSpPr>
        <p:spPr>
          <a:xfrm>
            <a:off x="3566160" y="1783080"/>
            <a:ext cx="4160520" cy="1143000"/>
          </a:xfrm>
          <a:prstGeom prst="rect">
            <a:avLst/>
          </a:prstGeom>
          <a:solidFill>
            <a:srgbClr val="FFFFFF"/>
          </a:solidFill>
          <a:ln w="10160">
            <a:solidFill>
              <a:srgbClr val="CBD5E1"/>
            </a:solidFill>
            <a:prstDash val="solid"/>
          </a:ln>
        </p:spPr>
        <p:txBody>
          <a:bodyPr/>
          <a:lstStyle/>
          <a:p>
            <a:endParaRPr lang="en-CA"/>
          </a:p>
        </p:txBody>
      </p:sp>
      <p:sp>
        <p:nvSpPr>
          <p:cNvPr id="16" name="Text 14"/>
          <p:cNvSpPr/>
          <p:nvPr/>
        </p:nvSpPr>
        <p:spPr>
          <a:xfrm>
            <a:off x="3712464" y="1956816"/>
            <a:ext cx="3867912" cy="694944"/>
          </a:xfrm>
          <a:prstGeom prst="rect">
            <a:avLst/>
          </a:prstGeom>
          <a:noFill/>
          <a:ln/>
        </p:spPr>
        <p:txBody>
          <a:bodyPr wrap="square" lIns="0" tIns="0" rIns="0" bIns="0" rtlCol="0" anchor="ctr">
            <a:normAutofit/>
          </a:bodyPr>
          <a:lstStyle/>
          <a:p>
            <a:r>
              <a:rPr lang="en-US" sz="1400" dirty="0">
                <a:solidFill>
                  <a:srgbClr val="374151"/>
                </a:solidFill>
                <a:latin typeface="Aptos" pitchFamily="34" charset="0"/>
                <a:ea typeface="Aptos" pitchFamily="34" charset="-122"/>
                <a:cs typeface="Aptos" pitchFamily="34" charset="-120"/>
              </a:rPr>
              <a:t>Used try-with-resources for Connection and PreparedStatement  to auto-close database resources.</a:t>
            </a:r>
            <a:endParaRPr lang="en-US" sz="1400" dirty="0"/>
          </a:p>
        </p:txBody>
      </p:sp>
      <p:sp>
        <p:nvSpPr>
          <p:cNvPr id="17" name="Shape 15"/>
          <p:cNvSpPr/>
          <p:nvPr/>
        </p:nvSpPr>
        <p:spPr>
          <a:xfrm>
            <a:off x="7726680" y="1783080"/>
            <a:ext cx="3794760" cy="1143000"/>
          </a:xfrm>
          <a:prstGeom prst="rect">
            <a:avLst/>
          </a:prstGeom>
          <a:solidFill>
            <a:srgbClr val="FFFFFF"/>
          </a:solidFill>
          <a:ln w="10160">
            <a:solidFill>
              <a:srgbClr val="CBD5E1"/>
            </a:solidFill>
            <a:prstDash val="solid"/>
          </a:ln>
        </p:spPr>
        <p:txBody>
          <a:bodyPr/>
          <a:lstStyle/>
          <a:p>
            <a:endParaRPr lang="en-CA"/>
          </a:p>
        </p:txBody>
      </p:sp>
      <p:sp>
        <p:nvSpPr>
          <p:cNvPr id="18" name="Text 16"/>
          <p:cNvSpPr/>
          <p:nvPr/>
        </p:nvSpPr>
        <p:spPr>
          <a:xfrm>
            <a:off x="7872984" y="1956816"/>
            <a:ext cx="3502152" cy="694944"/>
          </a:xfrm>
          <a:prstGeom prst="rect">
            <a:avLst/>
          </a:prstGeom>
          <a:noFill/>
          <a:ln/>
        </p:spPr>
        <p:txBody>
          <a:bodyPr wrap="square" lIns="0" tIns="0" rIns="0" bIns="0" rtlCol="0" anchor="ctr">
            <a:normAutofit/>
          </a:bodyPr>
          <a:lstStyle/>
          <a:p>
            <a:pPr marL="0" indent="0">
              <a:buNone/>
            </a:pPr>
            <a:r>
              <a:rPr lang="en-US" sz="1400" dirty="0">
                <a:solidFill>
                  <a:srgbClr val="374151"/>
                </a:solidFill>
                <a:latin typeface="Aptos" pitchFamily="34" charset="0"/>
                <a:ea typeface="Aptos" pitchFamily="34" charset="-122"/>
                <a:cs typeface="Aptos" pitchFamily="34" charset="-120"/>
              </a:rPr>
              <a:t>Database code becomes safer and closes resources automatically.</a:t>
            </a:r>
            <a:endParaRPr lang="en-US" sz="1400" dirty="0"/>
          </a:p>
        </p:txBody>
      </p:sp>
      <p:sp>
        <p:nvSpPr>
          <p:cNvPr id="19" name="Shape 17"/>
          <p:cNvSpPr/>
          <p:nvPr/>
        </p:nvSpPr>
        <p:spPr>
          <a:xfrm>
            <a:off x="685800" y="2926080"/>
            <a:ext cx="2880360" cy="1143000"/>
          </a:xfrm>
          <a:prstGeom prst="rect">
            <a:avLst/>
          </a:prstGeom>
          <a:solidFill>
            <a:srgbClr val="F8FAFC"/>
          </a:solidFill>
          <a:ln w="10160">
            <a:solidFill>
              <a:srgbClr val="CBD5E1"/>
            </a:solidFill>
            <a:prstDash val="solid"/>
          </a:ln>
        </p:spPr>
        <p:txBody>
          <a:bodyPr/>
          <a:lstStyle/>
          <a:p>
            <a:endParaRPr lang="en-CA"/>
          </a:p>
        </p:txBody>
      </p:sp>
      <p:sp>
        <p:nvSpPr>
          <p:cNvPr id="20" name="Text 18"/>
          <p:cNvSpPr/>
          <p:nvPr/>
        </p:nvSpPr>
        <p:spPr>
          <a:xfrm>
            <a:off x="832104" y="3099816"/>
            <a:ext cx="2587752" cy="694944"/>
          </a:xfrm>
          <a:prstGeom prst="rect">
            <a:avLst/>
          </a:prstGeom>
          <a:noFill/>
          <a:ln/>
        </p:spPr>
        <p:txBody>
          <a:bodyPr wrap="square" lIns="0" tIns="0" rIns="0" bIns="0" rtlCol="0" anchor="ctr">
            <a:normAutofit/>
          </a:bodyPr>
          <a:lstStyle/>
          <a:p>
            <a:pPr marL="0" indent="0">
              <a:buNone/>
            </a:pPr>
            <a:r>
              <a:rPr lang="en-US" sz="1400" b="1" dirty="0">
                <a:solidFill>
                  <a:srgbClr val="374151"/>
                </a:solidFill>
                <a:latin typeface="Aptos" pitchFamily="34" charset="0"/>
                <a:ea typeface="Aptos" pitchFamily="34" charset="-122"/>
                <a:cs typeface="Aptos" pitchFamily="34" charset="-120"/>
              </a:rPr>
              <a:t>GUI and Manager Separation</a:t>
            </a:r>
            <a:endParaRPr lang="en-US" sz="1400" dirty="0"/>
          </a:p>
        </p:txBody>
      </p:sp>
      <p:sp>
        <p:nvSpPr>
          <p:cNvPr id="21" name="Shape 19"/>
          <p:cNvSpPr/>
          <p:nvPr/>
        </p:nvSpPr>
        <p:spPr>
          <a:xfrm>
            <a:off x="3566160" y="2926080"/>
            <a:ext cx="4160520" cy="1143000"/>
          </a:xfrm>
          <a:prstGeom prst="rect">
            <a:avLst/>
          </a:prstGeom>
          <a:solidFill>
            <a:srgbClr val="F8FAFC"/>
          </a:solidFill>
          <a:ln w="10160">
            <a:solidFill>
              <a:srgbClr val="CBD5E1"/>
            </a:solidFill>
            <a:prstDash val="solid"/>
          </a:ln>
        </p:spPr>
        <p:txBody>
          <a:bodyPr/>
          <a:lstStyle/>
          <a:p>
            <a:endParaRPr lang="en-CA"/>
          </a:p>
        </p:txBody>
      </p:sp>
      <p:sp>
        <p:nvSpPr>
          <p:cNvPr id="22" name="Text 20"/>
          <p:cNvSpPr/>
          <p:nvPr/>
        </p:nvSpPr>
        <p:spPr>
          <a:xfrm>
            <a:off x="3712464" y="3099816"/>
            <a:ext cx="3867912" cy="694944"/>
          </a:xfrm>
          <a:prstGeom prst="rect">
            <a:avLst/>
          </a:prstGeom>
          <a:noFill/>
          <a:ln/>
        </p:spPr>
        <p:txBody>
          <a:bodyPr wrap="square" lIns="0" tIns="0" rIns="0" bIns="0" rtlCol="0" anchor="ctr">
            <a:normAutofit/>
          </a:bodyPr>
          <a:lstStyle/>
          <a:p>
            <a:pPr marL="0" indent="0">
              <a:buNone/>
            </a:pPr>
            <a:r>
              <a:rPr lang="en-US" sz="1400" dirty="0">
                <a:solidFill>
                  <a:srgbClr val="374151"/>
                </a:solidFill>
                <a:latin typeface="Aptos" pitchFamily="34" charset="0"/>
                <a:ea typeface="Aptos" pitchFamily="34" charset="-122"/>
                <a:cs typeface="Aptos" pitchFamily="34" charset="-120"/>
              </a:rPr>
              <a:t>Kept GUI for input/output and used InventoryManager for logic.</a:t>
            </a:r>
            <a:endParaRPr lang="en-US" sz="1400" dirty="0"/>
          </a:p>
        </p:txBody>
      </p:sp>
      <p:sp>
        <p:nvSpPr>
          <p:cNvPr id="23" name="Shape 21"/>
          <p:cNvSpPr/>
          <p:nvPr/>
        </p:nvSpPr>
        <p:spPr>
          <a:xfrm>
            <a:off x="7726680" y="2926080"/>
            <a:ext cx="3794760" cy="1143000"/>
          </a:xfrm>
          <a:prstGeom prst="rect">
            <a:avLst/>
          </a:prstGeom>
          <a:solidFill>
            <a:srgbClr val="F8FAFC"/>
          </a:solidFill>
          <a:ln w="10160">
            <a:solidFill>
              <a:srgbClr val="CBD5E1"/>
            </a:solidFill>
            <a:prstDash val="solid"/>
          </a:ln>
        </p:spPr>
        <p:txBody>
          <a:bodyPr/>
          <a:lstStyle/>
          <a:p>
            <a:endParaRPr lang="en-CA"/>
          </a:p>
        </p:txBody>
      </p:sp>
      <p:sp>
        <p:nvSpPr>
          <p:cNvPr id="24" name="Text 22"/>
          <p:cNvSpPr/>
          <p:nvPr/>
        </p:nvSpPr>
        <p:spPr>
          <a:xfrm>
            <a:off x="7872984" y="3099816"/>
            <a:ext cx="3502152" cy="694944"/>
          </a:xfrm>
          <a:prstGeom prst="rect">
            <a:avLst/>
          </a:prstGeom>
          <a:noFill/>
          <a:ln/>
        </p:spPr>
        <p:txBody>
          <a:bodyPr wrap="square" lIns="0" tIns="0" rIns="0" bIns="0" rtlCol="0" anchor="ctr">
            <a:normAutofit/>
          </a:bodyPr>
          <a:lstStyle/>
          <a:p>
            <a:pPr marL="0" indent="0">
              <a:buNone/>
            </a:pPr>
            <a:r>
              <a:rPr lang="en-US" sz="1400" dirty="0">
                <a:solidFill>
                  <a:srgbClr val="374151"/>
                </a:solidFill>
                <a:latin typeface="Aptos" pitchFamily="34" charset="0"/>
                <a:ea typeface="Aptos" pitchFamily="34" charset="-122"/>
                <a:cs typeface="Aptos" pitchFamily="34" charset="-120"/>
              </a:rPr>
              <a:t>A project is easier to maintain when classes have clear jobs. (Delegation of Responsibility)</a:t>
            </a:r>
            <a:endParaRPr lang="en-US" sz="1400" dirty="0"/>
          </a:p>
        </p:txBody>
      </p:sp>
      <p:sp>
        <p:nvSpPr>
          <p:cNvPr id="25" name="Shape 23"/>
          <p:cNvSpPr/>
          <p:nvPr/>
        </p:nvSpPr>
        <p:spPr>
          <a:xfrm>
            <a:off x="685800" y="4069080"/>
            <a:ext cx="2880360" cy="1143000"/>
          </a:xfrm>
          <a:prstGeom prst="rect">
            <a:avLst/>
          </a:prstGeom>
          <a:solidFill>
            <a:srgbClr val="FFFFFF"/>
          </a:solidFill>
          <a:ln w="10160">
            <a:solidFill>
              <a:srgbClr val="CBD5E1"/>
            </a:solidFill>
            <a:prstDash val="solid"/>
          </a:ln>
        </p:spPr>
        <p:txBody>
          <a:bodyPr/>
          <a:lstStyle/>
          <a:p>
            <a:endParaRPr lang="en-CA"/>
          </a:p>
        </p:txBody>
      </p:sp>
      <p:sp>
        <p:nvSpPr>
          <p:cNvPr id="26" name="Text 24"/>
          <p:cNvSpPr/>
          <p:nvPr/>
        </p:nvSpPr>
        <p:spPr>
          <a:xfrm>
            <a:off x="832104" y="4242816"/>
            <a:ext cx="2587752" cy="694944"/>
          </a:xfrm>
          <a:prstGeom prst="rect">
            <a:avLst/>
          </a:prstGeom>
          <a:noFill/>
          <a:ln/>
        </p:spPr>
        <p:txBody>
          <a:bodyPr wrap="square" lIns="0" tIns="0" rIns="0" bIns="0" rtlCol="0" anchor="ctr">
            <a:normAutofit/>
          </a:bodyPr>
          <a:lstStyle/>
          <a:p>
            <a:pPr marL="0" indent="0">
              <a:buNone/>
            </a:pPr>
            <a:r>
              <a:rPr lang="en-US" sz="1400" b="1" dirty="0">
                <a:solidFill>
                  <a:srgbClr val="374151"/>
                </a:solidFill>
                <a:latin typeface="Aptos" pitchFamily="34" charset="0"/>
                <a:ea typeface="Aptos" pitchFamily="34" charset="-122"/>
                <a:cs typeface="Aptos" pitchFamily="34" charset="-120"/>
              </a:rPr>
              <a:t>Low Stock Alert Placement</a:t>
            </a:r>
            <a:endParaRPr lang="en-US" sz="1400" dirty="0"/>
          </a:p>
        </p:txBody>
      </p:sp>
      <p:sp>
        <p:nvSpPr>
          <p:cNvPr id="27" name="Shape 25"/>
          <p:cNvSpPr/>
          <p:nvPr/>
        </p:nvSpPr>
        <p:spPr>
          <a:xfrm>
            <a:off x="3566160" y="4069080"/>
            <a:ext cx="4160520" cy="1143000"/>
          </a:xfrm>
          <a:prstGeom prst="rect">
            <a:avLst/>
          </a:prstGeom>
          <a:solidFill>
            <a:srgbClr val="FFFFFF"/>
          </a:solidFill>
          <a:ln w="10160">
            <a:solidFill>
              <a:srgbClr val="CBD5E1"/>
            </a:solidFill>
            <a:prstDash val="solid"/>
          </a:ln>
        </p:spPr>
        <p:txBody>
          <a:bodyPr/>
          <a:lstStyle/>
          <a:p>
            <a:endParaRPr lang="en-CA"/>
          </a:p>
        </p:txBody>
      </p:sp>
      <p:sp>
        <p:nvSpPr>
          <p:cNvPr id="28" name="Text 26"/>
          <p:cNvSpPr/>
          <p:nvPr/>
        </p:nvSpPr>
        <p:spPr>
          <a:xfrm>
            <a:off x="3712464" y="4242816"/>
            <a:ext cx="3867912" cy="694944"/>
          </a:xfrm>
          <a:prstGeom prst="rect">
            <a:avLst/>
          </a:prstGeom>
          <a:noFill/>
          <a:ln/>
        </p:spPr>
        <p:txBody>
          <a:bodyPr wrap="square" lIns="0" tIns="0" rIns="0" bIns="0" rtlCol="0" anchor="ctr">
            <a:normAutofit/>
          </a:bodyPr>
          <a:lstStyle/>
          <a:p>
            <a:pPr marL="0" indent="0">
              <a:buNone/>
            </a:pPr>
            <a:r>
              <a:rPr lang="en-US" sz="1400" dirty="0">
                <a:solidFill>
                  <a:srgbClr val="374151"/>
                </a:solidFill>
                <a:latin typeface="Aptos" pitchFamily="34" charset="0"/>
                <a:ea typeface="Aptos" pitchFamily="34" charset="-122"/>
                <a:cs typeface="Aptos" pitchFamily="34" charset="-120"/>
              </a:rPr>
              <a:t>Checked stock after reduceStock() and used ProductException for alert message.</a:t>
            </a:r>
            <a:endParaRPr lang="en-US" sz="1400" dirty="0"/>
          </a:p>
        </p:txBody>
      </p:sp>
      <p:sp>
        <p:nvSpPr>
          <p:cNvPr id="29" name="Shape 27"/>
          <p:cNvSpPr/>
          <p:nvPr/>
        </p:nvSpPr>
        <p:spPr>
          <a:xfrm>
            <a:off x="7726680" y="4069080"/>
            <a:ext cx="3794760" cy="1143000"/>
          </a:xfrm>
          <a:prstGeom prst="rect">
            <a:avLst/>
          </a:prstGeom>
          <a:solidFill>
            <a:srgbClr val="FFFFFF"/>
          </a:solidFill>
          <a:ln w="10160">
            <a:solidFill>
              <a:srgbClr val="CBD5E1"/>
            </a:solidFill>
            <a:prstDash val="solid"/>
          </a:ln>
        </p:spPr>
        <p:txBody>
          <a:bodyPr/>
          <a:lstStyle/>
          <a:p>
            <a:endParaRPr lang="en-CA"/>
          </a:p>
        </p:txBody>
      </p:sp>
      <p:sp>
        <p:nvSpPr>
          <p:cNvPr id="30" name="Text 28"/>
          <p:cNvSpPr/>
          <p:nvPr/>
        </p:nvSpPr>
        <p:spPr>
          <a:xfrm>
            <a:off x="7872984" y="4242816"/>
            <a:ext cx="3502152" cy="694944"/>
          </a:xfrm>
          <a:prstGeom prst="rect">
            <a:avLst/>
          </a:prstGeom>
          <a:noFill/>
          <a:ln/>
        </p:spPr>
        <p:txBody>
          <a:bodyPr wrap="square" lIns="0" tIns="0" rIns="0" bIns="0" rtlCol="0" anchor="ctr">
            <a:normAutofit/>
          </a:bodyPr>
          <a:lstStyle/>
          <a:p>
            <a:pPr marL="0" indent="0">
              <a:buNone/>
            </a:pPr>
            <a:r>
              <a:rPr lang="en-US" sz="1400" dirty="0">
                <a:solidFill>
                  <a:srgbClr val="374151"/>
                </a:solidFill>
                <a:latin typeface="Aptos" pitchFamily="34" charset="0"/>
                <a:ea typeface="Aptos" pitchFamily="34" charset="-122"/>
                <a:cs typeface="Aptos" pitchFamily="34" charset="-120"/>
              </a:rPr>
              <a:t>Alerts should be triggered from the business logic, not random GUI code.</a:t>
            </a:r>
            <a:endParaRPr lang="en-US" sz="1400" dirty="0"/>
          </a:p>
        </p:txBody>
      </p:sp>
      <p:sp>
        <p:nvSpPr>
          <p:cNvPr id="34" name="Slide Number Placeholder 0"/>
          <p:cNvSpPr>
            <a:spLocks noGrp="1"/>
          </p:cNvSpPr>
          <p:nvPr>
            <p:ph type="sldNum" sz="quarter" idx="4294967295"/>
          </p:nvPr>
        </p:nvSpPr>
        <p:spPr>
          <a:xfrm>
            <a:off x="11475720" y="664768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14</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4" name="Text 2"/>
          <p:cNvSpPr/>
          <p:nvPr/>
        </p:nvSpPr>
        <p:spPr>
          <a:xfrm>
            <a:off x="502920" y="384048"/>
            <a:ext cx="10789920" cy="320040"/>
          </a:xfrm>
          <a:prstGeom prst="rect">
            <a:avLst/>
          </a:prstGeom>
          <a:noFill/>
          <a:ln/>
        </p:spPr>
        <p:txBody>
          <a:bodyPr wrap="square" lIns="0" tIns="0" rIns="0" bIns="0" rtlCol="0" anchor="ctr"/>
          <a:lstStyle/>
          <a:p>
            <a:pPr marL="0" indent="0">
              <a:buNone/>
            </a:pPr>
            <a:r>
              <a:rPr lang="en-US" sz="2500" b="1" dirty="0">
                <a:solidFill>
                  <a:srgbClr val="1E3A5F"/>
                </a:solidFill>
                <a:latin typeface="Aptos Display" pitchFamily="34" charset="0"/>
                <a:ea typeface="Aptos Display" pitchFamily="34" charset="-122"/>
                <a:cs typeface="Aptos Display" pitchFamily="34" charset="-120"/>
              </a:rPr>
              <a:t>Conclusion &amp; Future Work</a:t>
            </a:r>
            <a:endParaRPr lang="en-US" sz="2500" dirty="0"/>
          </a:p>
        </p:txBody>
      </p:sp>
      <p:sp>
        <p:nvSpPr>
          <p:cNvPr id="5" name="Text 3"/>
          <p:cNvSpPr/>
          <p:nvPr/>
        </p:nvSpPr>
        <p:spPr>
          <a:xfrm>
            <a:off x="521208" y="758952"/>
            <a:ext cx="10424160" cy="201168"/>
          </a:xfrm>
          <a:prstGeom prst="rect">
            <a:avLst/>
          </a:prstGeom>
          <a:noFill/>
          <a:ln/>
        </p:spPr>
        <p:txBody>
          <a:bodyPr wrap="square" lIns="0" tIns="0" rIns="0" bIns="0" rtlCol="0" anchor="ctr"/>
          <a:lstStyle/>
          <a:p>
            <a:pPr marL="0" indent="0">
              <a:buNone/>
            </a:pPr>
            <a:r>
              <a:rPr lang="en-US" sz="1200" dirty="0">
                <a:solidFill>
                  <a:srgbClr val="667085"/>
                </a:solidFill>
                <a:latin typeface="Aptos" pitchFamily="34" charset="0"/>
                <a:ea typeface="Aptos" pitchFamily="34" charset="-122"/>
                <a:cs typeface="Aptos" pitchFamily="34" charset="-120"/>
              </a:rPr>
              <a:t>Final summary of the Inventory Management System project</a:t>
            </a:r>
            <a:endParaRPr lang="en-US" sz="1200" dirty="0"/>
          </a:p>
        </p:txBody>
      </p:sp>
      <p:sp>
        <p:nvSpPr>
          <p:cNvPr id="6" name="Shape 4"/>
          <p:cNvSpPr/>
          <p:nvPr/>
        </p:nvSpPr>
        <p:spPr>
          <a:xfrm>
            <a:off x="521208" y="1005840"/>
            <a:ext cx="11155680" cy="0"/>
          </a:xfrm>
          <a:prstGeom prst="line">
            <a:avLst/>
          </a:prstGeom>
          <a:noFill/>
          <a:ln w="12700">
            <a:solidFill>
              <a:srgbClr val="CBD5E1"/>
            </a:solidFill>
            <a:prstDash val="solid"/>
          </a:ln>
        </p:spPr>
        <p:txBody>
          <a:bodyPr/>
          <a:lstStyle/>
          <a:p>
            <a:endParaRPr lang="en-CA"/>
          </a:p>
        </p:txBody>
      </p:sp>
      <p:sp>
        <p:nvSpPr>
          <p:cNvPr id="7" name="Shape 5"/>
          <p:cNvSpPr/>
          <p:nvPr/>
        </p:nvSpPr>
        <p:spPr>
          <a:xfrm>
            <a:off x="685800" y="1325879"/>
            <a:ext cx="5166360" cy="3218689"/>
          </a:xfrm>
          <a:prstGeom prst="roundRect">
            <a:avLst>
              <a:gd name="adj" fmla="val 3556"/>
            </a:avLst>
          </a:prstGeom>
          <a:solidFill>
            <a:srgbClr val="FFFFFF"/>
          </a:solidFill>
          <a:ln w="12700">
            <a:solidFill>
              <a:srgbClr val="D0D7E2"/>
            </a:solidFill>
            <a:prstDash val="solid"/>
          </a:ln>
        </p:spPr>
        <p:txBody>
          <a:bodyPr/>
          <a:lstStyle/>
          <a:p>
            <a:endParaRPr lang="en-CA"/>
          </a:p>
        </p:txBody>
      </p:sp>
      <p:sp>
        <p:nvSpPr>
          <p:cNvPr id="8" name="Text 6"/>
          <p:cNvSpPr/>
          <p:nvPr/>
        </p:nvSpPr>
        <p:spPr>
          <a:xfrm>
            <a:off x="832104" y="1435607"/>
            <a:ext cx="4873752" cy="357633"/>
          </a:xfrm>
          <a:prstGeom prst="rect">
            <a:avLst/>
          </a:prstGeom>
          <a:noFill/>
          <a:ln/>
        </p:spPr>
        <p:txBody>
          <a:bodyPr wrap="square" lIns="0" tIns="0" rIns="0" bIns="0" rtlCol="0" anchor="ctr"/>
          <a:lstStyle/>
          <a:p>
            <a:pPr marL="0" indent="0">
              <a:buNone/>
            </a:pPr>
            <a:r>
              <a:rPr lang="en-US" sz="2000" b="1" dirty="0">
                <a:solidFill>
                  <a:srgbClr val="1E3A5F"/>
                </a:solidFill>
                <a:latin typeface="Aptos Display" pitchFamily="34" charset="0"/>
                <a:ea typeface="Aptos Display" pitchFamily="34" charset="-122"/>
                <a:cs typeface="Aptos Display" pitchFamily="34" charset="-120"/>
              </a:rPr>
              <a:t>Conclusion</a:t>
            </a:r>
            <a:endParaRPr lang="en-US" sz="2000" dirty="0"/>
          </a:p>
        </p:txBody>
      </p:sp>
      <p:sp>
        <p:nvSpPr>
          <p:cNvPr id="9" name="Text 7"/>
          <p:cNvSpPr/>
          <p:nvPr/>
        </p:nvSpPr>
        <p:spPr>
          <a:xfrm>
            <a:off x="850392" y="1783080"/>
            <a:ext cx="4846320" cy="2360372"/>
          </a:xfrm>
          <a:prstGeom prst="rect">
            <a:avLst/>
          </a:prstGeom>
          <a:noFill/>
          <a:ln/>
        </p:spPr>
        <p:txBody>
          <a:bodyPr wrap="square" lIns="254" tIns="254" rIns="254" bIns="254" rtlCol="0" anchor="t">
            <a:noAutofit/>
          </a:bodyPr>
          <a:lstStyle/>
          <a:p>
            <a:pPr marL="0" indent="0">
              <a:buNone/>
            </a:pPr>
            <a:endParaRPr lang="en-US" sz="1400" dirty="0">
              <a:solidFill>
                <a:srgbClr val="374151"/>
              </a:solidFill>
              <a:latin typeface="Aptos" pitchFamily="34" charset="0"/>
              <a:ea typeface="Aptos" pitchFamily="34" charset="-122"/>
              <a:cs typeface="Aptos" pitchFamily="34" charset="-120"/>
            </a:endParaRPr>
          </a:p>
          <a:p>
            <a:pPr marL="0" indent="0">
              <a:buNone/>
            </a:pPr>
            <a:r>
              <a:rPr lang="en-US" sz="1400" dirty="0">
                <a:solidFill>
                  <a:srgbClr val="374151"/>
                </a:solidFill>
                <a:latin typeface="Aptos" pitchFamily="34" charset="0"/>
                <a:ea typeface="Aptos" pitchFamily="34" charset="-122"/>
                <a:cs typeface="Aptos" pitchFamily="34" charset="-120"/>
              </a:rPr>
              <a:t>• A working desktop inventory system was developed in Java.</a:t>
            </a:r>
          </a:p>
          <a:p>
            <a:pPr marL="0" indent="0">
              <a:buNone/>
            </a:pPr>
            <a:endParaRPr lang="en-US" sz="1400" dirty="0"/>
          </a:p>
          <a:p>
            <a:pPr marL="0" indent="0">
              <a:buNone/>
            </a:pPr>
            <a:r>
              <a:rPr lang="en-US" sz="1400" dirty="0">
                <a:solidFill>
                  <a:srgbClr val="374151"/>
                </a:solidFill>
                <a:latin typeface="Aptos" pitchFamily="34" charset="0"/>
                <a:ea typeface="Aptos" pitchFamily="34" charset="-122"/>
                <a:cs typeface="Aptos" pitchFamily="34" charset="-120"/>
              </a:rPr>
              <a:t>• Swing GUI makes the system simple for shopkeepers.</a:t>
            </a:r>
          </a:p>
          <a:p>
            <a:pPr marL="0" indent="0">
              <a:buNone/>
            </a:pPr>
            <a:endParaRPr lang="en-US" sz="1400" dirty="0"/>
          </a:p>
          <a:p>
            <a:pPr marL="0" indent="0">
              <a:buNone/>
            </a:pPr>
            <a:r>
              <a:rPr lang="en-US" sz="1400" dirty="0">
                <a:solidFill>
                  <a:srgbClr val="374151"/>
                </a:solidFill>
                <a:latin typeface="Aptos" pitchFamily="34" charset="0"/>
                <a:ea typeface="Aptos" pitchFamily="34" charset="-122"/>
                <a:cs typeface="Aptos" pitchFamily="34" charset="-120"/>
              </a:rPr>
              <a:t>• MySQL stores products permanently.</a:t>
            </a:r>
          </a:p>
          <a:p>
            <a:pPr marL="0" indent="0">
              <a:buNone/>
            </a:pPr>
            <a:endParaRPr lang="en-US" sz="1400" dirty="0"/>
          </a:p>
          <a:p>
            <a:pPr marL="0" indent="0">
              <a:buNone/>
            </a:pPr>
            <a:r>
              <a:rPr lang="en-US" sz="1400" dirty="0">
                <a:solidFill>
                  <a:srgbClr val="374151"/>
                </a:solidFill>
                <a:latin typeface="Aptos" pitchFamily="34" charset="0"/>
                <a:ea typeface="Aptos" pitchFamily="34" charset="-122"/>
                <a:cs typeface="Aptos" pitchFamily="34" charset="-120"/>
              </a:rPr>
              <a:t>• OOP concepts are applied through classes, inheritance, interface and exceptions.</a:t>
            </a:r>
          </a:p>
        </p:txBody>
      </p:sp>
      <p:sp>
        <p:nvSpPr>
          <p:cNvPr id="10" name="Shape 8"/>
          <p:cNvSpPr/>
          <p:nvPr/>
        </p:nvSpPr>
        <p:spPr>
          <a:xfrm>
            <a:off x="6263640" y="1325879"/>
            <a:ext cx="5166360" cy="3218689"/>
          </a:xfrm>
          <a:prstGeom prst="roundRect">
            <a:avLst>
              <a:gd name="adj" fmla="val 3556"/>
            </a:avLst>
          </a:prstGeom>
          <a:solidFill>
            <a:srgbClr val="EFF6FF"/>
          </a:solidFill>
          <a:ln w="12700">
            <a:solidFill>
              <a:srgbClr val="BFDBFE"/>
            </a:solidFill>
            <a:prstDash val="solid"/>
          </a:ln>
        </p:spPr>
        <p:txBody>
          <a:bodyPr/>
          <a:lstStyle/>
          <a:p>
            <a:endParaRPr lang="en-CA"/>
          </a:p>
        </p:txBody>
      </p:sp>
      <p:sp>
        <p:nvSpPr>
          <p:cNvPr id="11" name="Text 9"/>
          <p:cNvSpPr/>
          <p:nvPr/>
        </p:nvSpPr>
        <p:spPr>
          <a:xfrm>
            <a:off x="6409944" y="1435607"/>
            <a:ext cx="4873752" cy="357633"/>
          </a:xfrm>
          <a:prstGeom prst="rect">
            <a:avLst/>
          </a:prstGeom>
          <a:noFill/>
          <a:ln/>
        </p:spPr>
        <p:txBody>
          <a:bodyPr wrap="square" lIns="0" tIns="0" rIns="0" bIns="0" rtlCol="0" anchor="ctr"/>
          <a:lstStyle/>
          <a:p>
            <a:pPr marL="0" indent="0">
              <a:buNone/>
            </a:pPr>
            <a:r>
              <a:rPr lang="en-US" sz="2000" b="1" dirty="0">
                <a:solidFill>
                  <a:srgbClr val="1E3A5F"/>
                </a:solidFill>
                <a:latin typeface="Aptos Display" pitchFamily="34" charset="0"/>
                <a:ea typeface="Aptos Display" pitchFamily="34" charset="-122"/>
                <a:cs typeface="Aptos Display" pitchFamily="34" charset="-120"/>
              </a:rPr>
              <a:t>Future Improvements</a:t>
            </a:r>
            <a:endParaRPr lang="en-US" sz="2000" dirty="0"/>
          </a:p>
        </p:txBody>
      </p:sp>
      <p:sp>
        <p:nvSpPr>
          <p:cNvPr id="12" name="Text 10"/>
          <p:cNvSpPr/>
          <p:nvPr/>
        </p:nvSpPr>
        <p:spPr>
          <a:xfrm>
            <a:off x="6428232" y="1783080"/>
            <a:ext cx="4846320" cy="2360372"/>
          </a:xfrm>
          <a:prstGeom prst="rect">
            <a:avLst/>
          </a:prstGeom>
          <a:noFill/>
          <a:ln/>
        </p:spPr>
        <p:txBody>
          <a:bodyPr wrap="square" lIns="254" tIns="254" rIns="254" bIns="254" rtlCol="0" anchor="t">
            <a:noAutofit/>
          </a:bodyPr>
          <a:lstStyle/>
          <a:p>
            <a:pPr marL="0" indent="0">
              <a:buNone/>
            </a:pPr>
            <a:endParaRPr lang="en-US" sz="1400" dirty="0">
              <a:solidFill>
                <a:srgbClr val="374151"/>
              </a:solidFill>
              <a:latin typeface="Aptos" pitchFamily="34" charset="0"/>
              <a:ea typeface="Aptos" pitchFamily="34" charset="-122"/>
              <a:cs typeface="Aptos" pitchFamily="34" charset="-120"/>
            </a:endParaRPr>
          </a:p>
          <a:p>
            <a:pPr marL="0" indent="0">
              <a:buNone/>
            </a:pPr>
            <a:r>
              <a:rPr lang="en-US" sz="1400" dirty="0">
                <a:solidFill>
                  <a:srgbClr val="374151"/>
                </a:solidFill>
                <a:latin typeface="Aptos" pitchFamily="34" charset="0"/>
                <a:ea typeface="Aptos" pitchFamily="34" charset="-122"/>
                <a:cs typeface="Aptos" pitchFamily="34" charset="-120"/>
              </a:rPr>
              <a:t>• Login system for admin/user security</a:t>
            </a:r>
          </a:p>
          <a:p>
            <a:pPr marL="0" indent="0">
              <a:buNone/>
            </a:pPr>
            <a:endParaRPr lang="en-US" sz="1400" dirty="0"/>
          </a:p>
          <a:p>
            <a:pPr marL="0" indent="0">
              <a:buNone/>
            </a:pPr>
            <a:r>
              <a:rPr lang="en-US" sz="1400" dirty="0">
                <a:solidFill>
                  <a:srgbClr val="374151"/>
                </a:solidFill>
                <a:latin typeface="Aptos" pitchFamily="34" charset="0"/>
                <a:ea typeface="Aptos" pitchFamily="34" charset="-122"/>
                <a:cs typeface="Aptos" pitchFamily="34" charset="-120"/>
              </a:rPr>
              <a:t>• Billing module for customer invoices</a:t>
            </a:r>
          </a:p>
          <a:p>
            <a:pPr marL="0" indent="0">
              <a:buNone/>
            </a:pPr>
            <a:endParaRPr lang="en-US" sz="1400" dirty="0"/>
          </a:p>
          <a:p>
            <a:pPr marL="0" indent="0">
              <a:buNone/>
            </a:pPr>
            <a:r>
              <a:rPr lang="en-US" sz="1400" dirty="0">
                <a:solidFill>
                  <a:srgbClr val="374151"/>
                </a:solidFill>
                <a:latin typeface="Aptos" pitchFamily="34" charset="0"/>
                <a:ea typeface="Aptos" pitchFamily="34" charset="-122"/>
                <a:cs typeface="Aptos" pitchFamily="34" charset="-120"/>
              </a:rPr>
              <a:t>• Sales reports by day or month</a:t>
            </a:r>
          </a:p>
          <a:p>
            <a:pPr marL="0" indent="0">
              <a:buNone/>
            </a:pPr>
            <a:endParaRPr lang="en-US" sz="1400" dirty="0"/>
          </a:p>
          <a:p>
            <a:pPr marL="0" indent="0">
              <a:buNone/>
            </a:pPr>
            <a:r>
              <a:rPr lang="en-US" sz="1400" dirty="0">
                <a:solidFill>
                  <a:srgbClr val="374151"/>
                </a:solidFill>
                <a:latin typeface="Aptos" pitchFamily="34" charset="0"/>
                <a:ea typeface="Aptos" pitchFamily="34" charset="-122"/>
                <a:cs typeface="Aptos" pitchFamily="34" charset="-120"/>
              </a:rPr>
              <a:t>• Export inventory to Excel or PDF</a:t>
            </a:r>
          </a:p>
          <a:p>
            <a:pPr marL="0" indent="0">
              <a:buNone/>
            </a:pPr>
            <a:endParaRPr lang="en-US" sz="1400" dirty="0"/>
          </a:p>
          <a:p>
            <a:pPr marL="0" indent="0">
              <a:buNone/>
            </a:pPr>
            <a:r>
              <a:rPr lang="en-US" sz="1400" dirty="0">
                <a:solidFill>
                  <a:srgbClr val="374151"/>
                </a:solidFill>
                <a:latin typeface="Aptos" pitchFamily="34" charset="0"/>
                <a:ea typeface="Aptos" pitchFamily="34" charset="-122"/>
                <a:cs typeface="Aptos" pitchFamily="34" charset="-120"/>
              </a:rPr>
              <a:t>• Better dashboard with charts</a:t>
            </a:r>
            <a:endParaRPr lang="en-US" sz="1400" dirty="0"/>
          </a:p>
        </p:txBody>
      </p:sp>
      <p:sp>
        <p:nvSpPr>
          <p:cNvPr id="13" name="Shape 11"/>
          <p:cNvSpPr/>
          <p:nvPr/>
        </p:nvSpPr>
        <p:spPr>
          <a:xfrm>
            <a:off x="2186940" y="4764024"/>
            <a:ext cx="7818120" cy="1005840"/>
          </a:xfrm>
          <a:prstGeom prst="roundRect">
            <a:avLst>
              <a:gd name="adj" fmla="val 7273"/>
            </a:avLst>
          </a:prstGeom>
          <a:solidFill>
            <a:srgbClr val="1E3A5F"/>
          </a:solidFill>
          <a:ln w="12700">
            <a:solidFill>
              <a:srgbClr val="1E3A5F"/>
            </a:solidFill>
            <a:prstDash val="solid"/>
          </a:ln>
        </p:spPr>
        <p:txBody>
          <a:bodyPr/>
          <a:lstStyle/>
          <a:p>
            <a:endParaRPr lang="en-CA"/>
          </a:p>
        </p:txBody>
      </p:sp>
      <p:sp>
        <p:nvSpPr>
          <p:cNvPr id="14" name="Text 12"/>
          <p:cNvSpPr/>
          <p:nvPr/>
        </p:nvSpPr>
        <p:spPr>
          <a:xfrm>
            <a:off x="2369820" y="5010912"/>
            <a:ext cx="7452360" cy="329184"/>
          </a:xfrm>
          <a:prstGeom prst="rect">
            <a:avLst/>
          </a:prstGeom>
          <a:noFill/>
          <a:ln/>
        </p:spPr>
        <p:txBody>
          <a:bodyPr wrap="square" lIns="0" tIns="0" rIns="0" bIns="0" rtlCol="0" anchor="ctr"/>
          <a:lstStyle/>
          <a:p>
            <a:pPr marL="0" indent="0" algn="ctr">
              <a:buNone/>
            </a:pPr>
            <a:r>
              <a:rPr lang="en-US" sz="4000" b="1" dirty="0">
                <a:solidFill>
                  <a:srgbClr val="FFFFFF"/>
                </a:solidFill>
                <a:latin typeface="Aptos Display" pitchFamily="34" charset="0"/>
                <a:ea typeface="Aptos Display" pitchFamily="34" charset="-122"/>
                <a:cs typeface="Aptos Display" pitchFamily="34" charset="-120"/>
              </a:rPr>
              <a:t>Thank You</a:t>
            </a:r>
            <a:endParaRPr lang="en-US" sz="4000" dirty="0"/>
          </a:p>
        </p:txBody>
      </p:sp>
      <p:sp>
        <p:nvSpPr>
          <p:cNvPr id="15" name="Text 13"/>
          <p:cNvSpPr/>
          <p:nvPr/>
        </p:nvSpPr>
        <p:spPr>
          <a:xfrm>
            <a:off x="2415540" y="5404103"/>
            <a:ext cx="7360920" cy="329183"/>
          </a:xfrm>
          <a:prstGeom prst="rect">
            <a:avLst/>
          </a:prstGeom>
          <a:noFill/>
          <a:ln/>
        </p:spPr>
        <p:txBody>
          <a:bodyPr wrap="square" lIns="0" tIns="0" rIns="0" bIns="0" rtlCol="0" anchor="ctr"/>
          <a:lstStyle/>
          <a:p>
            <a:pPr marL="0" indent="0" algn="ctr">
              <a:buNone/>
            </a:pPr>
            <a:r>
              <a:rPr lang="en-US" sz="1400" dirty="0">
                <a:solidFill>
                  <a:srgbClr val="DDEBFA"/>
                </a:solidFill>
                <a:latin typeface="Aptos" pitchFamily="34" charset="0"/>
                <a:ea typeface="Aptos" pitchFamily="34" charset="-122"/>
                <a:cs typeface="Aptos" pitchFamily="34" charset="-120"/>
              </a:rPr>
              <a:t>Questions? </a:t>
            </a:r>
            <a:endParaRPr lang="en-US" sz="1400" dirty="0"/>
          </a:p>
        </p:txBody>
      </p:sp>
      <p:sp>
        <p:nvSpPr>
          <p:cNvPr id="25" name="Slide Number Placeholder 0"/>
          <p:cNvSpPr>
            <a:spLocks noGrp="1"/>
          </p:cNvSpPr>
          <p:nvPr>
            <p:ph type="sldNum" sz="quarter" idx="4294967295"/>
          </p:nvPr>
        </p:nvSpPr>
        <p:spPr>
          <a:xfrm>
            <a:off x="11475720" y="664768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7280"/>
                </a:solidFill>
                <a:latin typeface="Aptos"/>
                <a:ea typeface="Aptos"/>
                <a:cs typeface="Aptos"/>
              </a:defRPr>
            </a:lvl1pPr>
          </a:lstStyle>
          <a:p>
            <a:pPr algn="l"/>
            <a:fld id="{F7021451-1387-4CA6-816F-3879F97B5CBC}" type="slidenum">
              <a:rPr lang="en-US" b="0"/>
              <a:t>15</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TotalTime>
  <Words>1598</Words>
  <Application>Microsoft Office PowerPoint</Application>
  <PresentationFormat>Widescreen</PresentationFormat>
  <Paragraphs>282</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Air University Kamra Campus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Management System Presentation</dc:title>
  <dc:subject>Inventory Management System - Java Swing MySQL</dc:subject>
  <dc:creator>Ali Afzal</dc:creator>
  <cp:lastModifiedBy>Huzaifa Ashfaq</cp:lastModifiedBy>
  <cp:revision>57</cp:revision>
  <dcterms:created xsi:type="dcterms:W3CDTF">2026-05-30T04:41:15Z</dcterms:created>
  <dcterms:modified xsi:type="dcterms:W3CDTF">2026-07-31T19:34:31Z</dcterms:modified>
</cp:coreProperties>
</file>